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9" d="100"/>
          <a:sy n="149" d="100"/>
        </p:scale>
        <p:origin x="6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49F87-39FF-9DC4-0BD5-74D4BB059F0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AFC6EA8A-E73D-7CAA-FFD9-3F1900F17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41423988-5240-00A9-1D11-6EAF51607ADA}"/>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7708A039-82D7-4C83-3632-B04EF0D4DF6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2847DC01-CB32-E370-5995-D7E593FDF8C2}"/>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27330505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6C708-1D81-2022-09F5-61680DD4F7F1}"/>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24F4D603-2E08-9316-C924-4247472875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30EACFCE-7A38-C9F6-53EF-C4D94A7FF717}"/>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83D176D9-CBCC-66D3-F9F6-FC5606A879B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E94AD8-B743-0D99-9855-3221AD6152CA}"/>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2525010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856E2-7E9F-7BC1-58C8-42F3C34C320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65CAFFDD-C081-0C3E-808B-6622171354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F067048-3D18-258F-20A6-A4CCC5C63AA1}"/>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3B64527F-4723-237F-587E-3B8B62003EE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44CB930-AB33-93AF-5441-6D12DD38752E}"/>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88851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8CCA8-7BC4-C360-A389-7A1BA38593B7}"/>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56C911E2-4A9A-DB6B-B52B-6EF582067F8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C3C46218-AC5E-CBFF-76E0-4BC5EBA2C5F2}"/>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F998E064-03FA-4D8B-30D5-A9DE14922F21}"/>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6" name="Footer Placeholder 5">
            <a:extLst>
              <a:ext uri="{FF2B5EF4-FFF2-40B4-BE49-F238E27FC236}">
                <a16:creationId xmlns:a16="http://schemas.microsoft.com/office/drawing/2014/main" id="{CA212161-2F94-DA99-A135-AFA14542EF0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16A3455-9BEB-5771-71E7-48D9D44E8960}"/>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2647763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78C13-D0C2-E4AC-0BF7-2CCF9E19E847}"/>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AEDDA1AC-142F-4451-1579-B382A9E70A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9ABA109-763D-7BED-0BD2-D7DE6A4087D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2827E7EA-AD0E-9D7F-80CA-95D3D40847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151DCB1-504C-3BCF-37AC-B6E8BD38B15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5790C124-ECF8-1936-E8F7-6CD4122E967F}"/>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8" name="Footer Placeholder 7">
            <a:extLst>
              <a:ext uri="{FF2B5EF4-FFF2-40B4-BE49-F238E27FC236}">
                <a16:creationId xmlns:a16="http://schemas.microsoft.com/office/drawing/2014/main" id="{0E5CD84C-B8E0-90A8-A3AC-3ABCEF27C192}"/>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10F588CB-8135-B45C-13C3-51583B0D1458}"/>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550982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F948-94AD-8CF2-0FB9-6254E3F33185}"/>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37C4B6A3-A265-F005-BB6A-1498BB635C83}"/>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4" name="Footer Placeholder 3">
            <a:extLst>
              <a:ext uri="{FF2B5EF4-FFF2-40B4-BE49-F238E27FC236}">
                <a16:creationId xmlns:a16="http://schemas.microsoft.com/office/drawing/2014/main" id="{EFAE0624-E038-0493-5E24-BC56930A8EF4}"/>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E7AB6329-B951-CFD1-A8E7-75568563E041}"/>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2044331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DEBF25-12A3-4B32-3C82-7CEB2C0BB4E8}"/>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3" name="Footer Placeholder 2">
            <a:extLst>
              <a:ext uri="{FF2B5EF4-FFF2-40B4-BE49-F238E27FC236}">
                <a16:creationId xmlns:a16="http://schemas.microsoft.com/office/drawing/2014/main" id="{C3BCC708-EA1F-0D86-3380-4CAA63073648}"/>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1B9589F-FE66-D71A-2E32-CB6733937E2B}"/>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1500953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E03B-FBA6-8559-62AF-4E6AB028E92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95AE287D-4B04-9551-6B1B-891C973BFBA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F8703F97-ED88-8BF1-9A72-5BA4D91762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FFC157B-BDF2-633E-67E8-811D44427EE4}"/>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6" name="Footer Placeholder 5">
            <a:extLst>
              <a:ext uri="{FF2B5EF4-FFF2-40B4-BE49-F238E27FC236}">
                <a16:creationId xmlns:a16="http://schemas.microsoft.com/office/drawing/2014/main" id="{9281E9A6-7663-1B89-33E4-1312C312F12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AEE1251-3027-68E8-55A6-0F690358BBAE}"/>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3790053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D061E-D1CB-9467-13AA-06AEB5C3069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F6DDC746-3C96-66C2-7D48-B7506BB6D68C}"/>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A9D4368C-3372-B635-BB43-13CE2EC73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A33C768-67CE-DE27-8447-D02BA575D3C4}"/>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6" name="Footer Placeholder 5">
            <a:extLst>
              <a:ext uri="{FF2B5EF4-FFF2-40B4-BE49-F238E27FC236}">
                <a16:creationId xmlns:a16="http://schemas.microsoft.com/office/drawing/2014/main" id="{FC4C9F83-4405-EAA5-05E0-AEB781E1E3F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D488609-F3C6-F4D5-6F6A-56FA58362220}"/>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684113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FE538-C598-EFA9-2DAE-447DB0ADCC26}"/>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D2D4338B-6386-AAED-6F6C-E10272C68C5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6E85DA98-C9C4-9E48-22C4-321BF74E6631}"/>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A407D88A-D71A-8FB3-74DD-CDDEC4D817B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0909D88-D8A7-8CAB-7D03-3F531C7CC33A}"/>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3145032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7F938C-5985-560D-64A1-DD96F7BF001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016276AD-6E42-803E-BFF3-E4C2D06A794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06C7696D-1DF7-EB64-F413-54EE68B7E5E2}"/>
              </a:ext>
            </a:extLst>
          </p:cNvPr>
          <p:cNvSpPr>
            <a:spLocks noGrp="1"/>
          </p:cNvSpPr>
          <p:nvPr>
            <p:ph type="dt" sz="half" idx="10"/>
          </p:nvPr>
        </p:nvSpPr>
        <p:spPr/>
        <p:txBody>
          <a:body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190448E3-0041-EDFB-E23F-D5B849748B5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95DCDB6-184D-06D6-12F9-A682C9A7C847}"/>
              </a:ext>
            </a:extLst>
          </p:cNvPr>
          <p:cNvSpPr>
            <a:spLocks noGrp="1"/>
          </p:cNvSpPr>
          <p:nvPr>
            <p:ph type="sldNum" sz="quarter" idx="12"/>
          </p:nvPr>
        </p:nvSpPr>
        <p:spPr/>
        <p:txBody>
          <a:bodyPr/>
          <a:lstStyle/>
          <a:p>
            <a:fld id="{EF9535BA-5C7D-47B3-A2E2-05A4E0CD4755}" type="slidenum">
              <a:rPr lang="en-AU" smtClean="0"/>
              <a:t>‹#›</a:t>
            </a:fld>
            <a:endParaRPr lang="en-AU"/>
          </a:p>
        </p:txBody>
      </p:sp>
    </p:spTree>
    <p:extLst>
      <p:ext uri="{BB962C8B-B14F-4D97-AF65-F5344CB8AC3E}">
        <p14:creationId xmlns:p14="http://schemas.microsoft.com/office/powerpoint/2010/main" val="153161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F34D-702F-28A6-03C1-A8ACA5400D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8184AC0A-E2CB-19E1-EBD5-4D14AFC16C3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3C658B42-76FF-B916-D641-774DAEF75E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BDB7DB-0982-4DA3-AE23-FF8EB01401B3}" type="datetimeFigureOut">
              <a:rPr lang="en-AU" smtClean="0"/>
              <a:t>8/10/2026</a:t>
            </a:fld>
            <a:endParaRPr lang="en-AU"/>
          </a:p>
        </p:txBody>
      </p:sp>
      <p:sp>
        <p:nvSpPr>
          <p:cNvPr id="5" name="Footer Placeholder 4">
            <a:extLst>
              <a:ext uri="{FF2B5EF4-FFF2-40B4-BE49-F238E27FC236}">
                <a16:creationId xmlns:a16="http://schemas.microsoft.com/office/drawing/2014/main" id="{8A925FEF-4CCB-AEEF-B36A-A9C86B640E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D932A58E-4B12-7ED7-19B5-27255F53EE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9535BA-5C7D-47B3-A2E2-05A4E0CD4755}" type="slidenum">
              <a:rPr lang="en-AU" smtClean="0"/>
              <a:t>‹#›</a:t>
            </a:fld>
            <a:endParaRPr lang="en-AU"/>
          </a:p>
        </p:txBody>
      </p:sp>
    </p:spTree>
    <p:extLst>
      <p:ext uri="{BB962C8B-B14F-4D97-AF65-F5344CB8AC3E}">
        <p14:creationId xmlns:p14="http://schemas.microsoft.com/office/powerpoint/2010/main" val="683106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F126295A-942D-2CC9-F4B3-9627E718FC0C}"/>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AlignPro sample deck</a:t>
            </a:r>
          </a:p>
        </p:txBody>
      </p:sp>
      <p:sp>
        <p:nvSpPr>
          <p:cNvPr id="3" name="Instructions">
            <a:extLst>
              <a:ext uri="{FF2B5EF4-FFF2-40B4-BE49-F238E27FC236}">
                <a16:creationId xmlns:a16="http://schemas.microsoft.com/office/drawing/2014/main" id="{206434F8-425B-A8AF-BB47-E3D4D0FF932A}"/>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Each slide says what to try. Nothing here is precious - edit it freely and save over it if you like.</a:t>
            </a:r>
          </a:p>
        </p:txBody>
      </p:sp>
      <p:sp>
        <p:nvSpPr>
          <p:cNvPr id="4" name="TextBox 3">
            <a:extLst>
              <a:ext uri="{FF2B5EF4-FFF2-40B4-BE49-F238E27FC236}">
                <a16:creationId xmlns:a16="http://schemas.microsoft.com/office/drawing/2014/main" id="{1EBA1BAD-D7A5-EF4F-70E3-91D12E4C74EC}"/>
              </a:ext>
            </a:extLst>
          </p:cNvPr>
          <p:cNvSpPr txBox="1"/>
          <p:nvPr/>
        </p:nvSpPr>
        <p:spPr>
          <a:xfrm>
            <a:off x="762000" y="1651000"/>
            <a:ext cx="10668000" cy="3554819"/>
          </a:xfrm>
          <a:prstGeom prst="rect">
            <a:avLst/>
          </a:prstGeom>
          <a:noFill/>
        </p:spPr>
        <p:txBody>
          <a:bodyPr vert="horz" rtlCol="0">
            <a:spAutoFit/>
          </a:bodyPr>
          <a:lstStyle/>
          <a:p>
            <a:r>
              <a:rPr lang="en-AU" sz="1500">
                <a:solidFill>
                  <a:srgbClr val="282828"/>
                </a:solidFill>
              </a:rPr>
              <a:t>The AlignPro tab is on the ribbon.
Two dropdowns carry the state the six align buttons are crossed with:
    Reference  -  what to align against: the anchor shape, the selection, the slide, the
                  slide margins, or the layout's content placeholder.
    Measure    -  which rectangle to align: the shape frame (what PowerPoint itself uses,
                  which ignores rotation), the visual bounds (what you actually see), or
                  the text inside.
Undo is PowerPoint's own - Ctrl+Z, the ribbon button and the Quick Access Toolbar all
reverse exactly one AlignPro command.
Slide 2 is the one to try first. It is the reason this add-in exists.</a:t>
            </a:r>
          </a:p>
        </p:txBody>
      </p:sp>
    </p:spTree>
    <p:extLst>
      <p:ext uri="{BB962C8B-B14F-4D97-AF65-F5344CB8AC3E}">
        <p14:creationId xmlns:p14="http://schemas.microsoft.com/office/powerpoint/2010/main" val="4221450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0D684645-1CCE-D9A1-435D-494167E1FA5F}"/>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Rotation: the case PowerPoint gets wrong</a:t>
            </a:r>
          </a:p>
        </p:txBody>
      </p:sp>
      <p:sp>
        <p:nvSpPr>
          <p:cNvPr id="3" name="Instructions">
            <a:extLst>
              <a:ext uri="{FF2B5EF4-FFF2-40B4-BE49-F238E27FC236}">
                <a16:creationId xmlns:a16="http://schemas.microsoft.com/office/drawing/2014/main" id="{1F5347AB-3E58-2A85-44A5-61FD20835D55}"/>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all four. Align &gt; Left with Measure = Shape frame, undo, then again with Measure = Visual bounds.</a:t>
            </a:r>
          </a:p>
        </p:txBody>
      </p:sp>
      <p:sp>
        <p:nvSpPr>
          <p:cNvPr id="4" name="Plain1">
            <a:extLst>
              <a:ext uri="{FF2B5EF4-FFF2-40B4-BE49-F238E27FC236}">
                <a16:creationId xmlns:a16="http://schemas.microsoft.com/office/drawing/2014/main" id="{835DDEE9-E9A5-8D3A-702D-8C76ACC6F2C4}"/>
              </a:ext>
            </a:extLst>
          </p:cNvPr>
          <p:cNvSpPr/>
          <p:nvPr/>
        </p:nvSpPr>
        <p:spPr>
          <a:xfrm>
            <a:off x="1778000" y="1905000"/>
            <a:ext cx="1905000" cy="1016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Plain1</a:t>
            </a:r>
          </a:p>
        </p:txBody>
      </p:sp>
      <p:sp>
        <p:nvSpPr>
          <p:cNvPr id="5" name="Tall">
            <a:extLst>
              <a:ext uri="{FF2B5EF4-FFF2-40B4-BE49-F238E27FC236}">
                <a16:creationId xmlns:a16="http://schemas.microsoft.com/office/drawing/2014/main" id="{22FA5EA6-1883-370E-2476-B5C5ECE48C51}"/>
              </a:ext>
            </a:extLst>
          </p:cNvPr>
          <p:cNvSpPr/>
          <p:nvPr/>
        </p:nvSpPr>
        <p:spPr>
          <a:xfrm>
            <a:off x="4191000" y="3302000"/>
            <a:ext cx="1143000" cy="1905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Tall</a:t>
            </a:r>
          </a:p>
        </p:txBody>
      </p:sp>
      <p:sp>
        <p:nvSpPr>
          <p:cNvPr id="6" name="Rotated">
            <a:extLst>
              <a:ext uri="{FF2B5EF4-FFF2-40B4-BE49-F238E27FC236}">
                <a16:creationId xmlns:a16="http://schemas.microsoft.com/office/drawing/2014/main" id="{978BE4BD-5955-DDB0-F152-126E130BE9DE}"/>
              </a:ext>
            </a:extLst>
          </p:cNvPr>
          <p:cNvSpPr/>
          <p:nvPr/>
        </p:nvSpPr>
        <p:spPr>
          <a:xfrm rot="1800000">
            <a:off x="6604000" y="2032000"/>
            <a:ext cx="2286000" cy="1143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Rotated 30</a:t>
            </a:r>
          </a:p>
        </p:txBody>
      </p:sp>
      <p:sp>
        <p:nvSpPr>
          <p:cNvPr id="7" name="Plain2">
            <a:extLst>
              <a:ext uri="{FF2B5EF4-FFF2-40B4-BE49-F238E27FC236}">
                <a16:creationId xmlns:a16="http://schemas.microsoft.com/office/drawing/2014/main" id="{807A5D87-3734-27BD-A1BA-E791EBFAB259}"/>
              </a:ext>
            </a:extLst>
          </p:cNvPr>
          <p:cNvSpPr/>
          <p:nvPr/>
        </p:nvSpPr>
        <p:spPr>
          <a:xfrm>
            <a:off x="9398000" y="4191000"/>
            <a:ext cx="1651000" cy="889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Plain2</a:t>
            </a:r>
          </a:p>
        </p:txBody>
      </p:sp>
      <p:sp>
        <p:nvSpPr>
          <p:cNvPr id="8" name="TextBox 7">
            <a:extLst>
              <a:ext uri="{FF2B5EF4-FFF2-40B4-BE49-F238E27FC236}">
                <a16:creationId xmlns:a16="http://schemas.microsoft.com/office/drawing/2014/main" id="{0C5A9E08-31A9-EFF3-3ABE-90CE76FC70D6}"/>
              </a:ext>
            </a:extLst>
          </p:cNvPr>
          <p:cNvSpPr txBox="1"/>
          <p:nvPr/>
        </p:nvSpPr>
        <p:spPr>
          <a:xfrm>
            <a:off x="508000" y="5969000"/>
            <a:ext cx="11176000" cy="276999"/>
          </a:xfrm>
          <a:prstGeom prst="rect">
            <a:avLst/>
          </a:prstGeom>
          <a:noFill/>
        </p:spPr>
        <p:txBody>
          <a:bodyPr vert="horz" rtlCol="0">
            <a:spAutoFit/>
          </a:bodyPr>
          <a:lstStyle/>
          <a:p>
            <a:r>
              <a:rPr lang="en-AU" sz="1200">
                <a:solidFill>
                  <a:srgbClr val="7F7F7F"/>
                </a:solidFill>
              </a:rPr>
              <a:t>In frame mode the rotated shape looks wrong, because PowerPoint aligns an unrotated rectangle it never draws. Visual bounds fixes it.</a:t>
            </a:r>
          </a:p>
        </p:txBody>
      </p:sp>
    </p:spTree>
    <p:extLst>
      <p:ext uri="{BB962C8B-B14F-4D97-AF65-F5344CB8AC3E}">
        <p14:creationId xmlns:p14="http://schemas.microsoft.com/office/powerpoint/2010/main" val="2416924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0B4D43F9-C13A-5628-D701-12B806D7CCB6}"/>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Align to an anchor</a:t>
            </a:r>
          </a:p>
        </p:txBody>
      </p:sp>
      <p:sp>
        <p:nvSpPr>
          <p:cNvPr id="3" name="Instructions">
            <a:extLst>
              <a:ext uri="{FF2B5EF4-FFF2-40B4-BE49-F238E27FC236}">
                <a16:creationId xmlns:a16="http://schemas.microsoft.com/office/drawing/2014/main" id="{6E904152-AD2F-197C-D236-72FCB87096F7}"/>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Set Reference = Anchor. Select the three small shapes, then Ctrl+click BIG ANCHOR last, and Align &gt; Left.</a:t>
            </a:r>
          </a:p>
        </p:txBody>
      </p:sp>
      <p:sp>
        <p:nvSpPr>
          <p:cNvPr id="4" name="Small1">
            <a:extLst>
              <a:ext uri="{FF2B5EF4-FFF2-40B4-BE49-F238E27FC236}">
                <a16:creationId xmlns:a16="http://schemas.microsoft.com/office/drawing/2014/main" id="{A0ED2C7B-D88A-2248-CC2A-5806F325659F}"/>
              </a:ext>
            </a:extLst>
          </p:cNvPr>
          <p:cNvSpPr/>
          <p:nvPr/>
        </p:nvSpPr>
        <p:spPr>
          <a:xfrm>
            <a:off x="1524000" y="2159000"/>
            <a:ext cx="1397000" cy="762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Small1</a:t>
            </a:r>
          </a:p>
        </p:txBody>
      </p:sp>
      <p:sp>
        <p:nvSpPr>
          <p:cNvPr id="5" name="Small2">
            <a:extLst>
              <a:ext uri="{FF2B5EF4-FFF2-40B4-BE49-F238E27FC236}">
                <a16:creationId xmlns:a16="http://schemas.microsoft.com/office/drawing/2014/main" id="{48EBCFCD-FA66-6DE7-25B9-855ABACEAE34}"/>
              </a:ext>
            </a:extLst>
          </p:cNvPr>
          <p:cNvSpPr/>
          <p:nvPr/>
        </p:nvSpPr>
        <p:spPr>
          <a:xfrm>
            <a:off x="3175000" y="3302000"/>
            <a:ext cx="1397000" cy="762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Small2</a:t>
            </a:r>
          </a:p>
        </p:txBody>
      </p:sp>
      <p:sp>
        <p:nvSpPr>
          <p:cNvPr id="6" name="Small3">
            <a:extLst>
              <a:ext uri="{FF2B5EF4-FFF2-40B4-BE49-F238E27FC236}">
                <a16:creationId xmlns:a16="http://schemas.microsoft.com/office/drawing/2014/main" id="{44E39636-0C30-DCA2-88F9-8A1C9ACBDD3F}"/>
              </a:ext>
            </a:extLst>
          </p:cNvPr>
          <p:cNvSpPr/>
          <p:nvPr/>
        </p:nvSpPr>
        <p:spPr>
          <a:xfrm>
            <a:off x="2286000" y="4445000"/>
            <a:ext cx="1397000" cy="762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Small3</a:t>
            </a:r>
          </a:p>
        </p:txBody>
      </p:sp>
      <p:sp>
        <p:nvSpPr>
          <p:cNvPr id="7" name="Anchor">
            <a:extLst>
              <a:ext uri="{FF2B5EF4-FFF2-40B4-BE49-F238E27FC236}">
                <a16:creationId xmlns:a16="http://schemas.microsoft.com/office/drawing/2014/main" id="{CAC59A5A-470A-0A31-F344-B2547F05E7D7}"/>
              </a:ext>
            </a:extLst>
          </p:cNvPr>
          <p:cNvSpPr/>
          <p:nvPr/>
        </p:nvSpPr>
        <p:spPr>
          <a:xfrm>
            <a:off x="7112000" y="2540000"/>
            <a:ext cx="3556000" cy="2540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BIG ANCHOR</a:t>
            </a:r>
          </a:p>
        </p:txBody>
      </p:sp>
    </p:spTree>
    <p:extLst>
      <p:ext uri="{BB962C8B-B14F-4D97-AF65-F5344CB8AC3E}">
        <p14:creationId xmlns:p14="http://schemas.microsoft.com/office/powerpoint/2010/main" val="3387627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A0EB5AF1-6BE6-4FDA-575C-B9CCDDD658D2}"/>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Distribute: four modes, four answers</a:t>
            </a:r>
          </a:p>
        </p:txBody>
      </p:sp>
      <p:sp>
        <p:nvSpPr>
          <p:cNvPr id="3" name="Instructions">
            <a:extLst>
              <a:ext uri="{FF2B5EF4-FFF2-40B4-BE49-F238E27FC236}">
                <a16:creationId xmlns:a16="http://schemas.microsoft.com/office/drawing/2014/main" id="{37B2AE7D-B3D3-53FB-49A6-C369536B9F2F}"/>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all five. Try Distribute &gt; Horizontally with each Space by setting. Widths differ, so all four differ.</a:t>
            </a:r>
          </a:p>
        </p:txBody>
      </p:sp>
      <p:sp>
        <p:nvSpPr>
          <p:cNvPr id="4" name="W200">
            <a:extLst>
              <a:ext uri="{FF2B5EF4-FFF2-40B4-BE49-F238E27FC236}">
                <a16:creationId xmlns:a16="http://schemas.microsoft.com/office/drawing/2014/main" id="{29D8FE00-F944-55FA-E693-B5F37ECA18BC}"/>
              </a:ext>
            </a:extLst>
          </p:cNvPr>
          <p:cNvSpPr/>
          <p:nvPr/>
        </p:nvSpPr>
        <p:spPr>
          <a:xfrm>
            <a:off x="635000" y="3175000"/>
            <a:ext cx="2540000" cy="1143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200</a:t>
            </a:r>
          </a:p>
        </p:txBody>
      </p:sp>
      <p:sp>
        <p:nvSpPr>
          <p:cNvPr id="5" name="W60">
            <a:extLst>
              <a:ext uri="{FF2B5EF4-FFF2-40B4-BE49-F238E27FC236}">
                <a16:creationId xmlns:a16="http://schemas.microsoft.com/office/drawing/2014/main" id="{EFD6C477-6C94-BE77-E604-572DBC28136F}"/>
              </a:ext>
            </a:extLst>
          </p:cNvPr>
          <p:cNvSpPr/>
          <p:nvPr/>
        </p:nvSpPr>
        <p:spPr>
          <a:xfrm>
            <a:off x="3810000" y="3175000"/>
            <a:ext cx="762000" cy="1143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60</a:t>
            </a:r>
          </a:p>
        </p:txBody>
      </p:sp>
      <p:sp>
        <p:nvSpPr>
          <p:cNvPr id="6" name="W120">
            <a:extLst>
              <a:ext uri="{FF2B5EF4-FFF2-40B4-BE49-F238E27FC236}">
                <a16:creationId xmlns:a16="http://schemas.microsoft.com/office/drawing/2014/main" id="{07ACC6E0-C13C-1D95-CEF9-4795DA95CD96}"/>
              </a:ext>
            </a:extLst>
          </p:cNvPr>
          <p:cNvSpPr/>
          <p:nvPr/>
        </p:nvSpPr>
        <p:spPr>
          <a:xfrm>
            <a:off x="5334000" y="3175000"/>
            <a:ext cx="1524000" cy="1143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120</a:t>
            </a:r>
          </a:p>
        </p:txBody>
      </p:sp>
      <p:sp>
        <p:nvSpPr>
          <p:cNvPr id="7" name="W40">
            <a:extLst>
              <a:ext uri="{FF2B5EF4-FFF2-40B4-BE49-F238E27FC236}">
                <a16:creationId xmlns:a16="http://schemas.microsoft.com/office/drawing/2014/main" id="{5BD1A741-AC46-D2B6-A682-F4075180F418}"/>
              </a:ext>
            </a:extLst>
          </p:cNvPr>
          <p:cNvSpPr/>
          <p:nvPr/>
        </p:nvSpPr>
        <p:spPr>
          <a:xfrm>
            <a:off x="7874000" y="3175000"/>
            <a:ext cx="508000" cy="1143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40</a:t>
            </a:r>
          </a:p>
        </p:txBody>
      </p:sp>
      <p:sp>
        <p:nvSpPr>
          <p:cNvPr id="8" name="W150">
            <a:extLst>
              <a:ext uri="{FF2B5EF4-FFF2-40B4-BE49-F238E27FC236}">
                <a16:creationId xmlns:a16="http://schemas.microsoft.com/office/drawing/2014/main" id="{C87987EC-DE4F-8BE7-783B-B6D95621BBB8}"/>
              </a:ext>
            </a:extLst>
          </p:cNvPr>
          <p:cNvSpPr/>
          <p:nvPr/>
        </p:nvSpPr>
        <p:spPr>
          <a:xfrm>
            <a:off x="9652000" y="3175000"/>
            <a:ext cx="1905000" cy="1143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150</a:t>
            </a:r>
          </a:p>
        </p:txBody>
      </p:sp>
      <p:sp>
        <p:nvSpPr>
          <p:cNvPr id="9" name="TextBox 8">
            <a:extLst>
              <a:ext uri="{FF2B5EF4-FFF2-40B4-BE49-F238E27FC236}">
                <a16:creationId xmlns:a16="http://schemas.microsoft.com/office/drawing/2014/main" id="{530D99F4-270A-9DF8-932F-F2708ECBFF73}"/>
              </a:ext>
            </a:extLst>
          </p:cNvPr>
          <p:cNvSpPr txBox="1"/>
          <p:nvPr/>
        </p:nvSpPr>
        <p:spPr>
          <a:xfrm>
            <a:off x="508000" y="4826000"/>
            <a:ext cx="11176000" cy="461665"/>
          </a:xfrm>
          <a:prstGeom prst="rect">
            <a:avLst/>
          </a:prstGeom>
          <a:noFill/>
        </p:spPr>
        <p:txBody>
          <a:bodyPr vert="horz" rtlCol="0">
            <a:spAutoFit/>
          </a:bodyPr>
          <a:lstStyle/>
          <a:p>
            <a:r>
              <a:rPr lang="en-AU" sz="1200">
                <a:solidFill>
                  <a:srgbClr val="7F7F7F"/>
                </a:solidFill>
              </a:rPr>
              <a:t>Leading edges lines up the left edges at an even pitch. Centres evens the centres. Trailing edges evens the right edges. Space between evens the visible gaps - the only one of the four that does.</a:t>
            </a:r>
          </a:p>
        </p:txBody>
      </p:sp>
    </p:spTree>
    <p:extLst>
      <p:ext uri="{BB962C8B-B14F-4D97-AF65-F5344CB8AC3E}">
        <p14:creationId xmlns:p14="http://schemas.microsoft.com/office/powerpoint/2010/main" val="2762994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A2BDC096-0983-BC9F-5BD9-F384D80D98FE}"/>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Exact spacing</a:t>
            </a:r>
          </a:p>
        </p:txBody>
      </p:sp>
      <p:sp>
        <p:nvSpPr>
          <p:cNvPr id="3" name="Instructions">
            <a:extLst>
              <a:ext uri="{FF2B5EF4-FFF2-40B4-BE49-F238E27FC236}">
                <a16:creationId xmlns:a16="http://schemas.microsoft.com/office/drawing/2014/main" id="{AB51892E-7B81-4B23-868C-A0EEEEA701A5}"/>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all four, put 12 in the Exact (pt) box, Space by = Space between, then Distribute &gt; Horizontally.</a:t>
            </a:r>
          </a:p>
        </p:txBody>
      </p:sp>
      <p:sp>
        <p:nvSpPr>
          <p:cNvPr id="4" name="Gap0">
            <a:extLst>
              <a:ext uri="{FF2B5EF4-FFF2-40B4-BE49-F238E27FC236}">
                <a16:creationId xmlns:a16="http://schemas.microsoft.com/office/drawing/2014/main" id="{A80F8E55-2785-BE71-F002-C7DD54796DFE}"/>
              </a:ext>
            </a:extLst>
          </p:cNvPr>
          <p:cNvSpPr/>
          <p:nvPr/>
        </p:nvSpPr>
        <p:spPr>
          <a:xfrm>
            <a:off x="1016000" y="3048000"/>
            <a:ext cx="1524000" cy="1270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a:t>
            </a:r>
          </a:p>
        </p:txBody>
      </p:sp>
      <p:sp>
        <p:nvSpPr>
          <p:cNvPr id="5" name="Gap1">
            <a:extLst>
              <a:ext uri="{FF2B5EF4-FFF2-40B4-BE49-F238E27FC236}">
                <a16:creationId xmlns:a16="http://schemas.microsoft.com/office/drawing/2014/main" id="{3E3826CC-8841-AAE5-0CC1-D82BD01A1055}"/>
              </a:ext>
            </a:extLst>
          </p:cNvPr>
          <p:cNvSpPr/>
          <p:nvPr/>
        </p:nvSpPr>
        <p:spPr>
          <a:xfrm>
            <a:off x="3429000" y="3048000"/>
            <a:ext cx="1524000" cy="1270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a:t>
            </a:r>
          </a:p>
        </p:txBody>
      </p:sp>
      <p:sp>
        <p:nvSpPr>
          <p:cNvPr id="6" name="Gap2">
            <a:extLst>
              <a:ext uri="{FF2B5EF4-FFF2-40B4-BE49-F238E27FC236}">
                <a16:creationId xmlns:a16="http://schemas.microsoft.com/office/drawing/2014/main" id="{A96328EE-662C-679D-CC36-73298E3C25EA}"/>
              </a:ext>
            </a:extLst>
          </p:cNvPr>
          <p:cNvSpPr/>
          <p:nvPr/>
        </p:nvSpPr>
        <p:spPr>
          <a:xfrm>
            <a:off x="5842000" y="3048000"/>
            <a:ext cx="1524000" cy="1270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a:t>
            </a:r>
          </a:p>
        </p:txBody>
      </p:sp>
      <p:sp>
        <p:nvSpPr>
          <p:cNvPr id="7" name="Gap3">
            <a:extLst>
              <a:ext uri="{FF2B5EF4-FFF2-40B4-BE49-F238E27FC236}">
                <a16:creationId xmlns:a16="http://schemas.microsoft.com/office/drawing/2014/main" id="{BED305A0-DE0B-4D24-D820-E0E21998CE43}"/>
              </a:ext>
            </a:extLst>
          </p:cNvPr>
          <p:cNvSpPr/>
          <p:nvPr/>
        </p:nvSpPr>
        <p:spPr>
          <a:xfrm>
            <a:off x="8255000" y="3048000"/>
            <a:ext cx="1524000" cy="1270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a:t>
            </a:r>
          </a:p>
        </p:txBody>
      </p:sp>
      <p:sp>
        <p:nvSpPr>
          <p:cNvPr id="8" name="TextBox 7">
            <a:extLst>
              <a:ext uri="{FF2B5EF4-FFF2-40B4-BE49-F238E27FC236}">
                <a16:creationId xmlns:a16="http://schemas.microsoft.com/office/drawing/2014/main" id="{29F28C66-C3DE-2D27-0A79-C9691B4D9378}"/>
              </a:ext>
            </a:extLst>
          </p:cNvPr>
          <p:cNvSpPr txBox="1"/>
          <p:nvPr/>
        </p:nvSpPr>
        <p:spPr>
          <a:xfrm>
            <a:off x="508000" y="4826000"/>
            <a:ext cx="11176000" cy="276999"/>
          </a:xfrm>
          <a:prstGeom prst="rect">
            <a:avLst/>
          </a:prstGeom>
          <a:noFill/>
        </p:spPr>
        <p:txBody>
          <a:bodyPr vert="horz" rtlCol="0">
            <a:spAutoFit/>
          </a:bodyPr>
          <a:lstStyle/>
          <a:p>
            <a:r>
              <a:rPr lang="en-AU" sz="1200">
                <a:solidFill>
                  <a:srgbClr val="7F7F7F"/>
                </a:solidFill>
              </a:rPr>
              <a:t>Clear the box again to go back to evening out whatever space is already there. In the edge and centre modes the number is a pitch, not a gap.</a:t>
            </a:r>
          </a:p>
        </p:txBody>
      </p:sp>
    </p:spTree>
    <p:extLst>
      <p:ext uri="{BB962C8B-B14F-4D97-AF65-F5344CB8AC3E}">
        <p14:creationId xmlns:p14="http://schemas.microsoft.com/office/powerpoint/2010/main" val="2157892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93BC19E6-A370-DAD8-9EC4-F886F55ACF09}"/>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Match size to the anchor</a:t>
            </a:r>
          </a:p>
        </p:txBody>
      </p:sp>
      <p:sp>
        <p:nvSpPr>
          <p:cNvPr id="3" name="Instructions">
            <a:extLst>
              <a:ext uri="{FF2B5EF4-FFF2-40B4-BE49-F238E27FC236}">
                <a16:creationId xmlns:a16="http://schemas.microsoft.com/office/drawing/2014/main" id="{13C744E3-F82B-70F3-995C-ABC071710E41}"/>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the three odd shapes, then Ctrl+click TARGET last. Match &gt; Both. Try the From centre toggle too.</a:t>
            </a:r>
          </a:p>
        </p:txBody>
      </p:sp>
      <p:sp>
        <p:nvSpPr>
          <p:cNvPr id="4" name="Odd1">
            <a:extLst>
              <a:ext uri="{FF2B5EF4-FFF2-40B4-BE49-F238E27FC236}">
                <a16:creationId xmlns:a16="http://schemas.microsoft.com/office/drawing/2014/main" id="{6C67EB7C-C6EC-05C3-2630-52EA8E77D0AD}"/>
              </a:ext>
            </a:extLst>
          </p:cNvPr>
          <p:cNvSpPr/>
          <p:nvPr/>
        </p:nvSpPr>
        <p:spPr>
          <a:xfrm>
            <a:off x="1397000" y="2286000"/>
            <a:ext cx="1016000" cy="1651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Odd1</a:t>
            </a:r>
          </a:p>
        </p:txBody>
      </p:sp>
      <p:sp>
        <p:nvSpPr>
          <p:cNvPr id="5" name="Odd2">
            <a:extLst>
              <a:ext uri="{FF2B5EF4-FFF2-40B4-BE49-F238E27FC236}">
                <a16:creationId xmlns:a16="http://schemas.microsoft.com/office/drawing/2014/main" id="{4D0534BC-9C7C-58FE-94EE-9B2AF13ACC99}"/>
              </a:ext>
            </a:extLst>
          </p:cNvPr>
          <p:cNvSpPr/>
          <p:nvPr/>
        </p:nvSpPr>
        <p:spPr>
          <a:xfrm>
            <a:off x="3048000" y="2794000"/>
            <a:ext cx="2032000" cy="762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Odd2</a:t>
            </a:r>
          </a:p>
        </p:txBody>
      </p:sp>
      <p:sp>
        <p:nvSpPr>
          <p:cNvPr id="6" name="Odd3">
            <a:extLst>
              <a:ext uri="{FF2B5EF4-FFF2-40B4-BE49-F238E27FC236}">
                <a16:creationId xmlns:a16="http://schemas.microsoft.com/office/drawing/2014/main" id="{A399D68D-A9B2-B271-7F09-A6A5563FF828}"/>
              </a:ext>
            </a:extLst>
          </p:cNvPr>
          <p:cNvSpPr/>
          <p:nvPr/>
        </p:nvSpPr>
        <p:spPr>
          <a:xfrm>
            <a:off x="1651000" y="4445000"/>
            <a:ext cx="1397000" cy="1143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Odd3</a:t>
            </a:r>
          </a:p>
        </p:txBody>
      </p:sp>
      <p:sp>
        <p:nvSpPr>
          <p:cNvPr id="7" name="Target">
            <a:extLst>
              <a:ext uri="{FF2B5EF4-FFF2-40B4-BE49-F238E27FC236}">
                <a16:creationId xmlns:a16="http://schemas.microsoft.com/office/drawing/2014/main" id="{7050CBF2-259D-E3F0-35D8-378F7347F66D}"/>
              </a:ext>
            </a:extLst>
          </p:cNvPr>
          <p:cNvSpPr/>
          <p:nvPr/>
        </p:nvSpPr>
        <p:spPr>
          <a:xfrm>
            <a:off x="7620000" y="2921000"/>
            <a:ext cx="2540000" cy="1524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TARGET</a:t>
            </a:r>
          </a:p>
        </p:txBody>
      </p:sp>
    </p:spTree>
    <p:extLst>
      <p:ext uri="{BB962C8B-B14F-4D97-AF65-F5344CB8AC3E}">
        <p14:creationId xmlns:p14="http://schemas.microsoft.com/office/powerpoint/2010/main" val="2144529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B4AC968B-2889-08B8-6C7D-FBC396AE216B}"/>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Order: stack in the order you select</a:t>
            </a:r>
          </a:p>
        </p:txBody>
      </p:sp>
      <p:sp>
        <p:nvSpPr>
          <p:cNvPr id="3" name="Instructions">
            <a:extLst>
              <a:ext uri="{FF2B5EF4-FFF2-40B4-BE49-F238E27FC236}">
                <a16:creationId xmlns:a16="http://schemas.microsoft.com/office/drawing/2014/main" id="{D78F6EAC-5CF8-3149-3A88-D87BA0B810DE}"/>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Card 1, Ctrl+click Card 2 then Card 3 to add them, then click Order &gt; Stack. Card 1 ends on top.</a:t>
            </a:r>
          </a:p>
        </p:txBody>
      </p:sp>
      <p:sp>
        <p:nvSpPr>
          <p:cNvPr id="4" name="Card1">
            <a:extLst>
              <a:ext uri="{FF2B5EF4-FFF2-40B4-BE49-F238E27FC236}">
                <a16:creationId xmlns:a16="http://schemas.microsoft.com/office/drawing/2014/main" id="{4B076291-520B-EDE4-3CF6-051B21F7D734}"/>
              </a:ext>
            </a:extLst>
          </p:cNvPr>
          <p:cNvSpPr/>
          <p:nvPr/>
        </p:nvSpPr>
        <p:spPr>
          <a:xfrm>
            <a:off x="1905000" y="2159000"/>
            <a:ext cx="2794000" cy="2159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Card 1</a:t>
            </a:r>
          </a:p>
        </p:txBody>
      </p:sp>
      <p:sp>
        <p:nvSpPr>
          <p:cNvPr id="5" name="BarA">
            <a:extLst>
              <a:ext uri="{FF2B5EF4-FFF2-40B4-BE49-F238E27FC236}">
                <a16:creationId xmlns:a16="http://schemas.microsoft.com/office/drawing/2014/main" id="{11150C6B-92DB-75FD-CD25-A304EE05A30B}"/>
              </a:ext>
            </a:extLst>
          </p:cNvPr>
          <p:cNvSpPr/>
          <p:nvPr/>
        </p:nvSpPr>
        <p:spPr>
          <a:xfrm>
            <a:off x="4191000" y="1778000"/>
            <a:ext cx="508000" cy="3175000"/>
          </a:xfrm>
          <a:prstGeom prst="rect">
            <a:avLst/>
          </a:prstGeom>
          <a:solidFill>
            <a:srgbClr val="7F7F7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400" b="1">
              <a:solidFill>
                <a:srgbClr val="FFFFFF"/>
              </a:solidFill>
            </a:endParaRPr>
          </a:p>
        </p:txBody>
      </p:sp>
      <p:sp>
        <p:nvSpPr>
          <p:cNvPr id="6" name="Card2">
            <a:extLst>
              <a:ext uri="{FF2B5EF4-FFF2-40B4-BE49-F238E27FC236}">
                <a16:creationId xmlns:a16="http://schemas.microsoft.com/office/drawing/2014/main" id="{97F0F394-7FE1-877D-3DE3-578F6483E92C}"/>
              </a:ext>
            </a:extLst>
          </p:cNvPr>
          <p:cNvSpPr/>
          <p:nvPr/>
        </p:nvSpPr>
        <p:spPr>
          <a:xfrm>
            <a:off x="4318000" y="2667000"/>
            <a:ext cx="2794000" cy="2159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Card 2</a:t>
            </a:r>
          </a:p>
        </p:txBody>
      </p:sp>
      <p:sp>
        <p:nvSpPr>
          <p:cNvPr id="7" name="BarB">
            <a:extLst>
              <a:ext uri="{FF2B5EF4-FFF2-40B4-BE49-F238E27FC236}">
                <a16:creationId xmlns:a16="http://schemas.microsoft.com/office/drawing/2014/main" id="{8C493E13-64CC-0518-A69D-059B896AB50B}"/>
              </a:ext>
            </a:extLst>
          </p:cNvPr>
          <p:cNvSpPr/>
          <p:nvPr/>
        </p:nvSpPr>
        <p:spPr>
          <a:xfrm>
            <a:off x="6604000" y="1778000"/>
            <a:ext cx="508000" cy="3175000"/>
          </a:xfrm>
          <a:prstGeom prst="rect">
            <a:avLst/>
          </a:prstGeom>
          <a:solidFill>
            <a:srgbClr val="7F7F7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400" b="1">
              <a:solidFill>
                <a:srgbClr val="FFFFFF"/>
              </a:solidFill>
            </a:endParaRPr>
          </a:p>
        </p:txBody>
      </p:sp>
      <p:sp>
        <p:nvSpPr>
          <p:cNvPr id="8" name="Card3">
            <a:extLst>
              <a:ext uri="{FF2B5EF4-FFF2-40B4-BE49-F238E27FC236}">
                <a16:creationId xmlns:a16="http://schemas.microsoft.com/office/drawing/2014/main" id="{4AED36A8-1386-ABE0-8338-7458CD49C1EA}"/>
              </a:ext>
            </a:extLst>
          </p:cNvPr>
          <p:cNvSpPr/>
          <p:nvPr/>
        </p:nvSpPr>
        <p:spPr>
          <a:xfrm>
            <a:off x="6731000" y="2159000"/>
            <a:ext cx="2794000" cy="2159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Card 3</a:t>
            </a:r>
          </a:p>
        </p:txBody>
      </p:sp>
      <p:sp>
        <p:nvSpPr>
          <p:cNvPr id="9" name="TextBox 8">
            <a:extLst>
              <a:ext uri="{FF2B5EF4-FFF2-40B4-BE49-F238E27FC236}">
                <a16:creationId xmlns:a16="http://schemas.microsoft.com/office/drawing/2014/main" id="{8EB9BB31-AB4C-F082-D361-BE2E34443253}"/>
              </a:ext>
            </a:extLst>
          </p:cNvPr>
          <p:cNvSpPr txBox="1"/>
          <p:nvPr/>
        </p:nvSpPr>
        <p:spPr>
          <a:xfrm>
            <a:off x="508000" y="5334000"/>
            <a:ext cx="11176000" cy="646331"/>
          </a:xfrm>
          <a:prstGeom prst="rect">
            <a:avLst/>
          </a:prstGeom>
          <a:noFill/>
        </p:spPr>
        <p:txBody>
          <a:bodyPr vert="horz" rtlCol="0">
            <a:spAutoFit/>
          </a:bodyPr>
          <a:lstStyle/>
          <a:p>
            <a:r>
              <a:rPr lang="en-AU" sz="1200">
                <a:solidFill>
                  <a:srgbClr val="7F7F7F"/>
                </a:solidFill>
              </a:rPr>
              <a:t>The two grey bars are not in the selection, and they must come out on exactly the layers they went in on - one behind Card 2, one behind Card 3. That is the difference from Bring to front, which would drag all three cards over the top of them. Now click Order &gt; Reverse to flip the pile, then select the cards in a different order and click Stack again.</a:t>
            </a:r>
          </a:p>
        </p:txBody>
      </p:sp>
    </p:spTree>
    <p:extLst>
      <p:ext uri="{BB962C8B-B14F-4D97-AF65-F5344CB8AC3E}">
        <p14:creationId xmlns:p14="http://schemas.microsoft.com/office/powerpoint/2010/main" val="426754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D28E94A6-2629-A24A-B6CE-2BB10F89B315}"/>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Match size with a margin</a:t>
            </a:r>
          </a:p>
        </p:txBody>
      </p:sp>
      <p:sp>
        <p:nvSpPr>
          <p:cNvPr id="3" name="Instructions">
            <a:extLst>
              <a:ext uri="{FF2B5EF4-FFF2-40B4-BE49-F238E27FC236}">
                <a16:creationId xmlns:a16="http://schemas.microsoft.com/office/drawing/2014/main" id="{8B22EA39-8D63-413A-C511-FDD90F619FC4}"/>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Type 10 in Margin (pt) and set Apply margin = All the same. Select the three shapes, Ctrl+click TARGET last, then click Match &gt; Both.</a:t>
            </a:r>
          </a:p>
        </p:txBody>
      </p:sp>
      <p:sp>
        <p:nvSpPr>
          <p:cNvPr id="4" name="Step1">
            <a:extLst>
              <a:ext uri="{FF2B5EF4-FFF2-40B4-BE49-F238E27FC236}">
                <a16:creationId xmlns:a16="http://schemas.microsoft.com/office/drawing/2014/main" id="{32CFC9BA-06E1-7A6C-A031-B1B0F1CC07C0}"/>
              </a:ext>
            </a:extLst>
          </p:cNvPr>
          <p:cNvSpPr/>
          <p:nvPr/>
        </p:nvSpPr>
        <p:spPr>
          <a:xfrm>
            <a:off x="1397000" y="2286000"/>
            <a:ext cx="1016000" cy="1651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1st</a:t>
            </a:r>
          </a:p>
        </p:txBody>
      </p:sp>
      <p:sp>
        <p:nvSpPr>
          <p:cNvPr id="5" name="Step2">
            <a:extLst>
              <a:ext uri="{FF2B5EF4-FFF2-40B4-BE49-F238E27FC236}">
                <a16:creationId xmlns:a16="http://schemas.microsoft.com/office/drawing/2014/main" id="{9395A103-5D1F-62C5-A7A3-C4E365316DE1}"/>
              </a:ext>
            </a:extLst>
          </p:cNvPr>
          <p:cNvSpPr/>
          <p:nvPr/>
        </p:nvSpPr>
        <p:spPr>
          <a:xfrm>
            <a:off x="3048000" y="2794000"/>
            <a:ext cx="2032000" cy="762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2nd</a:t>
            </a:r>
          </a:p>
        </p:txBody>
      </p:sp>
      <p:sp>
        <p:nvSpPr>
          <p:cNvPr id="6" name="Step3">
            <a:extLst>
              <a:ext uri="{FF2B5EF4-FFF2-40B4-BE49-F238E27FC236}">
                <a16:creationId xmlns:a16="http://schemas.microsoft.com/office/drawing/2014/main" id="{A12F8115-8323-23D1-ECE1-80970F9F0990}"/>
              </a:ext>
            </a:extLst>
          </p:cNvPr>
          <p:cNvSpPr/>
          <p:nvPr/>
        </p:nvSpPr>
        <p:spPr>
          <a:xfrm>
            <a:off x="1651000" y="4445000"/>
            <a:ext cx="1397000" cy="1143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3rd</a:t>
            </a:r>
          </a:p>
        </p:txBody>
      </p:sp>
      <p:sp>
        <p:nvSpPr>
          <p:cNvPr id="7" name="MarginTarget">
            <a:extLst>
              <a:ext uri="{FF2B5EF4-FFF2-40B4-BE49-F238E27FC236}">
                <a16:creationId xmlns:a16="http://schemas.microsoft.com/office/drawing/2014/main" id="{0D70124B-E351-4FBA-7D87-C20B35B0E525}"/>
              </a:ext>
            </a:extLst>
          </p:cNvPr>
          <p:cNvSpPr/>
          <p:nvPr/>
        </p:nvSpPr>
        <p:spPr>
          <a:xfrm>
            <a:off x="7620000" y="2794000"/>
            <a:ext cx="2794000" cy="1778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TARGET</a:t>
            </a:r>
          </a:p>
        </p:txBody>
      </p:sp>
      <p:sp>
        <p:nvSpPr>
          <p:cNvPr id="8" name="TextBox 7">
            <a:extLst>
              <a:ext uri="{FF2B5EF4-FFF2-40B4-BE49-F238E27FC236}">
                <a16:creationId xmlns:a16="http://schemas.microsoft.com/office/drawing/2014/main" id="{F3DBF5B8-6BC9-BA28-19AB-BB51C832EF01}"/>
              </a:ext>
            </a:extLst>
          </p:cNvPr>
          <p:cNvSpPr txBox="1"/>
          <p:nvPr/>
        </p:nvSpPr>
        <p:spPr>
          <a:xfrm>
            <a:off x="508000" y="5715000"/>
            <a:ext cx="11176000" cy="646331"/>
          </a:xfrm>
          <a:prstGeom prst="rect">
            <a:avLst/>
          </a:prstGeom>
          <a:noFill/>
        </p:spPr>
        <p:txBody>
          <a:bodyPr vert="horz" rtlCol="0">
            <a:spAutoFit/>
          </a:bodyPr>
          <a:lstStyle/>
          <a:p>
            <a:r>
              <a:rPr lang="en-AU" sz="1200">
                <a:solidFill>
                  <a:srgbClr val="7F7F7F"/>
                </a:solidFill>
              </a:rPr>
              <a:t>The margin is measured per side, so a margin of 10 takes 20 off each dimension and leaves a 10pt border showing all round. Now click AlignPro undo, set Apply margin to Cascade, select the shapes again in the same order and click Match &gt; Both: the shapes tier along the order you selected in, and the one you selected first ends smallest.</a:t>
            </a:r>
          </a:p>
        </p:txBody>
      </p:sp>
    </p:spTree>
    <p:extLst>
      <p:ext uri="{BB962C8B-B14F-4D97-AF65-F5344CB8AC3E}">
        <p14:creationId xmlns:p14="http://schemas.microsoft.com/office/powerpoint/2010/main" val="1159629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0415D797-A94D-50F3-DC93-BD0D7C689630}"/>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Concentric rings</a:t>
            </a:r>
          </a:p>
        </p:txBody>
      </p:sp>
      <p:sp>
        <p:nvSpPr>
          <p:cNvPr id="3" name="Instructions">
            <a:extLst>
              <a:ext uri="{FF2B5EF4-FFF2-40B4-BE49-F238E27FC236}">
                <a16:creationId xmlns:a16="http://schemas.microsoft.com/office/drawing/2014/main" id="{7364D1C3-F966-B735-4921-8EE4F658A92F}"/>
              </a:ext>
            </a:extLst>
          </p:cNvPr>
          <p:cNvSpPr txBox="1"/>
          <p:nvPr/>
        </p:nvSpPr>
        <p:spPr>
          <a:xfrm>
            <a:off x="508000" y="762000"/>
            <a:ext cx="11176000" cy="492443"/>
          </a:xfrm>
          <a:prstGeom prst="rect">
            <a:avLst/>
          </a:prstGeom>
          <a:noFill/>
        </p:spPr>
        <p:txBody>
          <a:bodyPr vert="horz" rtlCol="0">
            <a:spAutoFit/>
          </a:bodyPr>
          <a:lstStyle/>
          <a:p>
            <a:r>
              <a:rPr lang="en-AU" sz="1300">
                <a:solidFill>
                  <a:srgbClr val="7F7F7F"/>
                </a:solidFill>
              </a:rPr>
              <a:t>Select 1st, then Ctrl+click 2nd, 3rd, 4th and 5th in turn. Click Align &gt; Centre, then Align &gt; Middle. Type 12 in Margin (pt), set Apply margin = Cascade, switch From centre on, then click Match &gt; Both. Finish by clicking Order &gt; Stack.</a:t>
            </a:r>
          </a:p>
        </p:txBody>
      </p:sp>
      <p:sp>
        <p:nvSpPr>
          <p:cNvPr id="4" name="Ring1">
            <a:extLst>
              <a:ext uri="{FF2B5EF4-FFF2-40B4-BE49-F238E27FC236}">
                <a16:creationId xmlns:a16="http://schemas.microsoft.com/office/drawing/2014/main" id="{EFCE7847-6CEE-F380-F787-8CA3E9000570}"/>
              </a:ext>
            </a:extLst>
          </p:cNvPr>
          <p:cNvSpPr/>
          <p:nvPr/>
        </p:nvSpPr>
        <p:spPr>
          <a:xfrm>
            <a:off x="1143000" y="2286000"/>
            <a:ext cx="1905000" cy="1397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1st</a:t>
            </a:r>
          </a:p>
        </p:txBody>
      </p:sp>
      <p:sp>
        <p:nvSpPr>
          <p:cNvPr id="5" name="Ring2">
            <a:extLst>
              <a:ext uri="{FF2B5EF4-FFF2-40B4-BE49-F238E27FC236}">
                <a16:creationId xmlns:a16="http://schemas.microsoft.com/office/drawing/2014/main" id="{07B7F1FF-D7C5-CA0D-5317-E4187D143560}"/>
              </a:ext>
            </a:extLst>
          </p:cNvPr>
          <p:cNvSpPr/>
          <p:nvPr/>
        </p:nvSpPr>
        <p:spPr>
          <a:xfrm>
            <a:off x="3683000" y="3810000"/>
            <a:ext cx="2159000" cy="1524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2nd</a:t>
            </a:r>
          </a:p>
        </p:txBody>
      </p:sp>
      <p:sp>
        <p:nvSpPr>
          <p:cNvPr id="6" name="Ring3">
            <a:extLst>
              <a:ext uri="{FF2B5EF4-FFF2-40B4-BE49-F238E27FC236}">
                <a16:creationId xmlns:a16="http://schemas.microsoft.com/office/drawing/2014/main" id="{94CFAC13-C70E-5025-9C74-A041E977E41F}"/>
              </a:ext>
            </a:extLst>
          </p:cNvPr>
          <p:cNvSpPr/>
          <p:nvPr/>
        </p:nvSpPr>
        <p:spPr>
          <a:xfrm>
            <a:off x="6350000" y="2159000"/>
            <a:ext cx="2032000" cy="1651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3rd</a:t>
            </a:r>
          </a:p>
        </p:txBody>
      </p:sp>
      <p:sp>
        <p:nvSpPr>
          <p:cNvPr id="7" name="Ring4">
            <a:extLst>
              <a:ext uri="{FF2B5EF4-FFF2-40B4-BE49-F238E27FC236}">
                <a16:creationId xmlns:a16="http://schemas.microsoft.com/office/drawing/2014/main" id="{3A94D560-D060-DB0C-8E39-1D3BFB2BBFAA}"/>
              </a:ext>
            </a:extLst>
          </p:cNvPr>
          <p:cNvSpPr/>
          <p:nvPr/>
        </p:nvSpPr>
        <p:spPr>
          <a:xfrm>
            <a:off x="8890000" y="4064000"/>
            <a:ext cx="2286000" cy="1397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4th</a:t>
            </a:r>
          </a:p>
        </p:txBody>
      </p:sp>
      <p:sp>
        <p:nvSpPr>
          <p:cNvPr id="8" name="Ring5">
            <a:extLst>
              <a:ext uri="{FF2B5EF4-FFF2-40B4-BE49-F238E27FC236}">
                <a16:creationId xmlns:a16="http://schemas.microsoft.com/office/drawing/2014/main" id="{EE7BD16B-D4CA-1454-4594-3AE288EB4C57}"/>
              </a:ext>
            </a:extLst>
          </p:cNvPr>
          <p:cNvSpPr/>
          <p:nvPr/>
        </p:nvSpPr>
        <p:spPr>
          <a:xfrm>
            <a:off x="4826000" y="1905000"/>
            <a:ext cx="2540000" cy="1778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5th</a:t>
            </a:r>
          </a:p>
        </p:txBody>
      </p:sp>
      <p:sp>
        <p:nvSpPr>
          <p:cNvPr id="9" name="TextBox 8">
            <a:extLst>
              <a:ext uri="{FF2B5EF4-FFF2-40B4-BE49-F238E27FC236}">
                <a16:creationId xmlns:a16="http://schemas.microsoft.com/office/drawing/2014/main" id="{C551659A-9A01-0980-ED3E-B28C8F8FE887}"/>
              </a:ext>
            </a:extLst>
          </p:cNvPr>
          <p:cNvSpPr txBox="1"/>
          <p:nvPr/>
        </p:nvSpPr>
        <p:spPr>
          <a:xfrm>
            <a:off x="508000" y="5715000"/>
            <a:ext cx="11176000" cy="646331"/>
          </a:xfrm>
          <a:prstGeom prst="rect">
            <a:avLst/>
          </a:prstGeom>
          <a:noFill/>
        </p:spPr>
        <p:txBody>
          <a:bodyPr vert="horz" rtlCol="0">
            <a:spAutoFit/>
          </a:bodyPr>
          <a:lstStyle/>
          <a:p>
            <a:r>
              <a:rPr lang="en-AU" sz="1200">
                <a:solidFill>
                  <a:srgbClr val="7F7F7F"/>
                </a:solidFill>
              </a:rPr>
              <a:t>Aligning centres and middles stacks them on one point; From centre then holds that point while the cascade tiers the sizes, so the borders come out even. The last step matters: the cascade makes the shape you selected first the smallest, and Order &gt; Stack puts that same shape on top - so the rings are visible instead of hidden inside the largest. Keep the selection between steps and the order carries through all three commands.</a:t>
            </a:r>
          </a:p>
        </p:txBody>
      </p:sp>
    </p:spTree>
    <p:extLst>
      <p:ext uri="{BB962C8B-B14F-4D97-AF65-F5344CB8AC3E}">
        <p14:creationId xmlns:p14="http://schemas.microsoft.com/office/powerpoint/2010/main" val="2206411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8BF9AB4E-1ABF-12D7-7BF4-DFF4F7D7F110}"/>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Grow past the anchor</a:t>
            </a:r>
          </a:p>
        </p:txBody>
      </p:sp>
      <p:sp>
        <p:nvSpPr>
          <p:cNvPr id="3" name="Instructions">
            <a:extLst>
              <a:ext uri="{FF2B5EF4-FFF2-40B4-BE49-F238E27FC236}">
                <a16:creationId xmlns:a16="http://schemas.microsoft.com/office/drawing/2014/main" id="{83BA255F-638F-9D63-2772-3F73918A3AE8}"/>
              </a:ext>
            </a:extLst>
          </p:cNvPr>
          <p:cNvSpPr txBox="1"/>
          <p:nvPr/>
        </p:nvSpPr>
        <p:spPr>
          <a:xfrm>
            <a:off x="508000" y="762000"/>
            <a:ext cx="11176000" cy="492443"/>
          </a:xfrm>
          <a:prstGeom prst="rect">
            <a:avLst/>
          </a:prstGeom>
          <a:noFill/>
        </p:spPr>
        <p:txBody>
          <a:bodyPr vert="horz" rtlCol="0">
            <a:spAutoFit/>
          </a:bodyPr>
          <a:lstStyle/>
          <a:p>
            <a:r>
              <a:rPr lang="en-AU" sz="1300">
                <a:solidFill>
                  <a:srgbClr val="7F7F7F"/>
                </a:solidFill>
              </a:rPr>
              <a:t>Type 12 in Margin (pt), set Apply margin = Cascade and Direction = Grow, switch From centre on. Select 1st, Ctrl+click 2nd, 3rd, then CORE last. Click Match &gt; Both.</a:t>
            </a:r>
          </a:p>
        </p:txBody>
      </p:sp>
      <p:sp>
        <p:nvSpPr>
          <p:cNvPr id="4" name="Grow1">
            <a:extLst>
              <a:ext uri="{FF2B5EF4-FFF2-40B4-BE49-F238E27FC236}">
                <a16:creationId xmlns:a16="http://schemas.microsoft.com/office/drawing/2014/main" id="{9D7052AD-5FD3-4023-A368-C2FA40680988}"/>
              </a:ext>
            </a:extLst>
          </p:cNvPr>
          <p:cNvSpPr/>
          <p:nvPr/>
        </p:nvSpPr>
        <p:spPr>
          <a:xfrm>
            <a:off x="1397000" y="2286000"/>
            <a:ext cx="1016000" cy="762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1st</a:t>
            </a:r>
          </a:p>
        </p:txBody>
      </p:sp>
      <p:sp>
        <p:nvSpPr>
          <p:cNvPr id="5" name="Grow2">
            <a:extLst>
              <a:ext uri="{FF2B5EF4-FFF2-40B4-BE49-F238E27FC236}">
                <a16:creationId xmlns:a16="http://schemas.microsoft.com/office/drawing/2014/main" id="{F2EFCF12-B1B2-8659-154A-7D52435BB163}"/>
              </a:ext>
            </a:extLst>
          </p:cNvPr>
          <p:cNvSpPr/>
          <p:nvPr/>
        </p:nvSpPr>
        <p:spPr>
          <a:xfrm>
            <a:off x="3175000" y="3810000"/>
            <a:ext cx="889000" cy="1143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2nd</a:t>
            </a:r>
          </a:p>
        </p:txBody>
      </p:sp>
      <p:sp>
        <p:nvSpPr>
          <p:cNvPr id="6" name="Grow3">
            <a:extLst>
              <a:ext uri="{FF2B5EF4-FFF2-40B4-BE49-F238E27FC236}">
                <a16:creationId xmlns:a16="http://schemas.microsoft.com/office/drawing/2014/main" id="{40EF70FE-93B0-FB7E-8D32-1A4683D82AC2}"/>
              </a:ext>
            </a:extLst>
          </p:cNvPr>
          <p:cNvSpPr/>
          <p:nvPr/>
        </p:nvSpPr>
        <p:spPr>
          <a:xfrm>
            <a:off x="1524000" y="4826000"/>
            <a:ext cx="1270000" cy="635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3rd</a:t>
            </a:r>
          </a:p>
        </p:txBody>
      </p:sp>
      <p:sp>
        <p:nvSpPr>
          <p:cNvPr id="7" name="Core">
            <a:extLst>
              <a:ext uri="{FF2B5EF4-FFF2-40B4-BE49-F238E27FC236}">
                <a16:creationId xmlns:a16="http://schemas.microsoft.com/office/drawing/2014/main" id="{87D4D8B4-6F2B-7E87-C44F-CB29190140FA}"/>
              </a:ext>
            </a:extLst>
          </p:cNvPr>
          <p:cNvSpPr/>
          <p:nvPr/>
        </p:nvSpPr>
        <p:spPr>
          <a:xfrm>
            <a:off x="7620000" y="3175000"/>
            <a:ext cx="1524000" cy="1016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CORE</a:t>
            </a:r>
          </a:p>
        </p:txBody>
      </p:sp>
      <p:sp>
        <p:nvSpPr>
          <p:cNvPr id="8" name="TextBox 7">
            <a:extLst>
              <a:ext uri="{FF2B5EF4-FFF2-40B4-BE49-F238E27FC236}">
                <a16:creationId xmlns:a16="http://schemas.microsoft.com/office/drawing/2014/main" id="{3F6F3C9F-27E3-4EA2-7002-F54E66341D71}"/>
              </a:ext>
            </a:extLst>
          </p:cNvPr>
          <p:cNvSpPr txBox="1"/>
          <p:nvPr/>
        </p:nvSpPr>
        <p:spPr>
          <a:xfrm>
            <a:off x="508000" y="5715000"/>
            <a:ext cx="11176000" cy="461665"/>
          </a:xfrm>
          <a:prstGeom prst="rect">
            <a:avLst/>
          </a:prstGeom>
          <a:noFill/>
        </p:spPr>
        <p:txBody>
          <a:bodyPr vert="horz" rtlCol="0">
            <a:spAutoFit/>
          </a:bodyPr>
          <a:lstStyle/>
          <a:p>
            <a:r>
              <a:rPr lang="en-AU" sz="1200">
                <a:solidFill>
                  <a:srgbClr val="7F7F7F"/>
                </a:solidFill>
              </a:rPr>
              <a:t>Grow is the mirror of Shrink: the margin is still a positive number, and the shapes end outside the anchor instead of inside it. With Cascade the shape you selected first ends largest. Align them all to CORE (Reference = Anchor, Align &gt; Centre then Middle) and Order &gt; Reverse to see the rings.</a:t>
            </a:r>
          </a:p>
        </p:txBody>
      </p:sp>
    </p:spTree>
    <p:extLst>
      <p:ext uri="{BB962C8B-B14F-4D97-AF65-F5344CB8AC3E}">
        <p14:creationId xmlns:p14="http://schemas.microsoft.com/office/powerpoint/2010/main" val="1562491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80CDE59D-16BA-83D5-1780-0840F7539A46}"/>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Groups are one object</a:t>
            </a:r>
          </a:p>
        </p:txBody>
      </p:sp>
      <p:sp>
        <p:nvSpPr>
          <p:cNvPr id="3" name="Instructions">
            <a:extLst>
              <a:ext uri="{FF2B5EF4-FFF2-40B4-BE49-F238E27FC236}">
                <a16:creationId xmlns:a16="http://schemas.microsoft.com/office/drawing/2014/main" id="{4AF07295-ED72-6BF6-E8BA-2D223B6862A5}"/>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Align the group with the loose shapes - its internal spacing must not change. Then try Match size on it.</a:t>
            </a:r>
          </a:p>
        </p:txBody>
      </p:sp>
      <p:grpSp>
        <p:nvGrpSpPr>
          <p:cNvPr id="7" name="TheGroup">
            <a:extLst>
              <a:ext uri="{FF2B5EF4-FFF2-40B4-BE49-F238E27FC236}">
                <a16:creationId xmlns:a16="http://schemas.microsoft.com/office/drawing/2014/main" id="{78BA4C20-DD57-9DB8-BFF0-09B7ED4FB231}"/>
              </a:ext>
            </a:extLst>
          </p:cNvPr>
          <p:cNvGrpSpPr/>
          <p:nvPr/>
        </p:nvGrpSpPr>
        <p:grpSpPr>
          <a:xfrm>
            <a:off x="1397000" y="2540000"/>
            <a:ext cx="4191000" cy="889000"/>
            <a:chOff x="1397000" y="2540000"/>
            <a:chExt cx="4191000" cy="889000"/>
          </a:xfrm>
        </p:grpSpPr>
        <p:sp>
          <p:nvSpPr>
            <p:cNvPr id="4" name="G1">
              <a:extLst>
                <a:ext uri="{FF2B5EF4-FFF2-40B4-BE49-F238E27FC236}">
                  <a16:creationId xmlns:a16="http://schemas.microsoft.com/office/drawing/2014/main" id="{531D482F-3CF7-7C12-DACC-8CDC8E40D8E8}"/>
                </a:ext>
              </a:extLst>
            </p:cNvPr>
            <p:cNvSpPr/>
            <p:nvPr/>
          </p:nvSpPr>
          <p:spPr>
            <a:xfrm>
              <a:off x="1397000" y="2540000"/>
              <a:ext cx="1143000" cy="889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G1</a:t>
              </a:r>
            </a:p>
          </p:txBody>
        </p:sp>
        <p:sp>
          <p:nvSpPr>
            <p:cNvPr id="5" name="G2">
              <a:extLst>
                <a:ext uri="{FF2B5EF4-FFF2-40B4-BE49-F238E27FC236}">
                  <a16:creationId xmlns:a16="http://schemas.microsoft.com/office/drawing/2014/main" id="{B4587858-DAC0-B8D9-A759-7021F1DF7270}"/>
                </a:ext>
              </a:extLst>
            </p:cNvPr>
            <p:cNvSpPr/>
            <p:nvPr/>
          </p:nvSpPr>
          <p:spPr>
            <a:xfrm>
              <a:off x="2921000" y="2540000"/>
              <a:ext cx="1143000" cy="889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G2</a:t>
              </a:r>
            </a:p>
          </p:txBody>
        </p:sp>
        <p:sp>
          <p:nvSpPr>
            <p:cNvPr id="6" name="G3">
              <a:extLst>
                <a:ext uri="{FF2B5EF4-FFF2-40B4-BE49-F238E27FC236}">
                  <a16:creationId xmlns:a16="http://schemas.microsoft.com/office/drawing/2014/main" id="{76738695-A776-409A-5F34-52AEBCB522B2}"/>
                </a:ext>
              </a:extLst>
            </p:cNvPr>
            <p:cNvSpPr/>
            <p:nvPr/>
          </p:nvSpPr>
          <p:spPr>
            <a:xfrm>
              <a:off x="4445000" y="2540000"/>
              <a:ext cx="1143000" cy="889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G3</a:t>
              </a:r>
            </a:p>
          </p:txBody>
        </p:sp>
      </p:grpSp>
      <p:sp>
        <p:nvSpPr>
          <p:cNvPr id="8" name="Loose1">
            <a:extLst>
              <a:ext uri="{FF2B5EF4-FFF2-40B4-BE49-F238E27FC236}">
                <a16:creationId xmlns:a16="http://schemas.microsoft.com/office/drawing/2014/main" id="{53A5C459-2DC0-170A-F953-D1D354474D2B}"/>
              </a:ext>
            </a:extLst>
          </p:cNvPr>
          <p:cNvSpPr/>
          <p:nvPr/>
        </p:nvSpPr>
        <p:spPr>
          <a:xfrm>
            <a:off x="7620000" y="3810000"/>
            <a:ext cx="1905000" cy="1143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Loose1</a:t>
            </a:r>
          </a:p>
        </p:txBody>
      </p:sp>
      <p:sp>
        <p:nvSpPr>
          <p:cNvPr id="9" name="Loose2">
            <a:extLst>
              <a:ext uri="{FF2B5EF4-FFF2-40B4-BE49-F238E27FC236}">
                <a16:creationId xmlns:a16="http://schemas.microsoft.com/office/drawing/2014/main" id="{0759C33D-1BE5-0D8F-D85B-83466291E5FB}"/>
              </a:ext>
            </a:extLst>
          </p:cNvPr>
          <p:cNvSpPr/>
          <p:nvPr/>
        </p:nvSpPr>
        <p:spPr>
          <a:xfrm>
            <a:off x="10033000" y="4953000"/>
            <a:ext cx="1397000" cy="762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Loose2</a:t>
            </a:r>
          </a:p>
        </p:txBody>
      </p:sp>
      <p:sp>
        <p:nvSpPr>
          <p:cNvPr id="10" name="TextBox 9">
            <a:extLst>
              <a:ext uri="{FF2B5EF4-FFF2-40B4-BE49-F238E27FC236}">
                <a16:creationId xmlns:a16="http://schemas.microsoft.com/office/drawing/2014/main" id="{7AE51A69-E1B6-D7D2-B8DD-8548C5E14B75}"/>
              </a:ext>
            </a:extLst>
          </p:cNvPr>
          <p:cNvSpPr txBox="1"/>
          <p:nvPr/>
        </p:nvSpPr>
        <p:spPr>
          <a:xfrm>
            <a:off x="508000" y="5842000"/>
            <a:ext cx="11176000" cy="276999"/>
          </a:xfrm>
          <a:prstGeom prst="rect">
            <a:avLst/>
          </a:prstGeom>
          <a:noFill/>
        </p:spPr>
        <p:txBody>
          <a:bodyPr vert="horz" rtlCol="0">
            <a:spAutoFit/>
          </a:bodyPr>
          <a:lstStyle/>
          <a:p>
            <a:r>
              <a:rPr lang="en-AU" sz="1200">
                <a:solidFill>
                  <a:srgbClr val="7F7F7F"/>
                </a:solidFill>
              </a:rPr>
              <a:t>Match size refuses groups on purpose: scaling a group scales the gaps between its children, which silently distorts a diagram. AlignPro tells you rather than doing it.</a:t>
            </a:r>
          </a:p>
        </p:txBody>
      </p:sp>
    </p:spTree>
    <p:extLst>
      <p:ext uri="{BB962C8B-B14F-4D97-AF65-F5344CB8AC3E}">
        <p14:creationId xmlns:p14="http://schemas.microsoft.com/office/powerpoint/2010/main" val="286558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27BD6A1E-E1EA-A345-78DA-ADAB87E34466}"/>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Align the text, not the box</a:t>
            </a:r>
          </a:p>
        </p:txBody>
      </p:sp>
      <p:sp>
        <p:nvSpPr>
          <p:cNvPr id="3" name="Instructions">
            <a:extLst>
              <a:ext uri="{FF2B5EF4-FFF2-40B4-BE49-F238E27FC236}">
                <a16:creationId xmlns:a16="http://schemas.microsoft.com/office/drawing/2014/main" id="{45FE9086-4817-9237-B16F-CCB530EFC8F9}"/>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All three frames already start at the same x. Select them and Align &gt; Left with Measure = Text bounds.</a:t>
            </a:r>
          </a:p>
        </p:txBody>
      </p:sp>
      <p:sp>
        <p:nvSpPr>
          <p:cNvPr id="4" name="Text0">
            <a:extLst>
              <a:ext uri="{FF2B5EF4-FFF2-40B4-BE49-F238E27FC236}">
                <a16:creationId xmlns:a16="http://schemas.microsoft.com/office/drawing/2014/main" id="{FAC3E549-5802-0EE2-340A-742A64C845B9}"/>
              </a:ext>
            </a:extLst>
          </p:cNvPr>
          <p:cNvSpPr/>
          <p:nvPr/>
        </p:nvSpPr>
        <p:spPr>
          <a:xfrm>
            <a:off x="3175000" y="2159000"/>
            <a:ext cx="5334000" cy="762000"/>
          </a:xfrm>
          <a:prstGeom prst="roundRect">
            <a:avLst/>
          </a:prstGeom>
          <a:solidFill>
            <a:srgbClr val="EBEBF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AU" sz="1600">
                <a:solidFill>
                  <a:srgbClr val="282828"/>
                </a:solidFill>
              </a:rPr>
              <a:t>left-aligned text</a:t>
            </a:r>
          </a:p>
        </p:txBody>
      </p:sp>
      <p:sp>
        <p:nvSpPr>
          <p:cNvPr id="5" name="Text1">
            <a:extLst>
              <a:ext uri="{FF2B5EF4-FFF2-40B4-BE49-F238E27FC236}">
                <a16:creationId xmlns:a16="http://schemas.microsoft.com/office/drawing/2014/main" id="{962C0A8A-0219-0450-B28B-1C0E9C94C892}"/>
              </a:ext>
            </a:extLst>
          </p:cNvPr>
          <p:cNvSpPr/>
          <p:nvPr/>
        </p:nvSpPr>
        <p:spPr>
          <a:xfrm>
            <a:off x="3175000" y="3302000"/>
            <a:ext cx="5334000" cy="762000"/>
          </a:xfrm>
          <a:prstGeom prst="roundRect">
            <a:avLst/>
          </a:prstGeom>
          <a:solidFill>
            <a:srgbClr val="EBEBF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600">
                <a:solidFill>
                  <a:srgbClr val="282828"/>
                </a:solidFill>
              </a:rPr>
              <a:t>centred text</a:t>
            </a:r>
          </a:p>
        </p:txBody>
      </p:sp>
      <p:sp>
        <p:nvSpPr>
          <p:cNvPr id="6" name="Text2">
            <a:extLst>
              <a:ext uri="{FF2B5EF4-FFF2-40B4-BE49-F238E27FC236}">
                <a16:creationId xmlns:a16="http://schemas.microsoft.com/office/drawing/2014/main" id="{6B68DD8B-9F3F-A672-AB32-AE9BFB66A9D3}"/>
              </a:ext>
            </a:extLst>
          </p:cNvPr>
          <p:cNvSpPr/>
          <p:nvPr/>
        </p:nvSpPr>
        <p:spPr>
          <a:xfrm>
            <a:off x="3175000" y="4445000"/>
            <a:ext cx="5334000" cy="762000"/>
          </a:xfrm>
          <a:prstGeom prst="roundRect">
            <a:avLst/>
          </a:prstGeom>
          <a:solidFill>
            <a:srgbClr val="EBEBF0"/>
          </a:solidFill>
          <a:ln>
            <a:solidFill>
              <a:srgbClr val="7F7F7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AU" sz="1600">
                <a:solidFill>
                  <a:srgbClr val="282828"/>
                </a:solidFill>
              </a:rPr>
              <a:t>right-aligned text</a:t>
            </a:r>
          </a:p>
        </p:txBody>
      </p:sp>
      <p:sp>
        <p:nvSpPr>
          <p:cNvPr id="7" name="TextBox 6">
            <a:extLst>
              <a:ext uri="{FF2B5EF4-FFF2-40B4-BE49-F238E27FC236}">
                <a16:creationId xmlns:a16="http://schemas.microsoft.com/office/drawing/2014/main" id="{921DE20A-DD09-42E0-F9E3-D75C453130CF}"/>
              </a:ext>
            </a:extLst>
          </p:cNvPr>
          <p:cNvSpPr txBox="1"/>
          <p:nvPr/>
        </p:nvSpPr>
        <p:spPr>
          <a:xfrm>
            <a:off x="508000" y="5715000"/>
            <a:ext cx="11176000" cy="276999"/>
          </a:xfrm>
          <a:prstGeom prst="rect">
            <a:avLst/>
          </a:prstGeom>
          <a:noFill/>
        </p:spPr>
        <p:txBody>
          <a:bodyPr vert="horz" rtlCol="0">
            <a:spAutoFit/>
          </a:bodyPr>
          <a:lstStyle/>
          <a:p>
            <a:r>
              <a:rPr lang="en-AU" sz="1200">
                <a:solidFill>
                  <a:srgbClr val="7F7F7F"/>
                </a:solidFill>
              </a:rPr>
              <a:t>The frames are identical, so frame mode does nothing. Text bounds moves each box so the text itself lines up.</a:t>
            </a:r>
          </a:p>
        </p:txBody>
      </p:sp>
    </p:spTree>
    <p:extLst>
      <p:ext uri="{BB962C8B-B14F-4D97-AF65-F5344CB8AC3E}">
        <p14:creationId xmlns:p14="http://schemas.microsoft.com/office/powerpoint/2010/main" val="4225654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6F0BCD17-ED2B-B173-B80D-DA67A85EA9BE}"/>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Tidy a scatter into a grid</a:t>
            </a:r>
          </a:p>
        </p:txBody>
      </p:sp>
      <p:sp>
        <p:nvSpPr>
          <p:cNvPr id="3" name="Instructions">
            <a:extLst>
              <a:ext uri="{FF2B5EF4-FFF2-40B4-BE49-F238E27FC236}">
                <a16:creationId xmlns:a16="http://schemas.microsoft.com/office/drawing/2014/main" id="{A2FB4844-EA0A-0BE2-788D-F68B11515A57}"/>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all nine circles. Leave Columns blank for a near-square grid, or type 3. Then Arrange &gt; Grid.</a:t>
            </a:r>
          </a:p>
        </p:txBody>
      </p:sp>
      <p:sp>
        <p:nvSpPr>
          <p:cNvPr id="4" name="Dot0">
            <a:extLst>
              <a:ext uri="{FF2B5EF4-FFF2-40B4-BE49-F238E27FC236}">
                <a16:creationId xmlns:a16="http://schemas.microsoft.com/office/drawing/2014/main" id="{EBDBC94F-280D-0D38-312D-41A902D61AA3}"/>
              </a:ext>
            </a:extLst>
          </p:cNvPr>
          <p:cNvSpPr/>
          <p:nvPr/>
        </p:nvSpPr>
        <p:spPr>
          <a:xfrm>
            <a:off x="1524000" y="1905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a:t>
            </a:r>
          </a:p>
        </p:txBody>
      </p:sp>
      <p:sp>
        <p:nvSpPr>
          <p:cNvPr id="5" name="Dot1">
            <a:extLst>
              <a:ext uri="{FF2B5EF4-FFF2-40B4-BE49-F238E27FC236}">
                <a16:creationId xmlns:a16="http://schemas.microsoft.com/office/drawing/2014/main" id="{11983938-C07A-DB1F-D2CB-D09EB69E52C5}"/>
              </a:ext>
            </a:extLst>
          </p:cNvPr>
          <p:cNvSpPr/>
          <p:nvPr/>
        </p:nvSpPr>
        <p:spPr>
          <a:xfrm>
            <a:off x="5461000" y="2413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a:t>
            </a:r>
          </a:p>
        </p:txBody>
      </p:sp>
      <p:sp>
        <p:nvSpPr>
          <p:cNvPr id="6" name="Dot2">
            <a:extLst>
              <a:ext uri="{FF2B5EF4-FFF2-40B4-BE49-F238E27FC236}">
                <a16:creationId xmlns:a16="http://schemas.microsoft.com/office/drawing/2014/main" id="{52A9F69B-6345-CC01-25B0-447C46E7153A}"/>
              </a:ext>
            </a:extLst>
          </p:cNvPr>
          <p:cNvSpPr/>
          <p:nvPr/>
        </p:nvSpPr>
        <p:spPr>
          <a:xfrm>
            <a:off x="9652000" y="1778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a:t>
            </a:r>
          </a:p>
        </p:txBody>
      </p:sp>
      <p:sp>
        <p:nvSpPr>
          <p:cNvPr id="7" name="Dot3">
            <a:extLst>
              <a:ext uri="{FF2B5EF4-FFF2-40B4-BE49-F238E27FC236}">
                <a16:creationId xmlns:a16="http://schemas.microsoft.com/office/drawing/2014/main" id="{23042845-FE2B-7F0F-6A1E-F4F76B281595}"/>
              </a:ext>
            </a:extLst>
          </p:cNvPr>
          <p:cNvSpPr/>
          <p:nvPr/>
        </p:nvSpPr>
        <p:spPr>
          <a:xfrm>
            <a:off x="2413000" y="3810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a:t>
            </a:r>
          </a:p>
        </p:txBody>
      </p:sp>
      <p:sp>
        <p:nvSpPr>
          <p:cNvPr id="8" name="Dot4">
            <a:extLst>
              <a:ext uri="{FF2B5EF4-FFF2-40B4-BE49-F238E27FC236}">
                <a16:creationId xmlns:a16="http://schemas.microsoft.com/office/drawing/2014/main" id="{7A4B98E7-0144-E032-D345-B6AB7E1E8381}"/>
              </a:ext>
            </a:extLst>
          </p:cNvPr>
          <p:cNvSpPr/>
          <p:nvPr/>
        </p:nvSpPr>
        <p:spPr>
          <a:xfrm>
            <a:off x="6604000" y="3302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5</a:t>
            </a:r>
          </a:p>
        </p:txBody>
      </p:sp>
      <p:sp>
        <p:nvSpPr>
          <p:cNvPr id="9" name="Dot5">
            <a:extLst>
              <a:ext uri="{FF2B5EF4-FFF2-40B4-BE49-F238E27FC236}">
                <a16:creationId xmlns:a16="http://schemas.microsoft.com/office/drawing/2014/main" id="{D7BF68C8-EE08-00DE-3940-2A03C0967B42}"/>
              </a:ext>
            </a:extLst>
          </p:cNvPr>
          <p:cNvSpPr/>
          <p:nvPr/>
        </p:nvSpPr>
        <p:spPr>
          <a:xfrm>
            <a:off x="8763000" y="4191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6</a:t>
            </a:r>
          </a:p>
        </p:txBody>
      </p:sp>
      <p:sp>
        <p:nvSpPr>
          <p:cNvPr id="10" name="Dot6">
            <a:extLst>
              <a:ext uri="{FF2B5EF4-FFF2-40B4-BE49-F238E27FC236}">
                <a16:creationId xmlns:a16="http://schemas.microsoft.com/office/drawing/2014/main" id="{AF5AB7E4-ED47-6B05-6DA9-2FEBDBEA9A9B}"/>
              </a:ext>
            </a:extLst>
          </p:cNvPr>
          <p:cNvSpPr/>
          <p:nvPr/>
        </p:nvSpPr>
        <p:spPr>
          <a:xfrm>
            <a:off x="1397000" y="5334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7</a:t>
            </a:r>
          </a:p>
        </p:txBody>
      </p:sp>
      <p:sp>
        <p:nvSpPr>
          <p:cNvPr id="11" name="Dot7">
            <a:extLst>
              <a:ext uri="{FF2B5EF4-FFF2-40B4-BE49-F238E27FC236}">
                <a16:creationId xmlns:a16="http://schemas.microsoft.com/office/drawing/2014/main" id="{F35B6702-4325-13D8-919F-C09251E75459}"/>
              </a:ext>
            </a:extLst>
          </p:cNvPr>
          <p:cNvSpPr/>
          <p:nvPr/>
        </p:nvSpPr>
        <p:spPr>
          <a:xfrm>
            <a:off x="5080000" y="5080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8</a:t>
            </a:r>
          </a:p>
        </p:txBody>
      </p:sp>
      <p:sp>
        <p:nvSpPr>
          <p:cNvPr id="12" name="Dot8">
            <a:extLst>
              <a:ext uri="{FF2B5EF4-FFF2-40B4-BE49-F238E27FC236}">
                <a16:creationId xmlns:a16="http://schemas.microsoft.com/office/drawing/2014/main" id="{F365206F-9DEB-C35E-E32C-DB5C68FD918A}"/>
              </a:ext>
            </a:extLst>
          </p:cNvPr>
          <p:cNvSpPr/>
          <p:nvPr/>
        </p:nvSpPr>
        <p:spPr>
          <a:xfrm>
            <a:off x="10160000" y="5461000"/>
            <a:ext cx="1016000" cy="1016000"/>
          </a:xfrm>
          <a:prstGeom prst="ellipse">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9</a:t>
            </a:r>
          </a:p>
        </p:txBody>
      </p:sp>
      <p:sp>
        <p:nvSpPr>
          <p:cNvPr id="13" name="TextBox 12">
            <a:extLst>
              <a:ext uri="{FF2B5EF4-FFF2-40B4-BE49-F238E27FC236}">
                <a16:creationId xmlns:a16="http://schemas.microsoft.com/office/drawing/2014/main" id="{9E2A82B7-66A0-5C6B-FC6E-FC20612D76B5}"/>
              </a:ext>
            </a:extLst>
          </p:cNvPr>
          <p:cNvSpPr txBox="1"/>
          <p:nvPr/>
        </p:nvSpPr>
        <p:spPr>
          <a:xfrm>
            <a:off x="508000" y="6350000"/>
            <a:ext cx="11176000" cy="276999"/>
          </a:xfrm>
          <a:prstGeom prst="rect">
            <a:avLst/>
          </a:prstGeom>
          <a:noFill/>
        </p:spPr>
        <p:txBody>
          <a:bodyPr vert="horz" rtlCol="0">
            <a:spAutoFit/>
          </a:bodyPr>
          <a:lstStyle/>
          <a:p>
            <a:r>
              <a:rPr lang="en-AU" sz="1200">
                <a:solidFill>
                  <a:srgbClr val="7F7F7F"/>
                </a:solidFill>
              </a:rPr>
              <a:t>Grid only repositions - sizes are left alone, so it is safe on groups too. Set Reference = Slide to spread across the whole slide.</a:t>
            </a:r>
          </a:p>
        </p:txBody>
      </p:sp>
    </p:spTree>
    <p:extLst>
      <p:ext uri="{BB962C8B-B14F-4D97-AF65-F5344CB8AC3E}">
        <p14:creationId xmlns:p14="http://schemas.microsoft.com/office/powerpoint/2010/main" val="789282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F87EB6A6-BCC0-EE0F-7B9D-9EE52547D425}"/>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Align to the slide, or to its margins</a:t>
            </a:r>
          </a:p>
        </p:txBody>
      </p:sp>
      <p:sp>
        <p:nvSpPr>
          <p:cNvPr id="3" name="Instructions">
            <a:extLst>
              <a:ext uri="{FF2B5EF4-FFF2-40B4-BE49-F238E27FC236}">
                <a16:creationId xmlns:a16="http://schemas.microsoft.com/office/drawing/2014/main" id="{A950DEE6-9FD1-CF33-E26B-DD8181142797}"/>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one shape. Reference = Slide then Align &gt; Centre. Then Reference = Slide margins with Margin = 36.</a:t>
            </a:r>
          </a:p>
        </p:txBody>
      </p:sp>
      <p:sp>
        <p:nvSpPr>
          <p:cNvPr id="4" name="Wanderer">
            <a:extLst>
              <a:ext uri="{FF2B5EF4-FFF2-40B4-BE49-F238E27FC236}">
                <a16:creationId xmlns:a16="http://schemas.microsoft.com/office/drawing/2014/main" id="{170A030E-2C98-AFA3-A50E-B0C77DE9F967}"/>
              </a:ext>
            </a:extLst>
          </p:cNvPr>
          <p:cNvSpPr/>
          <p:nvPr/>
        </p:nvSpPr>
        <p:spPr>
          <a:xfrm>
            <a:off x="1905000" y="2540000"/>
            <a:ext cx="2794000" cy="1524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Move me</a:t>
            </a:r>
          </a:p>
        </p:txBody>
      </p:sp>
      <p:sp>
        <p:nvSpPr>
          <p:cNvPr id="5" name="Friend">
            <a:extLst>
              <a:ext uri="{FF2B5EF4-FFF2-40B4-BE49-F238E27FC236}">
                <a16:creationId xmlns:a16="http://schemas.microsoft.com/office/drawing/2014/main" id="{AF83CA23-4FDA-195D-805E-17D6CE587FC8}"/>
              </a:ext>
            </a:extLst>
          </p:cNvPr>
          <p:cNvSpPr/>
          <p:nvPr/>
        </p:nvSpPr>
        <p:spPr>
          <a:xfrm>
            <a:off x="7874000" y="4318000"/>
            <a:ext cx="2032000" cy="1143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Friend</a:t>
            </a:r>
          </a:p>
        </p:txBody>
      </p:sp>
      <p:sp>
        <p:nvSpPr>
          <p:cNvPr id="6" name="TextBox 5">
            <a:extLst>
              <a:ext uri="{FF2B5EF4-FFF2-40B4-BE49-F238E27FC236}">
                <a16:creationId xmlns:a16="http://schemas.microsoft.com/office/drawing/2014/main" id="{BB70938C-33D9-C54E-6A1F-BA4CB9497E52}"/>
              </a:ext>
            </a:extLst>
          </p:cNvPr>
          <p:cNvSpPr txBox="1"/>
          <p:nvPr/>
        </p:nvSpPr>
        <p:spPr>
          <a:xfrm>
            <a:off x="508000" y="5969000"/>
            <a:ext cx="11176000" cy="276999"/>
          </a:xfrm>
          <a:prstGeom prst="rect">
            <a:avLst/>
          </a:prstGeom>
          <a:noFill/>
        </p:spPr>
        <p:txBody>
          <a:bodyPr vert="horz" rtlCol="0">
            <a:spAutoFit/>
          </a:bodyPr>
          <a:lstStyle/>
          <a:p>
            <a:r>
              <a:rPr lang="en-AU" sz="1200">
                <a:solidFill>
                  <a:srgbClr val="7F7F7F"/>
                </a:solidFill>
              </a:rPr>
              <a:t>Aligning a single shape to the selection is meaningless, so AlignPro refuses it and says why. Against the slide it is perfectly meaningful, so it works.</a:t>
            </a:r>
          </a:p>
        </p:txBody>
      </p:sp>
    </p:spTree>
    <p:extLst>
      <p:ext uri="{BB962C8B-B14F-4D97-AF65-F5344CB8AC3E}">
        <p14:creationId xmlns:p14="http://schemas.microsoft.com/office/powerpoint/2010/main" val="2480787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7B92F84C-B16A-E2B7-5B75-FB5C7C669891}"/>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Match rotation</a:t>
            </a:r>
          </a:p>
        </p:txBody>
      </p:sp>
      <p:sp>
        <p:nvSpPr>
          <p:cNvPr id="3" name="Instructions">
            <a:extLst>
              <a:ext uri="{FF2B5EF4-FFF2-40B4-BE49-F238E27FC236}">
                <a16:creationId xmlns:a16="http://schemas.microsoft.com/office/drawing/2014/main" id="{864985A4-0904-7954-1708-785A73B50C17}"/>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the three tilted shapes, then Ctrl+click LEVEL last. Click Match &gt; Rotation.</a:t>
            </a:r>
          </a:p>
        </p:txBody>
      </p:sp>
      <p:sp>
        <p:nvSpPr>
          <p:cNvPr id="4" name="Tilt1">
            <a:extLst>
              <a:ext uri="{FF2B5EF4-FFF2-40B4-BE49-F238E27FC236}">
                <a16:creationId xmlns:a16="http://schemas.microsoft.com/office/drawing/2014/main" id="{98C067A1-87CC-2A0A-A974-380C5CFEF4AA}"/>
              </a:ext>
            </a:extLst>
          </p:cNvPr>
          <p:cNvSpPr/>
          <p:nvPr/>
        </p:nvSpPr>
        <p:spPr>
          <a:xfrm rot="720000">
            <a:off x="1524000" y="2286000"/>
            <a:ext cx="1778000" cy="762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12</a:t>
            </a:r>
          </a:p>
        </p:txBody>
      </p:sp>
      <p:sp>
        <p:nvSpPr>
          <p:cNvPr id="5" name="Tilt2">
            <a:extLst>
              <a:ext uri="{FF2B5EF4-FFF2-40B4-BE49-F238E27FC236}">
                <a16:creationId xmlns:a16="http://schemas.microsoft.com/office/drawing/2014/main" id="{5192A6DE-0745-0EB2-0EE1-1AAFC55A2296}"/>
              </a:ext>
            </a:extLst>
          </p:cNvPr>
          <p:cNvSpPr/>
          <p:nvPr/>
        </p:nvSpPr>
        <p:spPr>
          <a:xfrm rot="21060000">
            <a:off x="4191000" y="3810000"/>
            <a:ext cx="1524000" cy="889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-9</a:t>
            </a:r>
          </a:p>
        </p:txBody>
      </p:sp>
      <p:sp>
        <p:nvSpPr>
          <p:cNvPr id="6" name="Tilt3">
            <a:extLst>
              <a:ext uri="{FF2B5EF4-FFF2-40B4-BE49-F238E27FC236}">
                <a16:creationId xmlns:a16="http://schemas.microsoft.com/office/drawing/2014/main" id="{A15B7D3B-92E3-420F-55E8-BDD74BE841A3}"/>
              </a:ext>
            </a:extLst>
          </p:cNvPr>
          <p:cNvSpPr/>
          <p:nvPr/>
        </p:nvSpPr>
        <p:spPr>
          <a:xfrm rot="1500000">
            <a:off x="1905000" y="4699000"/>
            <a:ext cx="2032000" cy="635000"/>
          </a:xfrm>
          <a:prstGeom prst="rect">
            <a:avLst/>
          </a:prstGeom>
          <a:solidFill>
            <a:srgbClr val="9467B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25</a:t>
            </a:r>
          </a:p>
        </p:txBody>
      </p:sp>
      <p:sp>
        <p:nvSpPr>
          <p:cNvPr id="7" name="Level">
            <a:extLst>
              <a:ext uri="{FF2B5EF4-FFF2-40B4-BE49-F238E27FC236}">
                <a16:creationId xmlns:a16="http://schemas.microsoft.com/office/drawing/2014/main" id="{B93F325B-FBFC-7D49-A4AB-6F0BEB647DA0}"/>
              </a:ext>
            </a:extLst>
          </p:cNvPr>
          <p:cNvSpPr/>
          <p:nvPr/>
        </p:nvSpPr>
        <p:spPr>
          <a:xfrm rot="1200000">
            <a:off x="7874000" y="3048000"/>
            <a:ext cx="2286000" cy="1143000"/>
          </a:xfrm>
          <a:prstGeom prst="rect">
            <a:avLst/>
          </a:prstGeom>
          <a:solidFill>
            <a:srgbClr val="D6272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LEVEL (20)</a:t>
            </a:r>
          </a:p>
        </p:txBody>
      </p:sp>
      <p:sp>
        <p:nvSpPr>
          <p:cNvPr id="8" name="TextBox 7">
            <a:extLst>
              <a:ext uri="{FF2B5EF4-FFF2-40B4-BE49-F238E27FC236}">
                <a16:creationId xmlns:a16="http://schemas.microsoft.com/office/drawing/2014/main" id="{661ADC97-0A8A-32DC-924E-9712F6C7B311}"/>
              </a:ext>
            </a:extLst>
          </p:cNvPr>
          <p:cNvSpPr txBox="1"/>
          <p:nvPr/>
        </p:nvSpPr>
        <p:spPr>
          <a:xfrm>
            <a:off x="508000" y="5715000"/>
            <a:ext cx="11176000" cy="461665"/>
          </a:xfrm>
          <a:prstGeom prst="rect">
            <a:avLst/>
          </a:prstGeom>
          <a:noFill/>
        </p:spPr>
        <p:txBody>
          <a:bodyPr vert="horz" rtlCol="0">
            <a:spAutoFit/>
          </a:bodyPr>
          <a:lstStyle/>
          <a:p>
            <a:r>
              <a:rPr lang="en-AU" sz="1200">
                <a:solidFill>
                  <a:srgbClr val="7F7F7F"/>
                </a:solidFill>
              </a:rPr>
              <a:t>Each shape turns about its own centre to the anchor's angle, and nothing else changes - not its position, not its size, not a flip. Groups are fine here: turning a group does not change the spacing inside it.</a:t>
            </a:r>
          </a:p>
        </p:txBody>
      </p:sp>
    </p:spTree>
    <p:extLst>
      <p:ext uri="{BB962C8B-B14F-4D97-AF65-F5344CB8AC3E}">
        <p14:creationId xmlns:p14="http://schemas.microsoft.com/office/powerpoint/2010/main" val="2090723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D8E983AF-EDED-F608-CBB9-522317D534A1}"/>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Duplicate: rows, rings and spirals</a:t>
            </a:r>
          </a:p>
        </p:txBody>
      </p:sp>
      <p:sp>
        <p:nvSpPr>
          <p:cNvPr id="3" name="Instructions">
            <a:extLst>
              <a:ext uri="{FF2B5EF4-FFF2-40B4-BE49-F238E27FC236}">
                <a16:creationId xmlns:a16="http://schemas.microsoft.com/office/drawing/2014/main" id="{F0006F5A-2BAB-2D82-A396-750D0DFCC5E6}"/>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SEED. X = 70, Y = 0, Angle = 0, Copies = 5, then Duplicate. Undo, then X = 0, Y = 0, Angle = 30, Copies = 11, Pivot = Slide centre.</a:t>
            </a:r>
          </a:p>
        </p:txBody>
      </p:sp>
      <p:sp>
        <p:nvSpPr>
          <p:cNvPr id="4" name="Seed">
            <a:extLst>
              <a:ext uri="{FF2B5EF4-FFF2-40B4-BE49-F238E27FC236}">
                <a16:creationId xmlns:a16="http://schemas.microsoft.com/office/drawing/2014/main" id="{F5158C0C-1CC0-EDEC-E9E1-13925DF084EB}"/>
              </a:ext>
            </a:extLst>
          </p:cNvPr>
          <p:cNvSpPr/>
          <p:nvPr/>
        </p:nvSpPr>
        <p:spPr>
          <a:xfrm>
            <a:off x="5778500" y="1397000"/>
            <a:ext cx="635000" cy="635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SEED</a:t>
            </a:r>
          </a:p>
        </p:txBody>
      </p:sp>
      <p:sp>
        <p:nvSpPr>
          <p:cNvPr id="5" name="TextBox 4">
            <a:extLst>
              <a:ext uri="{FF2B5EF4-FFF2-40B4-BE49-F238E27FC236}">
                <a16:creationId xmlns:a16="http://schemas.microsoft.com/office/drawing/2014/main" id="{0BD37DF2-C5E1-E2B1-8CEE-82AA92ABA149}"/>
              </a:ext>
            </a:extLst>
          </p:cNvPr>
          <p:cNvSpPr txBox="1"/>
          <p:nvPr/>
        </p:nvSpPr>
        <p:spPr>
          <a:xfrm>
            <a:off x="508000" y="5842000"/>
            <a:ext cx="11176000" cy="646331"/>
          </a:xfrm>
          <a:prstGeom prst="rect">
            <a:avLst/>
          </a:prstGeom>
          <a:noFill/>
        </p:spPr>
        <p:txBody>
          <a:bodyPr vert="horz" rtlCol="0">
            <a:spAutoFit/>
          </a:bodyPr>
          <a:lstStyle/>
          <a:p>
            <a:r>
              <a:rPr lang="en-AU" sz="1200">
                <a:solidFill>
                  <a:srgbClr val="7F7F7F"/>
                </a:solidFill>
              </a:rPr>
              <a:t>One step is: turn by Angle about the Pivot, then move by X and Y. Each copy gets one more step than the one before, so X alone makes a row, Angle round a far pivot makes a ring, and both together make a spiral - try X = 12 with the ring settings. Turn Rotate shapes off and the copies stay upright as they go round. Undo removes every copy at once.</a:t>
            </a:r>
          </a:p>
        </p:txBody>
      </p:sp>
    </p:spTree>
    <p:extLst>
      <p:ext uri="{BB962C8B-B14F-4D97-AF65-F5344CB8AC3E}">
        <p14:creationId xmlns:p14="http://schemas.microsoft.com/office/powerpoint/2010/main" val="1068115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D15D5905-08A1-0986-89CF-E40669C5106F}"/>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Distribute along a curve</a:t>
            </a:r>
          </a:p>
        </p:txBody>
      </p:sp>
      <p:sp>
        <p:nvSpPr>
          <p:cNvPr id="3" name="Instructions">
            <a:extLst>
              <a:ext uri="{FF2B5EF4-FFF2-40B4-BE49-F238E27FC236}">
                <a16:creationId xmlns:a16="http://schemas.microsoft.com/office/drawing/2014/main" id="{467EA227-041B-D742-BBF2-F64C2B8C31B4}"/>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Select the six beads, then Ctrl+click RING last, and Distribute &gt; Along curve. Undo, then try the arc, then the wave.</a:t>
            </a:r>
          </a:p>
        </p:txBody>
      </p:sp>
      <p:sp>
        <p:nvSpPr>
          <p:cNvPr id="4" name="Ring">
            <a:extLst>
              <a:ext uri="{FF2B5EF4-FFF2-40B4-BE49-F238E27FC236}">
                <a16:creationId xmlns:a16="http://schemas.microsoft.com/office/drawing/2014/main" id="{9C73BA7C-128F-2D9E-A2F1-6DC815E2B96C}"/>
              </a:ext>
            </a:extLst>
          </p:cNvPr>
          <p:cNvSpPr/>
          <p:nvPr/>
        </p:nvSpPr>
        <p:spPr>
          <a:xfrm>
            <a:off x="889000" y="1524000"/>
            <a:ext cx="3048000" cy="3048000"/>
          </a:xfrm>
          <a:prstGeom prst="ellipse">
            <a:avLst/>
          </a:prstGeom>
          <a:noFill/>
          <a:ln w="25400" cap="flat" cmpd="sng" algn="ctr">
            <a:solidFill>
              <a:srgbClr val="7F7F7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Arc">
            <a:extLst>
              <a:ext uri="{FF2B5EF4-FFF2-40B4-BE49-F238E27FC236}">
                <a16:creationId xmlns:a16="http://schemas.microsoft.com/office/drawing/2014/main" id="{106C4676-F66A-4473-E502-C6172B19F025}"/>
              </a:ext>
            </a:extLst>
          </p:cNvPr>
          <p:cNvSpPr/>
          <p:nvPr/>
        </p:nvSpPr>
        <p:spPr>
          <a:xfrm>
            <a:off x="4699000" y="1905001"/>
            <a:ext cx="3048000" cy="3047999"/>
          </a:xfrm>
          <a:prstGeom prst="arc">
            <a:avLst>
              <a:gd name="adj1" fmla="val 10800000"/>
              <a:gd name="adj2" fmla="val 0"/>
            </a:avLst>
          </a:prstGeom>
          <a:ln w="25400">
            <a:solidFill>
              <a:srgbClr val="7F7F7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U"/>
          </a:p>
        </p:txBody>
      </p:sp>
      <p:sp>
        <p:nvSpPr>
          <p:cNvPr id="6" name="Wave">
            <a:extLst>
              <a:ext uri="{FF2B5EF4-FFF2-40B4-BE49-F238E27FC236}">
                <a16:creationId xmlns:a16="http://schemas.microsoft.com/office/drawing/2014/main" id="{BF658ECA-B6BB-949C-157C-6B51BBEEDB79}"/>
              </a:ext>
            </a:extLst>
          </p:cNvPr>
          <p:cNvSpPr/>
          <p:nvPr/>
        </p:nvSpPr>
        <p:spPr>
          <a:xfrm>
            <a:off x="8509000" y="1778000"/>
            <a:ext cx="3175001" cy="2540001"/>
          </a:xfrm>
          <a:custGeom>
            <a:avLst/>
            <a:gdLst/>
            <a:ahLst/>
            <a:cxnLst/>
            <a:rect l="0" t="0" r="0" b="0"/>
            <a:pathLst>
              <a:path w="3175001" h="2540001">
                <a:moveTo>
                  <a:pt x="0" y="2032000"/>
                </a:moveTo>
                <a:cubicBezTo>
                  <a:pt x="635000" y="0"/>
                  <a:pt x="1651000" y="0"/>
                  <a:pt x="1905000" y="1270000"/>
                </a:cubicBezTo>
                <a:cubicBezTo>
                  <a:pt x="2159000" y="2540000"/>
                  <a:pt x="2921000" y="2540000"/>
                  <a:pt x="3175000" y="508000"/>
                </a:cubicBezTo>
              </a:path>
            </a:pathLst>
          </a:custGeom>
          <a:ln w="25400">
            <a:solidFill>
              <a:srgbClr val="7F7F7F"/>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AU"/>
          </a:p>
        </p:txBody>
      </p:sp>
      <p:sp>
        <p:nvSpPr>
          <p:cNvPr id="7" name="Bead1">
            <a:extLst>
              <a:ext uri="{FF2B5EF4-FFF2-40B4-BE49-F238E27FC236}">
                <a16:creationId xmlns:a16="http://schemas.microsoft.com/office/drawing/2014/main" id="{5A2648A5-A3D3-2350-AA30-E17F7B15382C}"/>
              </a:ext>
            </a:extLst>
          </p:cNvPr>
          <p:cNvSpPr/>
          <p:nvPr/>
        </p:nvSpPr>
        <p:spPr>
          <a:xfrm>
            <a:off x="1397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a:t>
            </a:r>
          </a:p>
        </p:txBody>
      </p:sp>
      <p:sp>
        <p:nvSpPr>
          <p:cNvPr id="8" name="Bead2">
            <a:extLst>
              <a:ext uri="{FF2B5EF4-FFF2-40B4-BE49-F238E27FC236}">
                <a16:creationId xmlns:a16="http://schemas.microsoft.com/office/drawing/2014/main" id="{B5795336-4E46-D0C6-E835-A3E9845C2661}"/>
              </a:ext>
            </a:extLst>
          </p:cNvPr>
          <p:cNvSpPr/>
          <p:nvPr/>
        </p:nvSpPr>
        <p:spPr>
          <a:xfrm>
            <a:off x="2032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a:t>
            </a:r>
          </a:p>
        </p:txBody>
      </p:sp>
      <p:sp>
        <p:nvSpPr>
          <p:cNvPr id="9" name="Bead3">
            <a:extLst>
              <a:ext uri="{FF2B5EF4-FFF2-40B4-BE49-F238E27FC236}">
                <a16:creationId xmlns:a16="http://schemas.microsoft.com/office/drawing/2014/main" id="{6BEA922B-CBB5-AE00-8F44-0B6AA9AC7273}"/>
              </a:ext>
            </a:extLst>
          </p:cNvPr>
          <p:cNvSpPr/>
          <p:nvPr/>
        </p:nvSpPr>
        <p:spPr>
          <a:xfrm>
            <a:off x="2667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a:t>
            </a:r>
          </a:p>
        </p:txBody>
      </p:sp>
      <p:sp>
        <p:nvSpPr>
          <p:cNvPr id="10" name="Bead4">
            <a:extLst>
              <a:ext uri="{FF2B5EF4-FFF2-40B4-BE49-F238E27FC236}">
                <a16:creationId xmlns:a16="http://schemas.microsoft.com/office/drawing/2014/main" id="{0F8581C3-0759-63F1-8663-61EEDE0A8870}"/>
              </a:ext>
            </a:extLst>
          </p:cNvPr>
          <p:cNvSpPr/>
          <p:nvPr/>
        </p:nvSpPr>
        <p:spPr>
          <a:xfrm>
            <a:off x="3302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a:t>
            </a:r>
          </a:p>
        </p:txBody>
      </p:sp>
      <p:sp>
        <p:nvSpPr>
          <p:cNvPr id="11" name="Bead5">
            <a:extLst>
              <a:ext uri="{FF2B5EF4-FFF2-40B4-BE49-F238E27FC236}">
                <a16:creationId xmlns:a16="http://schemas.microsoft.com/office/drawing/2014/main" id="{30EF1F8B-D415-FDD3-069E-EA46B3B06F1F}"/>
              </a:ext>
            </a:extLst>
          </p:cNvPr>
          <p:cNvSpPr/>
          <p:nvPr/>
        </p:nvSpPr>
        <p:spPr>
          <a:xfrm>
            <a:off x="3937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5</a:t>
            </a:r>
          </a:p>
        </p:txBody>
      </p:sp>
      <p:sp>
        <p:nvSpPr>
          <p:cNvPr id="12" name="Bead6">
            <a:extLst>
              <a:ext uri="{FF2B5EF4-FFF2-40B4-BE49-F238E27FC236}">
                <a16:creationId xmlns:a16="http://schemas.microsoft.com/office/drawing/2014/main" id="{FE16C849-AF77-2F0A-B7D1-D4D62204B3D3}"/>
              </a:ext>
            </a:extLst>
          </p:cNvPr>
          <p:cNvSpPr/>
          <p:nvPr/>
        </p:nvSpPr>
        <p:spPr>
          <a:xfrm>
            <a:off x="4572000" y="5080000"/>
            <a:ext cx="381000" cy="381000"/>
          </a:xfrm>
          <a:prstGeom prst="round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6</a:t>
            </a:r>
          </a:p>
        </p:txBody>
      </p:sp>
      <p:sp>
        <p:nvSpPr>
          <p:cNvPr id="13" name="TextBox 12">
            <a:extLst>
              <a:ext uri="{FF2B5EF4-FFF2-40B4-BE49-F238E27FC236}">
                <a16:creationId xmlns:a16="http://schemas.microsoft.com/office/drawing/2014/main" id="{D8656D25-E645-9237-B7B6-54F06284D0CD}"/>
              </a:ext>
            </a:extLst>
          </p:cNvPr>
          <p:cNvSpPr txBox="1"/>
          <p:nvPr/>
        </p:nvSpPr>
        <p:spPr>
          <a:xfrm>
            <a:off x="508000" y="5715000"/>
            <a:ext cx="11176000" cy="646331"/>
          </a:xfrm>
          <a:prstGeom prst="rect">
            <a:avLst/>
          </a:prstGeom>
          <a:noFill/>
        </p:spPr>
        <p:txBody>
          <a:bodyPr vert="horz" rtlCol="0">
            <a:spAutoFit/>
          </a:bodyPr>
          <a:lstStyle/>
          <a:p>
            <a:r>
              <a:rPr lang="en-AU" sz="1200">
                <a:solidFill>
                  <a:srgbClr val="7F7F7F"/>
                </a:solidFill>
              </a:rPr>
              <a:t>Round an oval the beads go evenly from twelve o'clock, clockwise, with no overlap where the circle closes. Along an arc or a path they run from one end to the other. Rotate shapes (in the Duplicate group) turns each bead to follow the curve; Exact (pt) sets the distance between them. Duplicate a bead first, then distribute the copies round the ring, for a radial array.</a:t>
            </a:r>
          </a:p>
        </p:txBody>
      </p:sp>
    </p:spTree>
    <p:extLst>
      <p:ext uri="{BB962C8B-B14F-4D97-AF65-F5344CB8AC3E}">
        <p14:creationId xmlns:p14="http://schemas.microsoft.com/office/powerpoint/2010/main" val="402629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D2BF98B2-17A6-0726-71D1-2F7E359B2348}"/>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Inside a group</a:t>
            </a:r>
          </a:p>
        </p:txBody>
      </p:sp>
      <p:sp>
        <p:nvSpPr>
          <p:cNvPr id="3" name="Instructions">
            <a:extLst>
              <a:ext uri="{FF2B5EF4-FFF2-40B4-BE49-F238E27FC236}">
                <a16:creationId xmlns:a16="http://schemas.microsoft.com/office/drawing/2014/main" id="{C9B3476F-2E13-9D87-8D19-2EA50CA40361}"/>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Click the panel, then click Item 1 inside it and Ctrl+click Items 2 and 3. Align &gt; Left. Undo, then Reference = Group and Align &gt; Centre.</a:t>
            </a:r>
          </a:p>
        </p:txBody>
      </p:sp>
      <p:grpSp>
        <p:nvGrpSpPr>
          <p:cNvPr id="8" name="Panel">
            <a:extLst>
              <a:ext uri="{FF2B5EF4-FFF2-40B4-BE49-F238E27FC236}">
                <a16:creationId xmlns:a16="http://schemas.microsoft.com/office/drawing/2014/main" id="{760B168B-60EF-FCEF-49D7-C595B77EF994}"/>
              </a:ext>
            </a:extLst>
          </p:cNvPr>
          <p:cNvGrpSpPr/>
          <p:nvPr/>
        </p:nvGrpSpPr>
        <p:grpSpPr>
          <a:xfrm>
            <a:off x="2794000" y="1651000"/>
            <a:ext cx="6604000" cy="3810000"/>
            <a:chOff x="2794000" y="1651000"/>
            <a:chExt cx="6604000" cy="3810000"/>
          </a:xfrm>
        </p:grpSpPr>
        <p:sp>
          <p:nvSpPr>
            <p:cNvPr id="4" name="Card">
              <a:extLst>
                <a:ext uri="{FF2B5EF4-FFF2-40B4-BE49-F238E27FC236}">
                  <a16:creationId xmlns:a16="http://schemas.microsoft.com/office/drawing/2014/main" id="{55D67CCD-2811-8C6E-03F1-D0109CA9AF21}"/>
                </a:ext>
              </a:extLst>
            </p:cNvPr>
            <p:cNvSpPr/>
            <p:nvPr/>
          </p:nvSpPr>
          <p:spPr>
            <a:xfrm>
              <a:off x="2794000" y="1651000"/>
              <a:ext cx="6604000" cy="3810000"/>
            </a:xfrm>
            <a:prstGeom prst="rect">
              <a:avLst/>
            </a:prstGeom>
            <a:solidFill>
              <a:srgbClr val="DEE2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400" b="1">
                <a:solidFill>
                  <a:srgbClr val="FFFFFF"/>
                </a:solidFill>
              </a:endParaRPr>
            </a:p>
          </p:txBody>
        </p:sp>
        <p:sp>
          <p:nvSpPr>
            <p:cNvPr id="5" name="Item1">
              <a:extLst>
                <a:ext uri="{FF2B5EF4-FFF2-40B4-BE49-F238E27FC236}">
                  <a16:creationId xmlns:a16="http://schemas.microsoft.com/office/drawing/2014/main" id="{A74AF8AD-A6EE-596C-5BC9-9FFB3C00D43D}"/>
                </a:ext>
              </a:extLst>
            </p:cNvPr>
            <p:cNvSpPr/>
            <p:nvPr/>
          </p:nvSpPr>
          <p:spPr>
            <a:xfrm>
              <a:off x="3302000" y="2032000"/>
              <a:ext cx="1905000" cy="635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1</a:t>
              </a:r>
            </a:p>
          </p:txBody>
        </p:sp>
        <p:sp>
          <p:nvSpPr>
            <p:cNvPr id="6" name="Item2">
              <a:extLst>
                <a:ext uri="{FF2B5EF4-FFF2-40B4-BE49-F238E27FC236}">
                  <a16:creationId xmlns:a16="http://schemas.microsoft.com/office/drawing/2014/main" id="{5ECA8E19-3D62-BCAB-1E99-7FCA722F239E}"/>
                </a:ext>
              </a:extLst>
            </p:cNvPr>
            <p:cNvSpPr/>
            <p:nvPr/>
          </p:nvSpPr>
          <p:spPr>
            <a:xfrm>
              <a:off x="4191000" y="3175000"/>
              <a:ext cx="2413000" cy="635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2</a:t>
              </a:r>
            </a:p>
          </p:txBody>
        </p:sp>
        <p:sp>
          <p:nvSpPr>
            <p:cNvPr id="7" name="Item3">
              <a:extLst>
                <a:ext uri="{FF2B5EF4-FFF2-40B4-BE49-F238E27FC236}">
                  <a16:creationId xmlns:a16="http://schemas.microsoft.com/office/drawing/2014/main" id="{EACF9D31-4F5D-AF71-168A-9B67B72F013D}"/>
                </a:ext>
              </a:extLst>
            </p:cNvPr>
            <p:cNvSpPr/>
            <p:nvPr/>
          </p:nvSpPr>
          <p:spPr>
            <a:xfrm>
              <a:off x="3683000" y="4318000"/>
              <a:ext cx="1524000" cy="635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3</a:t>
              </a:r>
            </a:p>
          </p:txBody>
        </p:sp>
      </p:grpSp>
      <p:sp>
        <p:nvSpPr>
          <p:cNvPr id="9" name="TextBox 8">
            <a:extLst>
              <a:ext uri="{FF2B5EF4-FFF2-40B4-BE49-F238E27FC236}">
                <a16:creationId xmlns:a16="http://schemas.microsoft.com/office/drawing/2014/main" id="{458F1C8C-4B83-6F05-E77C-A13DC53CCB08}"/>
              </a:ext>
            </a:extLst>
          </p:cNvPr>
          <p:cNvSpPr txBox="1"/>
          <p:nvPr/>
        </p:nvSpPr>
        <p:spPr>
          <a:xfrm>
            <a:off x="508000" y="5715000"/>
            <a:ext cx="11176000" cy="646331"/>
          </a:xfrm>
          <a:prstGeom prst="rect">
            <a:avLst/>
          </a:prstGeom>
          <a:noFill/>
        </p:spPr>
        <p:txBody>
          <a:bodyPr vert="horz" rtlCol="0">
            <a:spAutoFit/>
          </a:bodyPr>
          <a:lstStyle/>
          <a:p>
            <a:r>
              <a:rPr lang="en-AU" sz="1200">
                <a:solidFill>
                  <a:srgbClr val="7F7F7F"/>
                </a:solidFill>
              </a:rPr>
              <a:t>Shapes picked inside a group are aligned on their own, and the group stays a group. Select the whole panel instead and it moves as one piece. Reference = Group measures against the group's edges - here the grey card's - and needs only one shape: try centring Item 2 alone. Order and Duplicate work in here too, and copies stay in the group.</a:t>
            </a:r>
          </a:p>
        </p:txBody>
      </p:sp>
    </p:spTree>
    <p:extLst>
      <p:ext uri="{BB962C8B-B14F-4D97-AF65-F5344CB8AC3E}">
        <p14:creationId xmlns:p14="http://schemas.microsoft.com/office/powerpoint/2010/main" val="14401761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5AA747EF-D01A-5C3D-5E59-86C7A23A0824}"/>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Inside a rotated group</a:t>
            </a:r>
          </a:p>
        </p:txBody>
      </p:sp>
      <p:sp>
        <p:nvSpPr>
          <p:cNvPr id="3" name="Instructions">
            <a:extLst>
              <a:ext uri="{FF2B5EF4-FFF2-40B4-BE49-F238E27FC236}">
                <a16:creationId xmlns:a16="http://schemas.microsoft.com/office/drawing/2014/main" id="{5A5B36E2-5E97-173F-8A85-00D8A062D048}"/>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Click the tilted panel, then pick Items 1 to 3 inside it. Align &gt; Left: they line up along the panel's edge, not the slide's.</a:t>
            </a:r>
          </a:p>
        </p:txBody>
      </p:sp>
      <p:grpSp>
        <p:nvGrpSpPr>
          <p:cNvPr id="8" name="TiltPanel">
            <a:extLst>
              <a:ext uri="{FF2B5EF4-FFF2-40B4-BE49-F238E27FC236}">
                <a16:creationId xmlns:a16="http://schemas.microsoft.com/office/drawing/2014/main" id="{F71AF14A-F606-945F-3FB5-63C94090A00F}"/>
              </a:ext>
            </a:extLst>
          </p:cNvPr>
          <p:cNvGrpSpPr/>
          <p:nvPr/>
        </p:nvGrpSpPr>
        <p:grpSpPr>
          <a:xfrm rot="900000">
            <a:off x="2921000" y="1905000"/>
            <a:ext cx="6350000" cy="3302000"/>
            <a:chOff x="2921000" y="1905000"/>
            <a:chExt cx="6350000" cy="3302000"/>
          </a:xfrm>
        </p:grpSpPr>
        <p:sp>
          <p:nvSpPr>
            <p:cNvPr id="4" name="TiltCard">
              <a:extLst>
                <a:ext uri="{FF2B5EF4-FFF2-40B4-BE49-F238E27FC236}">
                  <a16:creationId xmlns:a16="http://schemas.microsoft.com/office/drawing/2014/main" id="{B9EB2EBF-0E21-8013-0041-DFEEF183418B}"/>
                </a:ext>
              </a:extLst>
            </p:cNvPr>
            <p:cNvSpPr/>
            <p:nvPr/>
          </p:nvSpPr>
          <p:spPr>
            <a:xfrm>
              <a:off x="2921000" y="1905000"/>
              <a:ext cx="6350000" cy="3302000"/>
            </a:xfrm>
            <a:prstGeom prst="rect">
              <a:avLst/>
            </a:prstGeom>
            <a:solidFill>
              <a:srgbClr val="DEE2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sz="1400" b="1">
                <a:solidFill>
                  <a:srgbClr val="FFFFFF"/>
                </a:solidFill>
              </a:endParaRPr>
            </a:p>
          </p:txBody>
        </p:sp>
        <p:sp>
          <p:nvSpPr>
            <p:cNvPr id="5" name="TiltItem1">
              <a:extLst>
                <a:ext uri="{FF2B5EF4-FFF2-40B4-BE49-F238E27FC236}">
                  <a16:creationId xmlns:a16="http://schemas.microsoft.com/office/drawing/2014/main" id="{D01A7C72-33F0-C79B-A61F-4928C2CF2D07}"/>
                </a:ext>
              </a:extLst>
            </p:cNvPr>
            <p:cNvSpPr/>
            <p:nvPr/>
          </p:nvSpPr>
          <p:spPr>
            <a:xfrm>
              <a:off x="3429000" y="2222500"/>
              <a:ext cx="1905000" cy="635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1</a:t>
              </a:r>
            </a:p>
          </p:txBody>
        </p:sp>
        <p:sp>
          <p:nvSpPr>
            <p:cNvPr id="6" name="TiltItem2">
              <a:extLst>
                <a:ext uri="{FF2B5EF4-FFF2-40B4-BE49-F238E27FC236}">
                  <a16:creationId xmlns:a16="http://schemas.microsoft.com/office/drawing/2014/main" id="{87EDB778-3F6D-FCFE-B6FA-EB3838B73729}"/>
                </a:ext>
              </a:extLst>
            </p:cNvPr>
            <p:cNvSpPr/>
            <p:nvPr/>
          </p:nvSpPr>
          <p:spPr>
            <a:xfrm>
              <a:off x="4318000" y="3238500"/>
              <a:ext cx="2413000" cy="635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2</a:t>
              </a:r>
            </a:p>
          </p:txBody>
        </p:sp>
        <p:sp>
          <p:nvSpPr>
            <p:cNvPr id="7" name="TiltItem3">
              <a:extLst>
                <a:ext uri="{FF2B5EF4-FFF2-40B4-BE49-F238E27FC236}">
                  <a16:creationId xmlns:a16="http://schemas.microsoft.com/office/drawing/2014/main" id="{0D16BAC5-814F-CAD4-504D-F50701F7943C}"/>
                </a:ext>
              </a:extLst>
            </p:cNvPr>
            <p:cNvSpPr/>
            <p:nvPr/>
          </p:nvSpPr>
          <p:spPr>
            <a:xfrm>
              <a:off x="3810000" y="4254500"/>
              <a:ext cx="1524000" cy="635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Item 3</a:t>
              </a:r>
            </a:p>
          </p:txBody>
        </p:sp>
      </p:grpSp>
      <p:sp>
        <p:nvSpPr>
          <p:cNvPr id="9" name="TextBox 8">
            <a:extLst>
              <a:ext uri="{FF2B5EF4-FFF2-40B4-BE49-F238E27FC236}">
                <a16:creationId xmlns:a16="http://schemas.microsoft.com/office/drawing/2014/main" id="{6A1D1AC0-C3F0-4AEA-7803-CB8D7DB8910B}"/>
              </a:ext>
            </a:extLst>
          </p:cNvPr>
          <p:cNvSpPr txBox="1"/>
          <p:nvPr/>
        </p:nvSpPr>
        <p:spPr>
          <a:xfrm>
            <a:off x="508000" y="5842000"/>
            <a:ext cx="11176000" cy="461665"/>
          </a:xfrm>
          <a:prstGeom prst="rect">
            <a:avLst/>
          </a:prstGeom>
          <a:noFill/>
        </p:spPr>
        <p:txBody>
          <a:bodyPr vert="horz" rtlCol="0">
            <a:spAutoFit/>
          </a:bodyPr>
          <a:lstStyle/>
          <a:p>
            <a:r>
              <a:rPr lang="en-AU" sz="1200">
                <a:solidFill>
                  <a:srgbClr val="7F7F7F"/>
                </a:solidFill>
              </a:rPr>
              <a:t>Inside a rotated group, left, top, centre and spacing all follow the group's own edges. Reference = Group works too. Slide, Slide margins, Content placeholder and Measure = Text bounds are refused here, because they run along the slide instead.</a:t>
            </a:r>
          </a:p>
        </p:txBody>
      </p:sp>
    </p:spTree>
    <p:extLst>
      <p:ext uri="{BB962C8B-B14F-4D97-AF65-F5344CB8AC3E}">
        <p14:creationId xmlns:p14="http://schemas.microsoft.com/office/powerpoint/2010/main" val="78974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ing">
            <a:extLst>
              <a:ext uri="{FF2B5EF4-FFF2-40B4-BE49-F238E27FC236}">
                <a16:creationId xmlns:a16="http://schemas.microsoft.com/office/drawing/2014/main" id="{D7FD9A55-EB78-B921-0808-D156671386B3}"/>
              </a:ext>
            </a:extLst>
          </p:cNvPr>
          <p:cNvSpPr txBox="1"/>
          <p:nvPr/>
        </p:nvSpPr>
        <p:spPr>
          <a:xfrm>
            <a:off x="508000" y="304800"/>
            <a:ext cx="11176000" cy="461665"/>
          </a:xfrm>
          <a:prstGeom prst="rect">
            <a:avLst/>
          </a:prstGeom>
          <a:noFill/>
        </p:spPr>
        <p:txBody>
          <a:bodyPr vert="horz" rtlCol="0">
            <a:spAutoFit/>
          </a:bodyPr>
          <a:lstStyle/>
          <a:p>
            <a:r>
              <a:rPr lang="en-AU" sz="2400" b="1">
                <a:solidFill>
                  <a:srgbClr val="282828"/>
                </a:solidFill>
              </a:rPr>
              <a:t>Tidy: fix a slide built by eye</a:t>
            </a:r>
          </a:p>
        </p:txBody>
      </p:sp>
      <p:sp>
        <p:nvSpPr>
          <p:cNvPr id="3" name="Instructions">
            <a:extLst>
              <a:ext uri="{FF2B5EF4-FFF2-40B4-BE49-F238E27FC236}">
                <a16:creationId xmlns:a16="http://schemas.microsoft.com/office/drawing/2014/main" id="{BD21C95B-BFD4-EAF6-1EDB-4CA42B80AA40}"/>
              </a:ext>
            </a:extLst>
          </p:cNvPr>
          <p:cNvSpPr txBox="1"/>
          <p:nvPr/>
        </p:nvSpPr>
        <p:spPr>
          <a:xfrm>
            <a:off x="508000" y="762000"/>
            <a:ext cx="11176000" cy="292388"/>
          </a:xfrm>
          <a:prstGeom prst="rect">
            <a:avLst/>
          </a:prstGeom>
          <a:noFill/>
        </p:spPr>
        <p:txBody>
          <a:bodyPr vert="horz" rtlCol="0">
            <a:spAutoFit/>
          </a:bodyPr>
          <a:lstStyle/>
          <a:p>
            <a:r>
              <a:rPr lang="en-AU" sz="1300">
                <a:solidFill>
                  <a:srgbClr val="7F7F7F"/>
                </a:solidFill>
              </a:rPr>
              <a:t>Drag a box round all the coloured shapes to select them, then Arrange &gt; Tidy. Undo, then try Tolerance (pt) = 1.</a:t>
            </a:r>
          </a:p>
        </p:txBody>
      </p:sp>
      <p:sp>
        <p:nvSpPr>
          <p:cNvPr id="4" name="Cell1">
            <a:extLst>
              <a:ext uri="{FF2B5EF4-FFF2-40B4-BE49-F238E27FC236}">
                <a16:creationId xmlns:a16="http://schemas.microsoft.com/office/drawing/2014/main" id="{04970427-C237-4C5D-E227-F197D58F9562}"/>
              </a:ext>
            </a:extLst>
          </p:cNvPr>
          <p:cNvSpPr/>
          <p:nvPr/>
        </p:nvSpPr>
        <p:spPr>
          <a:xfrm>
            <a:off x="1021080" y="189357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a:t>
            </a:r>
          </a:p>
        </p:txBody>
      </p:sp>
      <p:sp>
        <p:nvSpPr>
          <p:cNvPr id="5" name="Cell2">
            <a:extLst>
              <a:ext uri="{FF2B5EF4-FFF2-40B4-BE49-F238E27FC236}">
                <a16:creationId xmlns:a16="http://schemas.microsoft.com/office/drawing/2014/main" id="{075B9284-86CC-710D-B277-BA041485C21B}"/>
              </a:ext>
            </a:extLst>
          </p:cNvPr>
          <p:cNvSpPr/>
          <p:nvPr/>
        </p:nvSpPr>
        <p:spPr>
          <a:xfrm>
            <a:off x="2167890" y="190119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a:t>
            </a:r>
          </a:p>
        </p:txBody>
      </p:sp>
      <p:sp>
        <p:nvSpPr>
          <p:cNvPr id="6" name="Cell3">
            <a:extLst>
              <a:ext uri="{FF2B5EF4-FFF2-40B4-BE49-F238E27FC236}">
                <a16:creationId xmlns:a16="http://schemas.microsoft.com/office/drawing/2014/main" id="{8C4B6FC3-02CD-AF63-AEAC-D7755129C19E}"/>
              </a:ext>
            </a:extLst>
          </p:cNvPr>
          <p:cNvSpPr/>
          <p:nvPr/>
        </p:nvSpPr>
        <p:spPr>
          <a:xfrm>
            <a:off x="3314700" y="189738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a:t>
            </a:r>
          </a:p>
        </p:txBody>
      </p:sp>
      <p:sp>
        <p:nvSpPr>
          <p:cNvPr id="7" name="Cell4">
            <a:extLst>
              <a:ext uri="{FF2B5EF4-FFF2-40B4-BE49-F238E27FC236}">
                <a16:creationId xmlns:a16="http://schemas.microsoft.com/office/drawing/2014/main" id="{F440332B-EFFB-40B5-3FF3-127E4F9A6A45}"/>
              </a:ext>
            </a:extLst>
          </p:cNvPr>
          <p:cNvSpPr/>
          <p:nvPr/>
        </p:nvSpPr>
        <p:spPr>
          <a:xfrm>
            <a:off x="1018540" y="290830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a:t>
            </a:r>
          </a:p>
        </p:txBody>
      </p:sp>
      <p:sp>
        <p:nvSpPr>
          <p:cNvPr id="8" name="Cell5">
            <a:extLst>
              <a:ext uri="{FF2B5EF4-FFF2-40B4-BE49-F238E27FC236}">
                <a16:creationId xmlns:a16="http://schemas.microsoft.com/office/drawing/2014/main" id="{F3AAC36B-15AC-EB33-C197-3CF685112225}"/>
              </a:ext>
            </a:extLst>
          </p:cNvPr>
          <p:cNvSpPr/>
          <p:nvPr/>
        </p:nvSpPr>
        <p:spPr>
          <a:xfrm>
            <a:off x="2169160" y="291465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5</a:t>
            </a:r>
          </a:p>
        </p:txBody>
      </p:sp>
      <p:sp>
        <p:nvSpPr>
          <p:cNvPr id="9" name="Cell6">
            <a:extLst>
              <a:ext uri="{FF2B5EF4-FFF2-40B4-BE49-F238E27FC236}">
                <a16:creationId xmlns:a16="http://schemas.microsoft.com/office/drawing/2014/main" id="{2C92142E-EE04-156D-A668-09494B125479}"/>
              </a:ext>
            </a:extLst>
          </p:cNvPr>
          <p:cNvSpPr/>
          <p:nvPr/>
        </p:nvSpPr>
        <p:spPr>
          <a:xfrm>
            <a:off x="3313430" y="291846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6</a:t>
            </a:r>
          </a:p>
        </p:txBody>
      </p:sp>
      <p:sp>
        <p:nvSpPr>
          <p:cNvPr id="10" name="Cell7">
            <a:extLst>
              <a:ext uri="{FF2B5EF4-FFF2-40B4-BE49-F238E27FC236}">
                <a16:creationId xmlns:a16="http://schemas.microsoft.com/office/drawing/2014/main" id="{EF5C7E2B-4C13-BAE8-C385-0BCC9E238D02}"/>
              </a:ext>
            </a:extLst>
          </p:cNvPr>
          <p:cNvSpPr/>
          <p:nvPr/>
        </p:nvSpPr>
        <p:spPr>
          <a:xfrm>
            <a:off x="1023620" y="392684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7</a:t>
            </a:r>
          </a:p>
        </p:txBody>
      </p:sp>
      <p:sp>
        <p:nvSpPr>
          <p:cNvPr id="11" name="Cell8">
            <a:extLst>
              <a:ext uri="{FF2B5EF4-FFF2-40B4-BE49-F238E27FC236}">
                <a16:creationId xmlns:a16="http://schemas.microsoft.com/office/drawing/2014/main" id="{FC242D84-F9D6-ADF1-B065-25373DBABBB3}"/>
              </a:ext>
            </a:extLst>
          </p:cNvPr>
          <p:cNvSpPr/>
          <p:nvPr/>
        </p:nvSpPr>
        <p:spPr>
          <a:xfrm>
            <a:off x="2160270" y="393192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8</a:t>
            </a:r>
          </a:p>
        </p:txBody>
      </p:sp>
      <p:sp>
        <p:nvSpPr>
          <p:cNvPr id="12" name="Cell9">
            <a:extLst>
              <a:ext uri="{FF2B5EF4-FFF2-40B4-BE49-F238E27FC236}">
                <a16:creationId xmlns:a16="http://schemas.microsoft.com/office/drawing/2014/main" id="{CE6D8535-E89A-F23C-9E94-D99DBF029B2D}"/>
              </a:ext>
            </a:extLst>
          </p:cNvPr>
          <p:cNvSpPr/>
          <p:nvPr/>
        </p:nvSpPr>
        <p:spPr>
          <a:xfrm>
            <a:off x="3308350" y="3928110"/>
            <a:ext cx="635000" cy="508000"/>
          </a:xfrm>
          <a:prstGeom prst="rect">
            <a:avLst/>
          </a:prstGeom>
          <a:solidFill>
            <a:srgbClr val="1F77B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9</a:t>
            </a:r>
          </a:p>
        </p:txBody>
      </p:sp>
      <p:cxnSp>
        <p:nvCxnSpPr>
          <p:cNvPr id="13" name="Link">
            <a:extLst>
              <a:ext uri="{FF2B5EF4-FFF2-40B4-BE49-F238E27FC236}">
                <a16:creationId xmlns:a16="http://schemas.microsoft.com/office/drawing/2014/main" id="{C705802A-F1D1-62F3-A045-F4AA36DEFCA5}"/>
              </a:ext>
            </a:extLst>
          </p:cNvPr>
          <p:cNvCxnSpPr>
            <a:cxnSpLocks/>
            <a:stCxn id="4" idx="3"/>
            <a:endCxn id="5" idx="1"/>
          </p:cNvCxnSpPr>
          <p:nvPr/>
        </p:nvCxnSpPr>
        <p:spPr>
          <a:xfrm>
            <a:off x="1656080" y="2147570"/>
            <a:ext cx="511810" cy="7620"/>
          </a:xfrm>
          <a:prstGeom prst="straightConnector1">
            <a:avLst/>
          </a:prstGeom>
          <a:ln>
            <a:solidFill>
              <a:srgbClr val="7F7F7F"/>
            </a:solidFill>
          </a:ln>
        </p:spPr>
        <p:style>
          <a:lnRef idx="2">
            <a:schemeClr val="accent1"/>
          </a:lnRef>
          <a:fillRef idx="0">
            <a:schemeClr val="accent1"/>
          </a:fillRef>
          <a:effectRef idx="1">
            <a:schemeClr val="accent1"/>
          </a:effectRef>
          <a:fontRef idx="minor">
            <a:schemeClr val="tx1"/>
          </a:fontRef>
        </p:style>
      </p:cxnSp>
      <p:sp>
        <p:nvSpPr>
          <p:cNvPr id="14" name="Step1">
            <a:extLst>
              <a:ext uri="{FF2B5EF4-FFF2-40B4-BE49-F238E27FC236}">
                <a16:creationId xmlns:a16="http://schemas.microsoft.com/office/drawing/2014/main" id="{D4715F3E-C2A0-2B93-6A6B-50F4FA1B97BA}"/>
              </a:ext>
            </a:extLst>
          </p:cNvPr>
          <p:cNvSpPr/>
          <p:nvPr/>
        </p:nvSpPr>
        <p:spPr>
          <a:xfrm>
            <a:off x="6096000" y="2032000"/>
            <a:ext cx="635000" cy="508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1</a:t>
            </a:r>
          </a:p>
        </p:txBody>
      </p:sp>
      <p:sp>
        <p:nvSpPr>
          <p:cNvPr id="15" name="Step2">
            <a:extLst>
              <a:ext uri="{FF2B5EF4-FFF2-40B4-BE49-F238E27FC236}">
                <a16:creationId xmlns:a16="http://schemas.microsoft.com/office/drawing/2014/main" id="{50A26994-18BF-2860-AAA9-E86891E1C5E4}"/>
              </a:ext>
            </a:extLst>
          </p:cNvPr>
          <p:cNvSpPr/>
          <p:nvPr/>
        </p:nvSpPr>
        <p:spPr>
          <a:xfrm>
            <a:off x="6959600" y="2042160"/>
            <a:ext cx="635000" cy="508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2</a:t>
            </a:r>
          </a:p>
        </p:txBody>
      </p:sp>
      <p:sp>
        <p:nvSpPr>
          <p:cNvPr id="16" name="Step3">
            <a:extLst>
              <a:ext uri="{FF2B5EF4-FFF2-40B4-BE49-F238E27FC236}">
                <a16:creationId xmlns:a16="http://schemas.microsoft.com/office/drawing/2014/main" id="{F29022B4-7C8F-705E-0AAF-DB8F977EDC2F}"/>
              </a:ext>
            </a:extLst>
          </p:cNvPr>
          <p:cNvSpPr/>
          <p:nvPr/>
        </p:nvSpPr>
        <p:spPr>
          <a:xfrm>
            <a:off x="7848600" y="2025650"/>
            <a:ext cx="635000" cy="508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3</a:t>
            </a:r>
          </a:p>
        </p:txBody>
      </p:sp>
      <p:sp>
        <p:nvSpPr>
          <p:cNvPr id="17" name="Step4">
            <a:extLst>
              <a:ext uri="{FF2B5EF4-FFF2-40B4-BE49-F238E27FC236}">
                <a16:creationId xmlns:a16="http://schemas.microsoft.com/office/drawing/2014/main" id="{702EE548-8C1E-31F9-0301-ECDF6D71D9CF}"/>
              </a:ext>
            </a:extLst>
          </p:cNvPr>
          <p:cNvSpPr/>
          <p:nvPr/>
        </p:nvSpPr>
        <p:spPr>
          <a:xfrm>
            <a:off x="8750300" y="2037080"/>
            <a:ext cx="635000" cy="508000"/>
          </a:xfrm>
          <a:prstGeom prst="rect">
            <a:avLst/>
          </a:prstGeom>
          <a:solidFill>
            <a:srgbClr val="2CA02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4</a:t>
            </a:r>
          </a:p>
        </p:txBody>
      </p:sp>
      <p:sp>
        <p:nvSpPr>
          <p:cNvPr id="18" name="StagA">
            <a:extLst>
              <a:ext uri="{FF2B5EF4-FFF2-40B4-BE49-F238E27FC236}">
                <a16:creationId xmlns:a16="http://schemas.microsoft.com/office/drawing/2014/main" id="{5A80ECF4-6A5F-2FDC-9D84-0EEA68EE9B49}"/>
              </a:ext>
            </a:extLst>
          </p:cNvPr>
          <p:cNvSpPr/>
          <p:nvPr/>
        </p:nvSpPr>
        <p:spPr>
          <a:xfrm>
            <a:off x="6604000" y="3810000"/>
            <a:ext cx="2032000" cy="508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Stagger</a:t>
            </a:r>
          </a:p>
        </p:txBody>
      </p:sp>
      <p:sp>
        <p:nvSpPr>
          <p:cNvPr id="19" name="StagB">
            <a:extLst>
              <a:ext uri="{FF2B5EF4-FFF2-40B4-BE49-F238E27FC236}">
                <a16:creationId xmlns:a16="http://schemas.microsoft.com/office/drawing/2014/main" id="{2593E151-0FB3-F903-BABC-92BDC68B0F08}"/>
              </a:ext>
            </a:extLst>
          </p:cNvPr>
          <p:cNvSpPr/>
          <p:nvPr/>
        </p:nvSpPr>
        <p:spPr>
          <a:xfrm>
            <a:off x="6680200" y="4572000"/>
            <a:ext cx="2032000" cy="508000"/>
          </a:xfrm>
          <a:prstGeom prst="rect">
            <a:avLst/>
          </a:prstGeom>
          <a:solidFill>
            <a:srgbClr val="FF7F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AU" sz="1400" b="1">
                <a:solidFill>
                  <a:srgbClr val="FFFFFF"/>
                </a:solidFill>
              </a:rPr>
              <a:t>6pt in</a:t>
            </a:r>
          </a:p>
        </p:txBody>
      </p:sp>
      <p:sp>
        <p:nvSpPr>
          <p:cNvPr id="20" name="TextBox 19">
            <a:extLst>
              <a:ext uri="{FF2B5EF4-FFF2-40B4-BE49-F238E27FC236}">
                <a16:creationId xmlns:a16="http://schemas.microsoft.com/office/drawing/2014/main" id="{ACA92511-2A42-1A28-E53D-3700D4DB09DF}"/>
              </a:ext>
            </a:extLst>
          </p:cNvPr>
          <p:cNvSpPr txBox="1"/>
          <p:nvPr/>
        </p:nvSpPr>
        <p:spPr>
          <a:xfrm>
            <a:off x="508000" y="5715000"/>
            <a:ext cx="11176000" cy="461665"/>
          </a:xfrm>
          <a:prstGeom prst="rect">
            <a:avLst/>
          </a:prstGeom>
          <a:noFill/>
        </p:spPr>
        <p:txBody>
          <a:bodyPr vert="horz" rtlCol="0">
            <a:spAutoFit/>
          </a:bodyPr>
          <a:lstStyle/>
          <a:p>
            <a:r>
              <a:rPr lang="en-AU" sz="1200">
                <a:solidFill>
                  <a:srgbClr val="7F7F7F"/>
                </a:solidFill>
              </a:rPr>
              <a:t>Tidy lines up edges and centres that are within the Tolerance of each other, and evens out rows and columns that are nearly evenly spaced. It only moves shapes, and it says what it did. The orange pair is 6pt apart, which at 3pt reads as deliberate, so it stays; the connector is left to follow its boxes.</a:t>
            </a:r>
          </a:p>
        </p:txBody>
      </p:sp>
    </p:spTree>
    <p:extLst>
      <p:ext uri="{BB962C8B-B14F-4D97-AF65-F5344CB8AC3E}">
        <p14:creationId xmlns:p14="http://schemas.microsoft.com/office/powerpoint/2010/main" val="8025542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1823</Words>
  <Application>Microsoft Office PowerPoint</Application>
  <PresentationFormat>Widescreen</PresentationFormat>
  <Paragraphs>146</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Renoden</dc:creator>
  <cp:lastModifiedBy>Mark Renoden</cp:lastModifiedBy>
  <cp:revision>1</cp:revision>
  <dcterms:created xsi:type="dcterms:W3CDTF">2026-10-08T00:48:50Z</dcterms:created>
  <dcterms:modified xsi:type="dcterms:W3CDTF">2026-10-08T00:48:50Z</dcterms:modified>
</cp:coreProperties>
</file>