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" d="100"/>
          <a:sy n="10" d="100"/>
        </p:scale>
        <p:origin x="232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B2A2A-5350-0C46-869F-497276FBA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32EF90-71B2-C140-1CFC-25F351C019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9BDA0-5FA9-B1EB-5B79-60C793644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B82A9-3474-B8BC-8EA7-C81023F8E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EAE6E-DB43-ABF5-4DFA-6C18B0FD3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8619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D98A-C929-4AF2-9156-570B6D3F8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05816-D0B1-BB83-95EB-92D956D3A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15FF3-E945-B90A-F819-FCD6BFB7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52460-6C11-ED28-6965-8628646C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EDD37-6325-480A-BAB3-6A41D72E2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2175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730-DAEB-89B0-A482-2B56B6E0D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55EA3E-4421-98DB-5527-B6472ED73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41EA9-99EF-59CB-B097-CEC211C20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0653E-0C4E-EDD3-DA94-EE3F3E717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A757C-1E72-8A3D-D1D5-A9C236AC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32711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23338-8BC0-4E86-92F7-AC5D6A04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CBDD8-2741-67E2-FE3F-537CE9E867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1B983E-A0F2-7A51-D348-4384E3A7C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E6CFA4-9A05-0161-6914-C752A1F8A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E3D68F-D2C4-3D6C-A754-25C9F2B99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AD25EA-E5CC-6D2D-49C8-FFC7B51F1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373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8A4FA-C626-97BC-982D-839FF3253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F6BD2-69AF-785C-1F37-9C1998B9E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17624-2645-A4DE-54CF-7628ED8F6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F43B60-BAFA-C197-CD68-1E527FE65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1883F-3C16-5A90-CC5E-E6392430C2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3BE2FC-18FF-55C5-2067-118148BF7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6A4284-0B9B-9EE6-37BB-C7937DE5F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C0FE6B-E421-E48C-BD21-05BD9C01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158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C750B-9BFC-AE0F-00A2-9F6DBF15E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3BECC-A402-63F9-4CF9-8A0C4883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D34F7F-EE3E-3A74-4331-2EBF7ED78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944F-2475-6D86-A0A3-5E6884470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9529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BD019C-AB4D-11B1-4EBA-42B2A632B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269A82-6758-456D-7BBF-58663416B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7CB78-1872-1F94-F01F-F31A9028D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1970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BDFB-1DEA-0E10-07B6-F8A477F27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20737-9456-C381-B26A-F084B1D61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A22ECD-C96F-076C-7A51-B4974709A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F1B4B9-781A-2683-6C1A-420078E25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0CE395-19DF-780C-06C8-F44C9D24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5F5275-ED3C-1B0A-679E-924CE853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5034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7DD1B-63EA-2AD9-997F-218CABF24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F3FB2C-7486-1874-2B44-35C63A6AD7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E13F48-AD89-2847-3FDC-454A9AF83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080AF9-05E1-F232-2C70-7DEF8580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D7BE23-ADED-F50E-E99C-43A621DDD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CB237-2A4D-0C20-BD84-C8FA31031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15759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52838-02C6-F94B-D6A1-45717378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52578-789E-29B6-223E-8DFA9ABE76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A8C41-DCD5-D2B2-64E0-FE053D4F4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76212-7F42-9EFB-D8F7-B7CC2A3BE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BDA61-14C0-8843-5689-F64FE210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2031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BC8213-E688-BB8C-3518-FE790AAE63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886B73-6DF0-72E9-D624-03CBD1187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38D5-84C6-EB23-D553-29060391B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8EE78-D678-DB1A-54E1-FB6CE97AE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71760-AD51-8909-66B3-75BEF84C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2073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6E4FC6-29B4-1C83-4B49-7494C1B04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391DF-18CB-9F26-844E-1789153AD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5C158-1588-C763-9020-CFC29F4EBC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B7D9C-A3FB-4C4C-AE95-809B57867B86}" type="datetimeFigureOut">
              <a:rPr lang="en-AU" smtClean="0"/>
              <a:t>19/09/2026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320B5-1D62-EC3A-B5C2-BEC3052F3E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9B3B8E-E680-1D7E-5050-B5B82FC9B2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C2F819-6852-4071-A1FC-F07BE40F9F0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465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CC8EB6C-7517-B7B1-B1FD-85E7625CADD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AlignPro sample deck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CF7F16E-D68B-3E9B-A0CD-6BBCC05A667F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Each slide says what to try. Nothing here is precious - edit it freely and save over it if you like.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0C603-7B3D-255A-72C4-EA7B21CE26BE}"/>
              </a:ext>
            </a:extLst>
          </p:cNvPr>
          <p:cNvSpPr txBox="1"/>
          <p:nvPr/>
        </p:nvSpPr>
        <p:spPr>
          <a:xfrm>
            <a:off x="762000" y="1651000"/>
            <a:ext cx="10668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500">
                <a:solidFill>
                  <a:srgbClr val="282828"/>
                </a:solidFill>
              </a:rPr>
              <a:t>The AlignPro tab is on the ribbon.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Two dropdowns carry the state the six align buttons are crossed with: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    Reference  -  what to align against: the anchor shape, the selection, the slide, the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slide margins, or the layout's content placeholder.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    Measure    -  which rectangle to align: the shape frame (what PowerPoint itself uses,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which ignores rotation), the visual bounds (what you actually see), or</a:t>
            </a:r>
          </a:p>
          <a:p>
            <a:r>
              <a:rPr lang="en-AU" sz="1500">
                <a:solidFill>
                  <a:srgbClr val="282828"/>
                </a:solidFill>
              </a:rPr>
              <a:t>                  the text inside.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Undo is PowerPoint's own - Ctrl+Z, the ribbon button and the Quick Access Toolbar all</a:t>
            </a:r>
          </a:p>
          <a:p>
            <a:r>
              <a:rPr lang="en-AU" sz="1500">
                <a:solidFill>
                  <a:srgbClr val="282828"/>
                </a:solidFill>
              </a:rPr>
              <a:t>reverse exactly one AlignPro command.</a:t>
            </a:r>
          </a:p>
          <a:p>
            <a:endParaRPr lang="en-AU" sz="1500">
              <a:solidFill>
                <a:srgbClr val="282828"/>
              </a:solidFill>
            </a:endParaRPr>
          </a:p>
          <a:p>
            <a:r>
              <a:rPr lang="en-AU" sz="1500">
                <a:solidFill>
                  <a:srgbClr val="282828"/>
                </a:solidFill>
              </a:rPr>
              <a:t>Slide 2 is the one to try first. It is the reason this add-in exists.</a:t>
            </a:r>
          </a:p>
        </p:txBody>
      </p:sp>
    </p:spTree>
    <p:extLst>
      <p:ext uri="{BB962C8B-B14F-4D97-AF65-F5344CB8AC3E}">
        <p14:creationId xmlns:p14="http://schemas.microsoft.com/office/powerpoint/2010/main" val="2988810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6348EAE4-B3A0-B055-4890-2C2F40D64218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Rotation: the case PowerPoint gets wrong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0CDC5FC8-92DF-50A6-FF62-F7FA5E7C0970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four. Align &gt; Left with Measure = Shape frame, undo, then again with Measure = Visual bounds.</a:t>
            </a:r>
          </a:p>
        </p:txBody>
      </p:sp>
      <p:sp>
        <p:nvSpPr>
          <p:cNvPr id="4" name="Plain1">
            <a:extLst>
              <a:ext uri="{FF2B5EF4-FFF2-40B4-BE49-F238E27FC236}">
                <a16:creationId xmlns:a16="http://schemas.microsoft.com/office/drawing/2014/main" id="{4C726824-6EBB-3919-5B8D-2D2641EFE7A8}"/>
              </a:ext>
            </a:extLst>
          </p:cNvPr>
          <p:cNvSpPr/>
          <p:nvPr/>
        </p:nvSpPr>
        <p:spPr>
          <a:xfrm>
            <a:off x="1778000" y="1905000"/>
            <a:ext cx="1905000" cy="1016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Plain1</a:t>
            </a:r>
          </a:p>
        </p:txBody>
      </p:sp>
      <p:sp>
        <p:nvSpPr>
          <p:cNvPr id="5" name="Tall">
            <a:extLst>
              <a:ext uri="{FF2B5EF4-FFF2-40B4-BE49-F238E27FC236}">
                <a16:creationId xmlns:a16="http://schemas.microsoft.com/office/drawing/2014/main" id="{9D255819-F2BB-40C7-12C9-7B221C2B2DA8}"/>
              </a:ext>
            </a:extLst>
          </p:cNvPr>
          <p:cNvSpPr/>
          <p:nvPr/>
        </p:nvSpPr>
        <p:spPr>
          <a:xfrm>
            <a:off x="4191000" y="3302000"/>
            <a:ext cx="1143000" cy="1905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Tall</a:t>
            </a:r>
          </a:p>
        </p:txBody>
      </p:sp>
      <p:sp>
        <p:nvSpPr>
          <p:cNvPr id="6" name="Rotated">
            <a:extLst>
              <a:ext uri="{FF2B5EF4-FFF2-40B4-BE49-F238E27FC236}">
                <a16:creationId xmlns:a16="http://schemas.microsoft.com/office/drawing/2014/main" id="{645BA143-95DB-F180-0E78-EFC6DEAAF798}"/>
              </a:ext>
            </a:extLst>
          </p:cNvPr>
          <p:cNvSpPr/>
          <p:nvPr/>
        </p:nvSpPr>
        <p:spPr>
          <a:xfrm rot="1800000">
            <a:off x="6604000" y="2032000"/>
            <a:ext cx="2286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Rotated 30</a:t>
            </a:r>
          </a:p>
        </p:txBody>
      </p:sp>
      <p:sp>
        <p:nvSpPr>
          <p:cNvPr id="7" name="Plain2">
            <a:extLst>
              <a:ext uri="{FF2B5EF4-FFF2-40B4-BE49-F238E27FC236}">
                <a16:creationId xmlns:a16="http://schemas.microsoft.com/office/drawing/2014/main" id="{566857FB-B75A-BE4B-E3C3-9BCEDBF9980E}"/>
              </a:ext>
            </a:extLst>
          </p:cNvPr>
          <p:cNvSpPr/>
          <p:nvPr/>
        </p:nvSpPr>
        <p:spPr>
          <a:xfrm>
            <a:off x="9398000" y="4191000"/>
            <a:ext cx="1651000" cy="889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94965C-D977-8D10-40BC-C49D95B550BD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 frame mode the rotated shape looks wrong, because PowerPoint aligns an unrotated rectangle it never draws. Visual bounds fixes it.</a:t>
            </a:r>
          </a:p>
        </p:txBody>
      </p:sp>
    </p:spTree>
    <p:extLst>
      <p:ext uri="{BB962C8B-B14F-4D97-AF65-F5344CB8AC3E}">
        <p14:creationId xmlns:p14="http://schemas.microsoft.com/office/powerpoint/2010/main" val="3318359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54524FCF-DD5F-366A-CBBF-EFF40785A79B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an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756C6ED0-C99E-E867-0F5F-DCF18883DF73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Set Reference = Anchor. Select the three small shapes, then Ctrl+click BIG ANCHOR last, and Align &gt; Left.</a:t>
            </a:r>
          </a:p>
        </p:txBody>
      </p:sp>
      <p:sp>
        <p:nvSpPr>
          <p:cNvPr id="4" name="Small1">
            <a:extLst>
              <a:ext uri="{FF2B5EF4-FFF2-40B4-BE49-F238E27FC236}">
                <a16:creationId xmlns:a16="http://schemas.microsoft.com/office/drawing/2014/main" id="{4CE54208-2F43-1C65-AAA6-514D80550F96}"/>
              </a:ext>
            </a:extLst>
          </p:cNvPr>
          <p:cNvSpPr/>
          <p:nvPr/>
        </p:nvSpPr>
        <p:spPr>
          <a:xfrm>
            <a:off x="1524000" y="2159000"/>
            <a:ext cx="1397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Small1</a:t>
            </a:r>
          </a:p>
        </p:txBody>
      </p:sp>
      <p:sp>
        <p:nvSpPr>
          <p:cNvPr id="5" name="Small2">
            <a:extLst>
              <a:ext uri="{FF2B5EF4-FFF2-40B4-BE49-F238E27FC236}">
                <a16:creationId xmlns:a16="http://schemas.microsoft.com/office/drawing/2014/main" id="{269F6027-5B03-928C-7806-CB7E5D0C7AC8}"/>
              </a:ext>
            </a:extLst>
          </p:cNvPr>
          <p:cNvSpPr/>
          <p:nvPr/>
        </p:nvSpPr>
        <p:spPr>
          <a:xfrm>
            <a:off x="3175000" y="3302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Small2</a:t>
            </a:r>
          </a:p>
        </p:txBody>
      </p:sp>
      <p:sp>
        <p:nvSpPr>
          <p:cNvPr id="6" name="Small3">
            <a:extLst>
              <a:ext uri="{FF2B5EF4-FFF2-40B4-BE49-F238E27FC236}">
                <a16:creationId xmlns:a16="http://schemas.microsoft.com/office/drawing/2014/main" id="{41917ECA-4EC0-8ECC-E0FE-89D839F84E9A}"/>
              </a:ext>
            </a:extLst>
          </p:cNvPr>
          <p:cNvSpPr/>
          <p:nvPr/>
        </p:nvSpPr>
        <p:spPr>
          <a:xfrm>
            <a:off x="2286000" y="4445000"/>
            <a:ext cx="1397000" cy="762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Small3</a:t>
            </a:r>
          </a:p>
        </p:txBody>
      </p:sp>
      <p:sp>
        <p:nvSpPr>
          <p:cNvPr id="7" name="Anchor">
            <a:extLst>
              <a:ext uri="{FF2B5EF4-FFF2-40B4-BE49-F238E27FC236}">
                <a16:creationId xmlns:a16="http://schemas.microsoft.com/office/drawing/2014/main" id="{36165149-C334-C920-227E-5F6EBA3872A4}"/>
              </a:ext>
            </a:extLst>
          </p:cNvPr>
          <p:cNvSpPr/>
          <p:nvPr/>
        </p:nvSpPr>
        <p:spPr>
          <a:xfrm>
            <a:off x="7112000" y="2540000"/>
            <a:ext cx="3556000" cy="2540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BIG ANCHOR</a:t>
            </a:r>
          </a:p>
        </p:txBody>
      </p:sp>
    </p:spTree>
    <p:extLst>
      <p:ext uri="{BB962C8B-B14F-4D97-AF65-F5344CB8AC3E}">
        <p14:creationId xmlns:p14="http://schemas.microsoft.com/office/powerpoint/2010/main" val="3039244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25DD4E5B-2E1A-8F2F-8696-3F7371C2F868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Distribute: four modes, four answers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C80A7FC2-8B7B-A4A6-099A-EBD97296CE4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five. Try Distribute &gt; Horizontally with each Space by setting. Widths differ, so all four differ.</a:t>
            </a:r>
          </a:p>
        </p:txBody>
      </p:sp>
      <p:sp>
        <p:nvSpPr>
          <p:cNvPr id="4" name="W200">
            <a:extLst>
              <a:ext uri="{FF2B5EF4-FFF2-40B4-BE49-F238E27FC236}">
                <a16:creationId xmlns:a16="http://schemas.microsoft.com/office/drawing/2014/main" id="{A1F1DF5C-9B9C-ADAC-0863-D4EA1441C3C9}"/>
              </a:ext>
            </a:extLst>
          </p:cNvPr>
          <p:cNvSpPr/>
          <p:nvPr/>
        </p:nvSpPr>
        <p:spPr>
          <a:xfrm>
            <a:off x="635000" y="3175000"/>
            <a:ext cx="2540000" cy="1143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5" name="W60">
            <a:extLst>
              <a:ext uri="{FF2B5EF4-FFF2-40B4-BE49-F238E27FC236}">
                <a16:creationId xmlns:a16="http://schemas.microsoft.com/office/drawing/2014/main" id="{ABC4E4C9-F90B-28B4-C5CC-3C1240A6EDAE}"/>
              </a:ext>
            </a:extLst>
          </p:cNvPr>
          <p:cNvSpPr/>
          <p:nvPr/>
        </p:nvSpPr>
        <p:spPr>
          <a:xfrm>
            <a:off x="3810000" y="3175000"/>
            <a:ext cx="762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6" name="W120">
            <a:extLst>
              <a:ext uri="{FF2B5EF4-FFF2-40B4-BE49-F238E27FC236}">
                <a16:creationId xmlns:a16="http://schemas.microsoft.com/office/drawing/2014/main" id="{1A659DBB-7D0A-6C9F-DC57-C2168C325679}"/>
              </a:ext>
            </a:extLst>
          </p:cNvPr>
          <p:cNvSpPr/>
          <p:nvPr/>
        </p:nvSpPr>
        <p:spPr>
          <a:xfrm>
            <a:off x="5334000" y="3175000"/>
            <a:ext cx="1524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7" name="W40">
            <a:extLst>
              <a:ext uri="{FF2B5EF4-FFF2-40B4-BE49-F238E27FC236}">
                <a16:creationId xmlns:a16="http://schemas.microsoft.com/office/drawing/2014/main" id="{1A6BBD3E-F95C-75F7-CF9F-94E06FCD7D2F}"/>
              </a:ext>
            </a:extLst>
          </p:cNvPr>
          <p:cNvSpPr/>
          <p:nvPr/>
        </p:nvSpPr>
        <p:spPr>
          <a:xfrm>
            <a:off x="7874000" y="3175000"/>
            <a:ext cx="508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8" name="W150">
            <a:extLst>
              <a:ext uri="{FF2B5EF4-FFF2-40B4-BE49-F238E27FC236}">
                <a16:creationId xmlns:a16="http://schemas.microsoft.com/office/drawing/2014/main" id="{54DE68D9-B3E9-1E6E-A2FE-BAFD96716B7A}"/>
              </a:ext>
            </a:extLst>
          </p:cNvPr>
          <p:cNvSpPr/>
          <p:nvPr/>
        </p:nvSpPr>
        <p:spPr>
          <a:xfrm>
            <a:off x="9652000" y="3175000"/>
            <a:ext cx="1905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FF2FED-F4DF-7E59-EB47-5B79F79AEEEB}"/>
              </a:ext>
            </a:extLst>
          </p:cNvPr>
          <p:cNvSpPr txBox="1"/>
          <p:nvPr/>
        </p:nvSpPr>
        <p:spPr>
          <a:xfrm>
            <a:off x="508000" y="4826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Leading edges lines up the left edges at an even pitch. Centres evens the centres. Trailing edges evens the right edges. Space between evens the visible gaps - the only one of the four that does.</a:t>
            </a:r>
          </a:p>
        </p:txBody>
      </p:sp>
    </p:spTree>
    <p:extLst>
      <p:ext uri="{BB962C8B-B14F-4D97-AF65-F5344CB8AC3E}">
        <p14:creationId xmlns:p14="http://schemas.microsoft.com/office/powerpoint/2010/main" val="1922474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CD169922-A324-02B1-2372-66897523F23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Exact spacing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066AB667-480F-CE31-15FA-94A0977FEB7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four, put 12 in the Exact (pt) box, Space by = Space between, then Distribute &gt; Horizontally.</a:t>
            </a:r>
          </a:p>
        </p:txBody>
      </p:sp>
      <p:sp>
        <p:nvSpPr>
          <p:cNvPr id="4" name="Gap0">
            <a:extLst>
              <a:ext uri="{FF2B5EF4-FFF2-40B4-BE49-F238E27FC236}">
                <a16:creationId xmlns:a16="http://schemas.microsoft.com/office/drawing/2014/main" id="{D4071759-D865-EB3D-9790-AF27780AE7DA}"/>
              </a:ext>
            </a:extLst>
          </p:cNvPr>
          <p:cNvSpPr/>
          <p:nvPr/>
        </p:nvSpPr>
        <p:spPr>
          <a:xfrm>
            <a:off x="1016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5" name="Gap1">
            <a:extLst>
              <a:ext uri="{FF2B5EF4-FFF2-40B4-BE49-F238E27FC236}">
                <a16:creationId xmlns:a16="http://schemas.microsoft.com/office/drawing/2014/main" id="{E60C7305-FC99-ECDD-11EC-2516C3503808}"/>
              </a:ext>
            </a:extLst>
          </p:cNvPr>
          <p:cNvSpPr/>
          <p:nvPr/>
        </p:nvSpPr>
        <p:spPr>
          <a:xfrm>
            <a:off x="3429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6" name="Gap2">
            <a:extLst>
              <a:ext uri="{FF2B5EF4-FFF2-40B4-BE49-F238E27FC236}">
                <a16:creationId xmlns:a16="http://schemas.microsoft.com/office/drawing/2014/main" id="{D9025A85-B03F-AF03-67D9-C4304328D28C}"/>
              </a:ext>
            </a:extLst>
          </p:cNvPr>
          <p:cNvSpPr/>
          <p:nvPr/>
        </p:nvSpPr>
        <p:spPr>
          <a:xfrm>
            <a:off x="5842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7" name="Gap3">
            <a:extLst>
              <a:ext uri="{FF2B5EF4-FFF2-40B4-BE49-F238E27FC236}">
                <a16:creationId xmlns:a16="http://schemas.microsoft.com/office/drawing/2014/main" id="{63B460FD-AFA8-E9D2-02EA-F6340BF0F1B3}"/>
              </a:ext>
            </a:extLst>
          </p:cNvPr>
          <p:cNvSpPr/>
          <p:nvPr/>
        </p:nvSpPr>
        <p:spPr>
          <a:xfrm>
            <a:off x="8255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0C000-FA1D-1AD6-C223-CDB921B690E7}"/>
              </a:ext>
            </a:extLst>
          </p:cNvPr>
          <p:cNvSpPr txBox="1"/>
          <p:nvPr/>
        </p:nvSpPr>
        <p:spPr>
          <a:xfrm>
            <a:off x="508000" y="4826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Clear the box again to go back to evening out whatever space is already there. In the edge and centre modes the number is a pitch, not a gap.</a:t>
            </a:r>
          </a:p>
        </p:txBody>
      </p:sp>
    </p:spTree>
    <p:extLst>
      <p:ext uri="{BB962C8B-B14F-4D97-AF65-F5344CB8AC3E}">
        <p14:creationId xmlns:p14="http://schemas.microsoft.com/office/powerpoint/2010/main" val="4255487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2AD1BF41-5E90-9F52-E3DD-7669F6AD1AC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to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6895378-DF7E-2817-F939-F34273ACA49C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odd shapes, then Ctrl+click TARGET last. Match size &gt; Both. Try the From centre toggle too.</a:t>
            </a:r>
          </a:p>
        </p:txBody>
      </p:sp>
      <p:sp>
        <p:nvSpPr>
          <p:cNvPr id="4" name="Odd1">
            <a:extLst>
              <a:ext uri="{FF2B5EF4-FFF2-40B4-BE49-F238E27FC236}">
                <a16:creationId xmlns:a16="http://schemas.microsoft.com/office/drawing/2014/main" id="{8CD73F17-542F-6941-625A-CEE4428F6621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Odd1</a:t>
            </a:r>
          </a:p>
        </p:txBody>
      </p:sp>
      <p:sp>
        <p:nvSpPr>
          <p:cNvPr id="5" name="Odd2">
            <a:extLst>
              <a:ext uri="{FF2B5EF4-FFF2-40B4-BE49-F238E27FC236}">
                <a16:creationId xmlns:a16="http://schemas.microsoft.com/office/drawing/2014/main" id="{217E60FD-E47F-C1D0-04D7-98E1E499CB5D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Odd2</a:t>
            </a:r>
          </a:p>
        </p:txBody>
      </p:sp>
      <p:sp>
        <p:nvSpPr>
          <p:cNvPr id="6" name="Odd3">
            <a:extLst>
              <a:ext uri="{FF2B5EF4-FFF2-40B4-BE49-F238E27FC236}">
                <a16:creationId xmlns:a16="http://schemas.microsoft.com/office/drawing/2014/main" id="{AA11F170-D016-FF11-4DD0-CEFED0D066C6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Odd3</a:t>
            </a:r>
          </a:p>
        </p:txBody>
      </p:sp>
      <p:sp>
        <p:nvSpPr>
          <p:cNvPr id="7" name="Target">
            <a:extLst>
              <a:ext uri="{FF2B5EF4-FFF2-40B4-BE49-F238E27FC236}">
                <a16:creationId xmlns:a16="http://schemas.microsoft.com/office/drawing/2014/main" id="{9EA67D49-72FF-6BD8-F04E-4B7EF6981EF4}"/>
              </a:ext>
            </a:extLst>
          </p:cNvPr>
          <p:cNvSpPr/>
          <p:nvPr/>
        </p:nvSpPr>
        <p:spPr>
          <a:xfrm>
            <a:off x="7620000" y="2921000"/>
            <a:ext cx="2540000" cy="1524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</p:spTree>
    <p:extLst>
      <p:ext uri="{BB962C8B-B14F-4D97-AF65-F5344CB8AC3E}">
        <p14:creationId xmlns:p14="http://schemas.microsoft.com/office/powerpoint/2010/main" val="3990100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398D14E-A56D-44E7-5A04-CE95696603DA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Order: stack in the order you select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C8EE3608-4CE2-562D-8088-D968301D579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Card 1, Ctrl+click Card 2 then Card 3 to add them, then click Order &gt; Stack. Card 1 ends on top.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CB7CA363-D6E5-9657-5A83-273401D7AFC6}"/>
              </a:ext>
            </a:extLst>
          </p:cNvPr>
          <p:cNvSpPr/>
          <p:nvPr/>
        </p:nvSpPr>
        <p:spPr>
          <a:xfrm>
            <a:off x="1905000" y="2159000"/>
            <a:ext cx="2794000" cy="2159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1</a:t>
            </a:r>
          </a:p>
        </p:txBody>
      </p:sp>
      <p:sp>
        <p:nvSpPr>
          <p:cNvPr id="5" name="BarA">
            <a:extLst>
              <a:ext uri="{FF2B5EF4-FFF2-40B4-BE49-F238E27FC236}">
                <a16:creationId xmlns:a16="http://schemas.microsoft.com/office/drawing/2014/main" id="{F5C760CF-5FD9-1813-0127-B4549E23619B}"/>
              </a:ext>
            </a:extLst>
          </p:cNvPr>
          <p:cNvSpPr/>
          <p:nvPr/>
        </p:nvSpPr>
        <p:spPr>
          <a:xfrm>
            <a:off x="4191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6" name="Card2">
            <a:extLst>
              <a:ext uri="{FF2B5EF4-FFF2-40B4-BE49-F238E27FC236}">
                <a16:creationId xmlns:a16="http://schemas.microsoft.com/office/drawing/2014/main" id="{267FFB33-A492-18CE-ACB9-808BBA01E624}"/>
              </a:ext>
            </a:extLst>
          </p:cNvPr>
          <p:cNvSpPr/>
          <p:nvPr/>
        </p:nvSpPr>
        <p:spPr>
          <a:xfrm>
            <a:off x="4318000" y="2667000"/>
            <a:ext cx="2794000" cy="2159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2</a:t>
            </a:r>
          </a:p>
        </p:txBody>
      </p:sp>
      <p:sp>
        <p:nvSpPr>
          <p:cNvPr id="7" name="BarB">
            <a:extLst>
              <a:ext uri="{FF2B5EF4-FFF2-40B4-BE49-F238E27FC236}">
                <a16:creationId xmlns:a16="http://schemas.microsoft.com/office/drawing/2014/main" id="{E391356F-C6F3-29EE-E143-6A2BD7EED902}"/>
              </a:ext>
            </a:extLst>
          </p:cNvPr>
          <p:cNvSpPr/>
          <p:nvPr/>
        </p:nvSpPr>
        <p:spPr>
          <a:xfrm>
            <a:off x="6604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8" name="Card3">
            <a:extLst>
              <a:ext uri="{FF2B5EF4-FFF2-40B4-BE49-F238E27FC236}">
                <a16:creationId xmlns:a16="http://schemas.microsoft.com/office/drawing/2014/main" id="{CD709D99-51D7-365B-3786-1C3747A64EF5}"/>
              </a:ext>
            </a:extLst>
          </p:cNvPr>
          <p:cNvSpPr/>
          <p:nvPr/>
        </p:nvSpPr>
        <p:spPr>
          <a:xfrm>
            <a:off x="6731000" y="2159000"/>
            <a:ext cx="2794000" cy="215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33EC4-D647-E09F-7F28-EE7258D214C7}"/>
              </a:ext>
            </a:extLst>
          </p:cNvPr>
          <p:cNvSpPr txBox="1"/>
          <p:nvPr/>
        </p:nvSpPr>
        <p:spPr>
          <a:xfrm>
            <a:off x="508000" y="5334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two grey bars are not in the selection, and they must come out on exactly the layers they went in on - one behind Card 2, one behind Card 3. That is the difference from Bring to front, which would drag all three cards over the top of them. Now click Order &gt; Reverse to flip the pile, then select the cards in a different order and click Stack again.</a:t>
            </a:r>
          </a:p>
        </p:txBody>
      </p:sp>
    </p:spTree>
    <p:extLst>
      <p:ext uri="{BB962C8B-B14F-4D97-AF65-F5344CB8AC3E}">
        <p14:creationId xmlns:p14="http://schemas.microsoft.com/office/powerpoint/2010/main" val="2025905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F7B76C2A-6AC0-C443-536C-CDD8D63DE14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with a margin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BB4F1250-DF89-598B-50F2-6AFB942F947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10 in Margin (pt) and set Apply margin = All the same. Select the three shapes, Ctrl+click TARGET last, then click Match size &gt; Both.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37570710-C687-0A46-ACD5-D4C0925D8E6A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B3348D26-AD66-C66B-2643-3A2E091F42BA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9C51DEC2-56FD-4EC7-BF36-73B4CFB0AFF6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MarginTarget">
            <a:extLst>
              <a:ext uri="{FF2B5EF4-FFF2-40B4-BE49-F238E27FC236}">
                <a16:creationId xmlns:a16="http://schemas.microsoft.com/office/drawing/2014/main" id="{007B3F54-FF11-5C61-DDAE-EBAF8977058C}"/>
              </a:ext>
            </a:extLst>
          </p:cNvPr>
          <p:cNvSpPr/>
          <p:nvPr/>
        </p:nvSpPr>
        <p:spPr>
          <a:xfrm>
            <a:off x="7620000" y="2794000"/>
            <a:ext cx="2794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559FD5-D32F-22DA-1D30-439234FB6071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margin is measured per side, so a margin of 10 takes 20 off each dimension and leaves a 10pt border showing all round. Now click AlignPro undo, set Apply margin to Cascade, select the shapes again in the same order and click Match size &gt; Both: the shapes tier along the order you selected in, and the one you selected first ends smallest.</a:t>
            </a:r>
          </a:p>
        </p:txBody>
      </p:sp>
    </p:spTree>
    <p:extLst>
      <p:ext uri="{BB962C8B-B14F-4D97-AF65-F5344CB8AC3E}">
        <p14:creationId xmlns:p14="http://schemas.microsoft.com/office/powerpoint/2010/main" val="2962695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7DD68A99-96E2-663F-417C-8989F25750F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Concentric rings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5E44C0A-0C77-F1C0-62BA-CAF07CC5CF7E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1st, then Ctrl+click 2nd, 3rd, 4th and 5th in turn. Click Align &gt; Centre, then Align &gt; Middle. Type 12 in Margin (pt), set Apply margin = Cascade, switch From centre on, then click Match size &gt; Both. Finish by clicking Order &gt; Stack.</a:t>
            </a:r>
          </a:p>
        </p:txBody>
      </p:sp>
      <p:sp>
        <p:nvSpPr>
          <p:cNvPr id="4" name="Ring1">
            <a:extLst>
              <a:ext uri="{FF2B5EF4-FFF2-40B4-BE49-F238E27FC236}">
                <a16:creationId xmlns:a16="http://schemas.microsoft.com/office/drawing/2014/main" id="{38E6BE97-7491-5ADD-55B3-AAF8F30C265B}"/>
              </a:ext>
            </a:extLst>
          </p:cNvPr>
          <p:cNvSpPr/>
          <p:nvPr/>
        </p:nvSpPr>
        <p:spPr>
          <a:xfrm>
            <a:off x="1143000" y="2286000"/>
            <a:ext cx="1905000" cy="1397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Ring2">
            <a:extLst>
              <a:ext uri="{FF2B5EF4-FFF2-40B4-BE49-F238E27FC236}">
                <a16:creationId xmlns:a16="http://schemas.microsoft.com/office/drawing/2014/main" id="{35DFBC33-8D66-C0CF-C5CF-922D59BE974F}"/>
              </a:ext>
            </a:extLst>
          </p:cNvPr>
          <p:cNvSpPr/>
          <p:nvPr/>
        </p:nvSpPr>
        <p:spPr>
          <a:xfrm>
            <a:off x="3683000" y="3810000"/>
            <a:ext cx="2159000" cy="1524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Ring3">
            <a:extLst>
              <a:ext uri="{FF2B5EF4-FFF2-40B4-BE49-F238E27FC236}">
                <a16:creationId xmlns:a16="http://schemas.microsoft.com/office/drawing/2014/main" id="{FC5AC96C-EE37-57D0-0683-FDD32DD119EB}"/>
              </a:ext>
            </a:extLst>
          </p:cNvPr>
          <p:cNvSpPr/>
          <p:nvPr/>
        </p:nvSpPr>
        <p:spPr>
          <a:xfrm>
            <a:off x="6350000" y="2159000"/>
            <a:ext cx="2032000" cy="1651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Ring4">
            <a:extLst>
              <a:ext uri="{FF2B5EF4-FFF2-40B4-BE49-F238E27FC236}">
                <a16:creationId xmlns:a16="http://schemas.microsoft.com/office/drawing/2014/main" id="{8CD54E30-E5A3-8442-4EB5-9663BF4DF044}"/>
              </a:ext>
            </a:extLst>
          </p:cNvPr>
          <p:cNvSpPr/>
          <p:nvPr/>
        </p:nvSpPr>
        <p:spPr>
          <a:xfrm>
            <a:off x="8890000" y="4064000"/>
            <a:ext cx="2286000" cy="1397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8" name="Ring5">
            <a:extLst>
              <a:ext uri="{FF2B5EF4-FFF2-40B4-BE49-F238E27FC236}">
                <a16:creationId xmlns:a16="http://schemas.microsoft.com/office/drawing/2014/main" id="{7E3888ED-E506-BA90-EBBB-8138F3605A95}"/>
              </a:ext>
            </a:extLst>
          </p:cNvPr>
          <p:cNvSpPr/>
          <p:nvPr/>
        </p:nvSpPr>
        <p:spPr>
          <a:xfrm>
            <a:off x="4826000" y="1905000"/>
            <a:ext cx="2540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7AAE3-93DF-5F44-A5EB-12CD056CE89D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centres and middles stacks them on one point; From centre then holds that point while the cascade tiers the sizes, so the borders come out even. The last step matters: the cascade makes the shape you selected first the smallest, and Order &gt; Stack puts that same shape on top - so the rings are visible instead of hidden inside the largest. Keep the selection between steps and the order carries through all three commands.</a:t>
            </a:r>
          </a:p>
        </p:txBody>
      </p:sp>
    </p:spTree>
    <p:extLst>
      <p:ext uri="{BB962C8B-B14F-4D97-AF65-F5344CB8AC3E}">
        <p14:creationId xmlns:p14="http://schemas.microsoft.com/office/powerpoint/2010/main" val="910029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279AB168-05C6-886E-E499-950E711D536D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Groups are one object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E959B63-63E5-1B92-1DBC-2721A712DC4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Align the group with the loose shapes - its internal spacing must not change. Then try Match size on it.</a:t>
            </a:r>
          </a:p>
        </p:txBody>
      </p:sp>
      <p:grpSp>
        <p:nvGrpSpPr>
          <p:cNvPr id="7" name="TheGroup">
            <a:extLst>
              <a:ext uri="{FF2B5EF4-FFF2-40B4-BE49-F238E27FC236}">
                <a16:creationId xmlns:a16="http://schemas.microsoft.com/office/drawing/2014/main" id="{8640AA1C-838F-784F-637C-41FAF2DC4FD5}"/>
              </a:ext>
            </a:extLst>
          </p:cNvPr>
          <p:cNvGrpSpPr/>
          <p:nvPr/>
        </p:nvGrpSpPr>
        <p:grpSpPr>
          <a:xfrm>
            <a:off x="1397000" y="2540000"/>
            <a:ext cx="4191000" cy="889000"/>
            <a:chOff x="1397000" y="2540000"/>
            <a:chExt cx="4191000" cy="889000"/>
          </a:xfrm>
        </p:grpSpPr>
        <p:sp>
          <p:nvSpPr>
            <p:cNvPr id="4" name="G1">
              <a:extLst>
                <a:ext uri="{FF2B5EF4-FFF2-40B4-BE49-F238E27FC236}">
                  <a16:creationId xmlns:a16="http://schemas.microsoft.com/office/drawing/2014/main" id="{56B4D97C-1216-F4D6-8D43-71A9D9CA76C5}"/>
                </a:ext>
              </a:extLst>
            </p:cNvPr>
            <p:cNvSpPr/>
            <p:nvPr/>
          </p:nvSpPr>
          <p:spPr>
            <a:xfrm>
              <a:off x="1397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G1</a:t>
              </a:r>
            </a:p>
          </p:txBody>
        </p:sp>
        <p:sp>
          <p:nvSpPr>
            <p:cNvPr id="5" name="G2">
              <a:extLst>
                <a:ext uri="{FF2B5EF4-FFF2-40B4-BE49-F238E27FC236}">
                  <a16:creationId xmlns:a16="http://schemas.microsoft.com/office/drawing/2014/main" id="{390878C7-9B77-C086-5B25-4F9A640BC455}"/>
                </a:ext>
              </a:extLst>
            </p:cNvPr>
            <p:cNvSpPr/>
            <p:nvPr/>
          </p:nvSpPr>
          <p:spPr>
            <a:xfrm>
              <a:off x="2921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G2</a:t>
              </a:r>
            </a:p>
          </p:txBody>
        </p:sp>
        <p:sp>
          <p:nvSpPr>
            <p:cNvPr id="6" name="G3">
              <a:extLst>
                <a:ext uri="{FF2B5EF4-FFF2-40B4-BE49-F238E27FC236}">
                  <a16:creationId xmlns:a16="http://schemas.microsoft.com/office/drawing/2014/main" id="{5058CCFD-1B9D-5000-63E8-570FF6A1F26B}"/>
                </a:ext>
              </a:extLst>
            </p:cNvPr>
            <p:cNvSpPr/>
            <p:nvPr/>
          </p:nvSpPr>
          <p:spPr>
            <a:xfrm>
              <a:off x="4445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G3</a:t>
              </a:r>
            </a:p>
          </p:txBody>
        </p:sp>
      </p:grpSp>
      <p:sp>
        <p:nvSpPr>
          <p:cNvPr id="8" name="Loose1">
            <a:extLst>
              <a:ext uri="{FF2B5EF4-FFF2-40B4-BE49-F238E27FC236}">
                <a16:creationId xmlns:a16="http://schemas.microsoft.com/office/drawing/2014/main" id="{B2ADC08E-8403-9AC2-7C0D-DCFC1FB7C77F}"/>
              </a:ext>
            </a:extLst>
          </p:cNvPr>
          <p:cNvSpPr/>
          <p:nvPr/>
        </p:nvSpPr>
        <p:spPr>
          <a:xfrm>
            <a:off x="7620000" y="3810000"/>
            <a:ext cx="1905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Loose1</a:t>
            </a:r>
          </a:p>
        </p:txBody>
      </p:sp>
      <p:sp>
        <p:nvSpPr>
          <p:cNvPr id="9" name="Loose2">
            <a:extLst>
              <a:ext uri="{FF2B5EF4-FFF2-40B4-BE49-F238E27FC236}">
                <a16:creationId xmlns:a16="http://schemas.microsoft.com/office/drawing/2014/main" id="{54A2369F-9494-87EF-730B-4B214D97ECA9}"/>
              </a:ext>
            </a:extLst>
          </p:cNvPr>
          <p:cNvSpPr/>
          <p:nvPr/>
        </p:nvSpPr>
        <p:spPr>
          <a:xfrm>
            <a:off x="10033000" y="4953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CD203A-1B27-AEDA-BDE2-9F416038850B}"/>
              </a:ext>
            </a:extLst>
          </p:cNvPr>
          <p:cNvSpPr txBox="1"/>
          <p:nvPr/>
        </p:nvSpPr>
        <p:spPr>
          <a:xfrm>
            <a:off x="508000" y="5842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Match size refuses groups on purpose: scaling a group scales the gaps between its children, which silently distorts a diagram. AlignPro tells you rather than doing it.</a:t>
            </a:r>
          </a:p>
        </p:txBody>
      </p:sp>
    </p:spTree>
    <p:extLst>
      <p:ext uri="{BB962C8B-B14F-4D97-AF65-F5344CB8AC3E}">
        <p14:creationId xmlns:p14="http://schemas.microsoft.com/office/powerpoint/2010/main" val="421069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2353DFA9-0094-7BF4-D102-E4776874E12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the text, not the box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FF582D62-58F9-F1CD-52C5-FC3AE3E9204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All three frames already start at the same x. Select them and Align &gt; Left with Measure = Text bounds.</a:t>
            </a:r>
          </a:p>
        </p:txBody>
      </p:sp>
      <p:sp>
        <p:nvSpPr>
          <p:cNvPr id="4" name="Text0">
            <a:extLst>
              <a:ext uri="{FF2B5EF4-FFF2-40B4-BE49-F238E27FC236}">
                <a16:creationId xmlns:a16="http://schemas.microsoft.com/office/drawing/2014/main" id="{6C764BB3-18C0-41D5-48FE-B1A63B5487C1}"/>
              </a:ext>
            </a:extLst>
          </p:cNvPr>
          <p:cNvSpPr/>
          <p:nvPr/>
        </p:nvSpPr>
        <p:spPr>
          <a:xfrm>
            <a:off x="3175000" y="2159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1600">
                <a:solidFill>
                  <a:srgbClr val="282828"/>
                </a:solidFill>
              </a:rPr>
              <a:t>left-aligned text</a:t>
            </a:r>
          </a:p>
        </p:txBody>
      </p:sp>
      <p:sp>
        <p:nvSpPr>
          <p:cNvPr id="5" name="Text1">
            <a:extLst>
              <a:ext uri="{FF2B5EF4-FFF2-40B4-BE49-F238E27FC236}">
                <a16:creationId xmlns:a16="http://schemas.microsoft.com/office/drawing/2014/main" id="{1F0CD042-947F-06DB-7AE2-F8F193AC58F7}"/>
              </a:ext>
            </a:extLst>
          </p:cNvPr>
          <p:cNvSpPr/>
          <p:nvPr/>
        </p:nvSpPr>
        <p:spPr>
          <a:xfrm>
            <a:off x="3175000" y="3302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>
                <a:solidFill>
                  <a:srgbClr val="282828"/>
                </a:solidFill>
              </a:rPr>
              <a:t>centred text</a:t>
            </a:r>
          </a:p>
        </p:txBody>
      </p:sp>
      <p:sp>
        <p:nvSpPr>
          <p:cNvPr id="6" name="Text2">
            <a:extLst>
              <a:ext uri="{FF2B5EF4-FFF2-40B4-BE49-F238E27FC236}">
                <a16:creationId xmlns:a16="http://schemas.microsoft.com/office/drawing/2014/main" id="{63AB5179-6C5E-A471-ECF1-5AE9A096127F}"/>
              </a:ext>
            </a:extLst>
          </p:cNvPr>
          <p:cNvSpPr/>
          <p:nvPr/>
        </p:nvSpPr>
        <p:spPr>
          <a:xfrm>
            <a:off x="3175000" y="4445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AU" sz="1600">
                <a:solidFill>
                  <a:srgbClr val="282828"/>
                </a:solidFill>
              </a:rPr>
              <a:t>right-aligned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05549-5AFA-90D9-6795-2C8C915DD4C7}"/>
              </a:ext>
            </a:extLst>
          </p:cNvPr>
          <p:cNvSpPr txBox="1"/>
          <p:nvPr/>
        </p:nvSpPr>
        <p:spPr>
          <a:xfrm>
            <a:off x="508000" y="5715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frames are identical, so frame mode does nothing. Text bounds moves each box so the text itself lines up.</a:t>
            </a:r>
          </a:p>
        </p:txBody>
      </p:sp>
    </p:spTree>
    <p:extLst>
      <p:ext uri="{BB962C8B-B14F-4D97-AF65-F5344CB8AC3E}">
        <p14:creationId xmlns:p14="http://schemas.microsoft.com/office/powerpoint/2010/main" val="152143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6C228787-3C14-F8C4-6FFB-FF88D2DEE0D1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Tidy a scatter into a grid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C727660-1527-5D69-D5D4-60B4A7BBC6B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nine circles. Leave Columns blank for a near-square grid, or type 3. Then Arrange &gt; Grid.</a:t>
            </a:r>
          </a:p>
        </p:txBody>
      </p:sp>
      <p:sp>
        <p:nvSpPr>
          <p:cNvPr id="4" name="Dot0">
            <a:extLst>
              <a:ext uri="{FF2B5EF4-FFF2-40B4-BE49-F238E27FC236}">
                <a16:creationId xmlns:a16="http://schemas.microsoft.com/office/drawing/2014/main" id="{A501D444-817E-813D-7A29-7E74E5AA4495}"/>
              </a:ext>
            </a:extLst>
          </p:cNvPr>
          <p:cNvSpPr/>
          <p:nvPr/>
        </p:nvSpPr>
        <p:spPr>
          <a:xfrm>
            <a:off x="1524000" y="1905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Dot1">
            <a:extLst>
              <a:ext uri="{FF2B5EF4-FFF2-40B4-BE49-F238E27FC236}">
                <a16:creationId xmlns:a16="http://schemas.microsoft.com/office/drawing/2014/main" id="{F8A15C59-81E5-D6E6-4A90-33EC6CC76C6A}"/>
              </a:ext>
            </a:extLst>
          </p:cNvPr>
          <p:cNvSpPr/>
          <p:nvPr/>
        </p:nvSpPr>
        <p:spPr>
          <a:xfrm>
            <a:off x="5461000" y="2413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Dot2">
            <a:extLst>
              <a:ext uri="{FF2B5EF4-FFF2-40B4-BE49-F238E27FC236}">
                <a16:creationId xmlns:a16="http://schemas.microsoft.com/office/drawing/2014/main" id="{1A52271A-758E-6EA0-3C9D-CF391F6B4F3E}"/>
              </a:ext>
            </a:extLst>
          </p:cNvPr>
          <p:cNvSpPr/>
          <p:nvPr/>
        </p:nvSpPr>
        <p:spPr>
          <a:xfrm>
            <a:off x="9652000" y="1778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Dot3">
            <a:extLst>
              <a:ext uri="{FF2B5EF4-FFF2-40B4-BE49-F238E27FC236}">
                <a16:creationId xmlns:a16="http://schemas.microsoft.com/office/drawing/2014/main" id="{FB8A0257-AE54-A90D-02A4-494B59971A09}"/>
              </a:ext>
            </a:extLst>
          </p:cNvPr>
          <p:cNvSpPr/>
          <p:nvPr/>
        </p:nvSpPr>
        <p:spPr>
          <a:xfrm>
            <a:off x="2413000" y="381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Dot4">
            <a:extLst>
              <a:ext uri="{FF2B5EF4-FFF2-40B4-BE49-F238E27FC236}">
                <a16:creationId xmlns:a16="http://schemas.microsoft.com/office/drawing/2014/main" id="{5B7D2F8C-161C-1157-9EE6-D2727229C073}"/>
              </a:ext>
            </a:extLst>
          </p:cNvPr>
          <p:cNvSpPr/>
          <p:nvPr/>
        </p:nvSpPr>
        <p:spPr>
          <a:xfrm>
            <a:off x="6604000" y="3302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Dot5">
            <a:extLst>
              <a:ext uri="{FF2B5EF4-FFF2-40B4-BE49-F238E27FC236}">
                <a16:creationId xmlns:a16="http://schemas.microsoft.com/office/drawing/2014/main" id="{5B84C30B-957A-2EE4-B111-A904296D6FA4}"/>
              </a:ext>
            </a:extLst>
          </p:cNvPr>
          <p:cNvSpPr/>
          <p:nvPr/>
        </p:nvSpPr>
        <p:spPr>
          <a:xfrm>
            <a:off x="8763000" y="419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0" name="Dot6">
            <a:extLst>
              <a:ext uri="{FF2B5EF4-FFF2-40B4-BE49-F238E27FC236}">
                <a16:creationId xmlns:a16="http://schemas.microsoft.com/office/drawing/2014/main" id="{77A0E91B-8BE8-3712-0799-8595A7366F8B}"/>
              </a:ext>
            </a:extLst>
          </p:cNvPr>
          <p:cNvSpPr/>
          <p:nvPr/>
        </p:nvSpPr>
        <p:spPr>
          <a:xfrm>
            <a:off x="1397000" y="5334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" name="Dot7">
            <a:extLst>
              <a:ext uri="{FF2B5EF4-FFF2-40B4-BE49-F238E27FC236}">
                <a16:creationId xmlns:a16="http://schemas.microsoft.com/office/drawing/2014/main" id="{9AE010EC-AEBE-264E-A450-B42B86591568}"/>
              </a:ext>
            </a:extLst>
          </p:cNvPr>
          <p:cNvSpPr/>
          <p:nvPr/>
        </p:nvSpPr>
        <p:spPr>
          <a:xfrm>
            <a:off x="5080000" y="508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Dot8">
            <a:extLst>
              <a:ext uri="{FF2B5EF4-FFF2-40B4-BE49-F238E27FC236}">
                <a16:creationId xmlns:a16="http://schemas.microsoft.com/office/drawing/2014/main" id="{7DA655BC-C6C5-55F4-CEDF-0CEE559A4B90}"/>
              </a:ext>
            </a:extLst>
          </p:cNvPr>
          <p:cNvSpPr/>
          <p:nvPr/>
        </p:nvSpPr>
        <p:spPr>
          <a:xfrm>
            <a:off x="10160000" y="546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C1231-9E17-0D24-BDE5-098C5D7FF3C8}"/>
              </a:ext>
            </a:extLst>
          </p:cNvPr>
          <p:cNvSpPr txBox="1"/>
          <p:nvPr/>
        </p:nvSpPr>
        <p:spPr>
          <a:xfrm>
            <a:off x="508000" y="6350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Grid only repositions - sizes are left alone, so it is safe on groups too. Set Reference = Slide to spread across the whole slide.</a:t>
            </a:r>
          </a:p>
        </p:txBody>
      </p:sp>
    </p:spTree>
    <p:extLst>
      <p:ext uri="{BB962C8B-B14F-4D97-AF65-F5344CB8AC3E}">
        <p14:creationId xmlns:p14="http://schemas.microsoft.com/office/powerpoint/2010/main" val="3963424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BBBA7EFF-B211-2A26-F6BF-ED5256B3DD0B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the slide, or to its margins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703D8E30-8FEA-39CE-9822-BFBFD5485F7F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one shape. Reference = Slide then Align &gt; Centre. Then Reference = Slide margins with Margin = 36.</a:t>
            </a:r>
          </a:p>
        </p:txBody>
      </p:sp>
      <p:sp>
        <p:nvSpPr>
          <p:cNvPr id="4" name="Wanderer">
            <a:extLst>
              <a:ext uri="{FF2B5EF4-FFF2-40B4-BE49-F238E27FC236}">
                <a16:creationId xmlns:a16="http://schemas.microsoft.com/office/drawing/2014/main" id="{84E59930-CE30-B3A4-A6D6-ABFE12E96674}"/>
              </a:ext>
            </a:extLst>
          </p:cNvPr>
          <p:cNvSpPr/>
          <p:nvPr/>
        </p:nvSpPr>
        <p:spPr>
          <a:xfrm>
            <a:off x="1905000" y="2540000"/>
            <a:ext cx="2794000" cy="1524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Move me</a:t>
            </a:r>
          </a:p>
        </p:txBody>
      </p:sp>
      <p:sp>
        <p:nvSpPr>
          <p:cNvPr id="5" name="Friend">
            <a:extLst>
              <a:ext uri="{FF2B5EF4-FFF2-40B4-BE49-F238E27FC236}">
                <a16:creationId xmlns:a16="http://schemas.microsoft.com/office/drawing/2014/main" id="{86240B2C-4773-9E59-41CD-F8F03C0F9B1C}"/>
              </a:ext>
            </a:extLst>
          </p:cNvPr>
          <p:cNvSpPr/>
          <p:nvPr/>
        </p:nvSpPr>
        <p:spPr>
          <a:xfrm>
            <a:off x="7874000" y="4318000"/>
            <a:ext cx="2032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Friend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8118B5-704A-89E0-8193-BB7DCFC18EEC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a single shape to the selection is meaningless, so AlignPro refuses it and says why. Against the slide it is perfectly meaningful, so it works.</a:t>
            </a:r>
          </a:p>
        </p:txBody>
      </p:sp>
    </p:spTree>
    <p:extLst>
      <p:ext uri="{BB962C8B-B14F-4D97-AF65-F5344CB8AC3E}">
        <p14:creationId xmlns:p14="http://schemas.microsoft.com/office/powerpoint/2010/main" val="1041924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1053</Words>
  <Application>Microsoft Office PowerPoint</Application>
  <PresentationFormat>Widescreen</PresentationFormat>
  <Paragraphs>103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Renoden</dc:creator>
  <cp:lastModifiedBy>Mark Renoden</cp:lastModifiedBy>
  <cp:revision>1</cp:revision>
  <dcterms:created xsi:type="dcterms:W3CDTF">2026-09-19T01:02:55Z</dcterms:created>
  <dcterms:modified xsi:type="dcterms:W3CDTF">2026-09-19T01:02:55Z</dcterms:modified>
</cp:coreProperties>
</file>