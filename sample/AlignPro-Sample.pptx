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9" d="100"/>
          <a:sy n="149" d="100"/>
        </p:scale>
        <p:origin x="64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B18FA-FBF0-4FE4-B1B3-DC92214013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606DEC-87F8-0CDA-8001-DF4AF3E77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FC4826-70A9-39D0-CA7A-82FEB91C6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718B5-E111-48C2-9805-526994096C52}" type="datetimeFigureOut">
              <a:rPr lang="en-AU" smtClean="0"/>
              <a:t>8/10/2026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B6EE46-6F88-9415-B094-9B896AF79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47F2E-E72B-2D28-5DD0-BAF1002C1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FF70B-5DE2-4471-8296-B0BE239360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14791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856F0-DE96-DF33-3AB6-6BAC9FF61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C1325A-7400-F57A-5895-B4ACEE257D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8C71A-3B7B-78E8-80A6-77BFB0314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718B5-E111-48C2-9805-526994096C52}" type="datetimeFigureOut">
              <a:rPr lang="en-AU" smtClean="0"/>
              <a:t>8/10/2026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EACC8-85C4-482E-195B-3530D54F9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C68366-F366-E9DA-9386-5336E9C0F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FF70B-5DE2-4471-8296-B0BE239360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41887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7DE10-D1C1-DBC6-9BA3-1372D88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07035E-5915-14F0-4EEB-1293FC9173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DCDD8B-F461-78D9-FDA8-A976702DE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718B5-E111-48C2-9805-526994096C52}" type="datetimeFigureOut">
              <a:rPr lang="en-AU" smtClean="0"/>
              <a:t>8/10/2026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9918F-19C8-E8AF-3653-4279EB7B9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8BB6C0-4324-AAE5-C8BB-69F83197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FF70B-5DE2-4471-8296-B0BE239360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45866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B1FF1-62D2-21B9-5805-10393C8D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4A53C-5769-9736-D470-AF89240D99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655837-C458-D2E1-6769-077160D957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E6140-8340-2641-1868-FFEB5171C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718B5-E111-48C2-9805-526994096C52}" type="datetimeFigureOut">
              <a:rPr lang="en-AU" smtClean="0"/>
              <a:t>8/10/2026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9B237B-E67D-A9E6-4411-EBAEFC693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A64262-A20E-6468-EA1D-27A13948C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FF70B-5DE2-4471-8296-B0BE239360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757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2D745-A3A5-D050-DC6A-E1508296C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0BCC43-7BE9-9F21-1E09-008BF3F03F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C8AAE0-915B-8564-857A-15748DC8BC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22CFFA-FA28-9033-75B6-55C1DBD818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E1D608-347A-1A12-ECFB-BFB87E122A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9464242-E1D8-0594-ADCD-7350F3E93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718B5-E111-48C2-9805-526994096C52}" type="datetimeFigureOut">
              <a:rPr lang="en-AU" smtClean="0"/>
              <a:t>8/10/2026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FC1597D-4B7E-0BFF-7DAA-0B1C4EDC8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0BCE65-4A9A-EA39-D963-01D2E6B1A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FF70B-5DE2-4471-8296-B0BE239360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785216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B6A78-FBFC-3964-97E1-B6C813126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918EC0-B444-1B5F-67C1-08A1887DB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718B5-E111-48C2-9805-526994096C52}" type="datetimeFigureOut">
              <a:rPr lang="en-AU" smtClean="0"/>
              <a:t>8/10/2026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51512-D938-C2C5-5D49-4A1D39DDA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1954BA-1F79-ED3D-9DE0-692D78225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FF70B-5DE2-4471-8296-B0BE239360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62610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C1E429-6087-A270-ABEA-013EC93EA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718B5-E111-48C2-9805-526994096C52}" type="datetimeFigureOut">
              <a:rPr lang="en-AU" smtClean="0"/>
              <a:t>8/10/2026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4A65D8-C57D-DC0F-2B45-3D3F7879F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4D6AE3-9027-74A4-419D-E716BB4D2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FF70B-5DE2-4471-8296-B0BE239360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967246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ECB78-E052-BC2F-4929-94451D35A9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EAA6AE-BA5A-6E7A-9DBD-6B9FF15705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89FD72-93C4-C2B3-1B82-CA4F36CD56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EEA89F-871B-F4D8-DF44-52F604479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718B5-E111-48C2-9805-526994096C52}" type="datetimeFigureOut">
              <a:rPr lang="en-AU" smtClean="0"/>
              <a:t>8/10/2026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8F771C-51A9-2779-4E0A-D5EDE3CE7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33A494-B710-8474-CD6A-9679751CE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FF70B-5DE2-4471-8296-B0BE239360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83296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8CC3C-A4AB-06C9-EFA0-231A88B82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D6592D-97C1-114D-A31E-93D954351B3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88FA7B-E046-157C-A07E-B0CC1029B1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4384C2-A0E5-D162-A2F1-5E2D2C50B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718B5-E111-48C2-9805-526994096C52}" type="datetimeFigureOut">
              <a:rPr lang="en-AU" smtClean="0"/>
              <a:t>8/10/2026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1EA3DD-2AB2-1856-4EFE-FEEBAF010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A11A1E-D368-6D5E-1268-FB1FAABCF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FF70B-5DE2-4471-8296-B0BE239360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76233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DD4C6-8589-DDBF-F577-95A92C932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7DDC66-6FE3-BED2-B0BA-7128FF94A7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E6A66F-FA1D-81BD-8044-CF39F7A0A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718B5-E111-48C2-9805-526994096C52}" type="datetimeFigureOut">
              <a:rPr lang="en-AU" smtClean="0"/>
              <a:t>8/10/2026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DF345E-E92A-6AAA-FCF2-97A0A53EE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DA98D0-8F00-FA6E-BD26-C9BF12637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FF70B-5DE2-4471-8296-B0BE239360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192492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2576B2-B30C-E4F5-03BD-FC80C8A4B3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65834C-DF52-6092-73D5-91648D5448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33F456-AECC-034F-FA5A-F68E5F9EC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718B5-E111-48C2-9805-526994096C52}" type="datetimeFigureOut">
              <a:rPr lang="en-AU" smtClean="0"/>
              <a:t>8/10/2026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FD0854-C08A-DB00-6449-80E22FE1A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6A2043-76AC-E2C8-BF97-09A26FD92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FF70B-5DE2-4471-8296-B0BE239360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605630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B07ACF-8707-D354-791C-15E08C6F8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ED82DA-3363-A18B-6C4B-C35BFE8E2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0E2CAE-2C50-D000-1FC9-A8C997D50D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5718B5-E111-48C2-9805-526994096C52}" type="datetimeFigureOut">
              <a:rPr lang="en-AU" smtClean="0"/>
              <a:t>8/10/2026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FC2841-D29D-F3DB-C7A5-98AD564025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0C0663-809C-60AD-BE4E-FD1C93E185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AFF70B-5DE2-4471-8296-B0BE239360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604067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E52669BD-698A-BE79-7EE5-5B360BE848C5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AlignPro sample deck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6215F4AF-6E06-144B-E3DC-FB87EB17D5A5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Each slide says what to try. Nothing here is precious - edit it freely and save over it if you like.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A314FE-173E-B977-1AB2-A07EE7D81CAF}"/>
              </a:ext>
            </a:extLst>
          </p:cNvPr>
          <p:cNvSpPr txBox="1"/>
          <p:nvPr/>
        </p:nvSpPr>
        <p:spPr>
          <a:xfrm>
            <a:off x="762000" y="1651000"/>
            <a:ext cx="10668000" cy="355481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500">
                <a:solidFill>
                  <a:srgbClr val="282828"/>
                </a:solidFill>
              </a:rPr>
              <a:t>The AlignPro tab is on the ribbon.
Two dropdowns carry the state the six align buttons are crossed with:
    Reference  -  what to align against: the anchor shape, the selection, the slide, the
                  slide margins, or the layout's content placeholder.
    Measure    -  which rectangle to align: the shape frame (what PowerPoint itself uses,
                  which ignores rotation), the visual bounds (what you actually see), or
                  the text inside.
Undo is PowerPoint's own - Ctrl+Z, the ribbon button and the Quick Access Toolbar all
reverse exactly one AlignPro command.
Slide 2 is the one to try first. It is the reason this add-in exists.</a:t>
            </a:r>
          </a:p>
        </p:txBody>
      </p:sp>
    </p:spTree>
    <p:extLst>
      <p:ext uri="{BB962C8B-B14F-4D97-AF65-F5344CB8AC3E}">
        <p14:creationId xmlns:p14="http://schemas.microsoft.com/office/powerpoint/2010/main" val="3475171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D1A3E26A-ED70-F54C-E269-CB851A3F5B26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Rotation: the case PowerPoint gets wrong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9494A255-5EB9-39EC-69E0-CB3453EF6704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all four. Align &gt; Left with Measure = Shape frame, undo, then again with Measure = Visual bounds.</a:t>
            </a:r>
          </a:p>
        </p:txBody>
      </p:sp>
      <p:sp>
        <p:nvSpPr>
          <p:cNvPr id="4" name="Plain1">
            <a:extLst>
              <a:ext uri="{FF2B5EF4-FFF2-40B4-BE49-F238E27FC236}">
                <a16:creationId xmlns:a16="http://schemas.microsoft.com/office/drawing/2014/main" id="{18CC06E4-A236-E4E4-A3C6-B95F1711204A}"/>
              </a:ext>
            </a:extLst>
          </p:cNvPr>
          <p:cNvSpPr/>
          <p:nvPr/>
        </p:nvSpPr>
        <p:spPr>
          <a:xfrm>
            <a:off x="1778000" y="1905000"/>
            <a:ext cx="1905000" cy="1016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Plain1</a:t>
            </a:r>
          </a:p>
        </p:txBody>
      </p:sp>
      <p:sp>
        <p:nvSpPr>
          <p:cNvPr id="5" name="Tall">
            <a:extLst>
              <a:ext uri="{FF2B5EF4-FFF2-40B4-BE49-F238E27FC236}">
                <a16:creationId xmlns:a16="http://schemas.microsoft.com/office/drawing/2014/main" id="{A46B54C3-39D4-2452-7FAC-2276A1FBA264}"/>
              </a:ext>
            </a:extLst>
          </p:cNvPr>
          <p:cNvSpPr/>
          <p:nvPr/>
        </p:nvSpPr>
        <p:spPr>
          <a:xfrm>
            <a:off x="4191000" y="3302000"/>
            <a:ext cx="1143000" cy="1905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Tall</a:t>
            </a:r>
          </a:p>
        </p:txBody>
      </p:sp>
      <p:sp>
        <p:nvSpPr>
          <p:cNvPr id="6" name="Rotated">
            <a:extLst>
              <a:ext uri="{FF2B5EF4-FFF2-40B4-BE49-F238E27FC236}">
                <a16:creationId xmlns:a16="http://schemas.microsoft.com/office/drawing/2014/main" id="{2E643411-8029-55CB-0CA1-9DF38B9A88A2}"/>
              </a:ext>
            </a:extLst>
          </p:cNvPr>
          <p:cNvSpPr/>
          <p:nvPr/>
        </p:nvSpPr>
        <p:spPr>
          <a:xfrm rot="1800000">
            <a:off x="6604000" y="2032000"/>
            <a:ext cx="2286000" cy="1143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Rotated 30</a:t>
            </a:r>
          </a:p>
        </p:txBody>
      </p:sp>
      <p:sp>
        <p:nvSpPr>
          <p:cNvPr id="7" name="Plain2">
            <a:extLst>
              <a:ext uri="{FF2B5EF4-FFF2-40B4-BE49-F238E27FC236}">
                <a16:creationId xmlns:a16="http://schemas.microsoft.com/office/drawing/2014/main" id="{126120C7-DFF2-FB2D-4158-C23B19BA3C39}"/>
              </a:ext>
            </a:extLst>
          </p:cNvPr>
          <p:cNvSpPr/>
          <p:nvPr/>
        </p:nvSpPr>
        <p:spPr>
          <a:xfrm>
            <a:off x="9398000" y="4191000"/>
            <a:ext cx="1651000" cy="889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Plain2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254A30-9122-C86A-6CC5-156D34F81D51}"/>
              </a:ext>
            </a:extLst>
          </p:cNvPr>
          <p:cNvSpPr txBox="1"/>
          <p:nvPr/>
        </p:nvSpPr>
        <p:spPr>
          <a:xfrm>
            <a:off x="508000" y="5969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In frame mode the rotated shape looks wrong, because PowerPoint aligns an unrotated rectangle it never draws. Visual bounds fixes it.</a:t>
            </a:r>
          </a:p>
        </p:txBody>
      </p:sp>
    </p:spTree>
    <p:extLst>
      <p:ext uri="{BB962C8B-B14F-4D97-AF65-F5344CB8AC3E}">
        <p14:creationId xmlns:p14="http://schemas.microsoft.com/office/powerpoint/2010/main" val="1643005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986C52E9-6ECC-B684-DF39-BF2EDF699F2F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Align to an anchor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3E8413A1-45B9-D6F3-A5D8-E3A72811E6A8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Set Reference = Anchor. Select the three small shapes, then Ctrl+click BIG ANCHOR last, and Align &gt; Left.</a:t>
            </a:r>
          </a:p>
        </p:txBody>
      </p:sp>
      <p:sp>
        <p:nvSpPr>
          <p:cNvPr id="4" name="Small1">
            <a:extLst>
              <a:ext uri="{FF2B5EF4-FFF2-40B4-BE49-F238E27FC236}">
                <a16:creationId xmlns:a16="http://schemas.microsoft.com/office/drawing/2014/main" id="{B74CECF4-7D20-7CB0-C48D-C6E4676FB53A}"/>
              </a:ext>
            </a:extLst>
          </p:cNvPr>
          <p:cNvSpPr/>
          <p:nvPr/>
        </p:nvSpPr>
        <p:spPr>
          <a:xfrm>
            <a:off x="1524000" y="2159000"/>
            <a:ext cx="1397000" cy="762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Small1</a:t>
            </a:r>
          </a:p>
        </p:txBody>
      </p:sp>
      <p:sp>
        <p:nvSpPr>
          <p:cNvPr id="5" name="Small2">
            <a:extLst>
              <a:ext uri="{FF2B5EF4-FFF2-40B4-BE49-F238E27FC236}">
                <a16:creationId xmlns:a16="http://schemas.microsoft.com/office/drawing/2014/main" id="{70B3423E-FA47-E429-23E1-3A9D6AED9D27}"/>
              </a:ext>
            </a:extLst>
          </p:cNvPr>
          <p:cNvSpPr/>
          <p:nvPr/>
        </p:nvSpPr>
        <p:spPr>
          <a:xfrm>
            <a:off x="3175000" y="3302000"/>
            <a:ext cx="1397000" cy="762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Small2</a:t>
            </a:r>
          </a:p>
        </p:txBody>
      </p:sp>
      <p:sp>
        <p:nvSpPr>
          <p:cNvPr id="6" name="Small3">
            <a:extLst>
              <a:ext uri="{FF2B5EF4-FFF2-40B4-BE49-F238E27FC236}">
                <a16:creationId xmlns:a16="http://schemas.microsoft.com/office/drawing/2014/main" id="{581FBC19-FE64-B5FE-3723-293B53E47305}"/>
              </a:ext>
            </a:extLst>
          </p:cNvPr>
          <p:cNvSpPr/>
          <p:nvPr/>
        </p:nvSpPr>
        <p:spPr>
          <a:xfrm>
            <a:off x="2286000" y="4445000"/>
            <a:ext cx="1397000" cy="762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Small3</a:t>
            </a:r>
          </a:p>
        </p:txBody>
      </p:sp>
      <p:sp>
        <p:nvSpPr>
          <p:cNvPr id="7" name="Anchor">
            <a:extLst>
              <a:ext uri="{FF2B5EF4-FFF2-40B4-BE49-F238E27FC236}">
                <a16:creationId xmlns:a16="http://schemas.microsoft.com/office/drawing/2014/main" id="{B6ED94BA-5EFD-9124-A7DC-9D7C88CF52D1}"/>
              </a:ext>
            </a:extLst>
          </p:cNvPr>
          <p:cNvSpPr/>
          <p:nvPr/>
        </p:nvSpPr>
        <p:spPr>
          <a:xfrm>
            <a:off x="7112000" y="2540000"/>
            <a:ext cx="3556000" cy="2540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BIG ANCHOR</a:t>
            </a:r>
          </a:p>
        </p:txBody>
      </p:sp>
    </p:spTree>
    <p:extLst>
      <p:ext uri="{BB962C8B-B14F-4D97-AF65-F5344CB8AC3E}">
        <p14:creationId xmlns:p14="http://schemas.microsoft.com/office/powerpoint/2010/main" val="30588486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155450BB-4454-4421-708F-99BE804C592B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Distribute: four modes, four answers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9CCAC67F-EACA-2EBE-E7A2-46ADE69B202B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all five. Try Distribute &gt; Horizontally with each Space by setting. Widths differ, so all four differ.</a:t>
            </a:r>
          </a:p>
        </p:txBody>
      </p:sp>
      <p:sp>
        <p:nvSpPr>
          <p:cNvPr id="4" name="W200">
            <a:extLst>
              <a:ext uri="{FF2B5EF4-FFF2-40B4-BE49-F238E27FC236}">
                <a16:creationId xmlns:a16="http://schemas.microsoft.com/office/drawing/2014/main" id="{602153ED-C4D9-40F3-172F-1D767AFDFDE3}"/>
              </a:ext>
            </a:extLst>
          </p:cNvPr>
          <p:cNvSpPr/>
          <p:nvPr/>
        </p:nvSpPr>
        <p:spPr>
          <a:xfrm>
            <a:off x="635000" y="3175000"/>
            <a:ext cx="2540000" cy="1143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200</a:t>
            </a:r>
          </a:p>
        </p:txBody>
      </p:sp>
      <p:sp>
        <p:nvSpPr>
          <p:cNvPr id="5" name="W60">
            <a:extLst>
              <a:ext uri="{FF2B5EF4-FFF2-40B4-BE49-F238E27FC236}">
                <a16:creationId xmlns:a16="http://schemas.microsoft.com/office/drawing/2014/main" id="{1D2E6B6B-6CA9-B472-6689-FDE94217CCD4}"/>
              </a:ext>
            </a:extLst>
          </p:cNvPr>
          <p:cNvSpPr/>
          <p:nvPr/>
        </p:nvSpPr>
        <p:spPr>
          <a:xfrm>
            <a:off x="3810000" y="3175000"/>
            <a:ext cx="762000" cy="1143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60</a:t>
            </a:r>
          </a:p>
        </p:txBody>
      </p:sp>
      <p:sp>
        <p:nvSpPr>
          <p:cNvPr id="6" name="W120">
            <a:extLst>
              <a:ext uri="{FF2B5EF4-FFF2-40B4-BE49-F238E27FC236}">
                <a16:creationId xmlns:a16="http://schemas.microsoft.com/office/drawing/2014/main" id="{9225B384-5CB8-FBE8-EBC7-62BB96224997}"/>
              </a:ext>
            </a:extLst>
          </p:cNvPr>
          <p:cNvSpPr/>
          <p:nvPr/>
        </p:nvSpPr>
        <p:spPr>
          <a:xfrm>
            <a:off x="5334000" y="3175000"/>
            <a:ext cx="1524000" cy="1143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120</a:t>
            </a:r>
          </a:p>
        </p:txBody>
      </p:sp>
      <p:sp>
        <p:nvSpPr>
          <p:cNvPr id="7" name="W40">
            <a:extLst>
              <a:ext uri="{FF2B5EF4-FFF2-40B4-BE49-F238E27FC236}">
                <a16:creationId xmlns:a16="http://schemas.microsoft.com/office/drawing/2014/main" id="{AB334C30-A6CF-7399-C5E7-07BA88D9BAD7}"/>
              </a:ext>
            </a:extLst>
          </p:cNvPr>
          <p:cNvSpPr/>
          <p:nvPr/>
        </p:nvSpPr>
        <p:spPr>
          <a:xfrm>
            <a:off x="7874000" y="3175000"/>
            <a:ext cx="508000" cy="1143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40</a:t>
            </a:r>
          </a:p>
        </p:txBody>
      </p:sp>
      <p:sp>
        <p:nvSpPr>
          <p:cNvPr id="8" name="W150">
            <a:extLst>
              <a:ext uri="{FF2B5EF4-FFF2-40B4-BE49-F238E27FC236}">
                <a16:creationId xmlns:a16="http://schemas.microsoft.com/office/drawing/2014/main" id="{A0286630-09C5-982F-19B7-DF6E33FE7E11}"/>
              </a:ext>
            </a:extLst>
          </p:cNvPr>
          <p:cNvSpPr/>
          <p:nvPr/>
        </p:nvSpPr>
        <p:spPr>
          <a:xfrm>
            <a:off x="9652000" y="3175000"/>
            <a:ext cx="1905000" cy="1143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150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0EFFDE-D7FD-4809-5656-E282E8F86049}"/>
              </a:ext>
            </a:extLst>
          </p:cNvPr>
          <p:cNvSpPr txBox="1"/>
          <p:nvPr/>
        </p:nvSpPr>
        <p:spPr>
          <a:xfrm>
            <a:off x="508000" y="48260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Leading edges lines up the left edges at an even pitch. Centres evens the centres. Trailing edges evens the right edges. Space between evens the visible gaps - the only one of the four that does.</a:t>
            </a:r>
          </a:p>
        </p:txBody>
      </p:sp>
    </p:spTree>
    <p:extLst>
      <p:ext uri="{BB962C8B-B14F-4D97-AF65-F5344CB8AC3E}">
        <p14:creationId xmlns:p14="http://schemas.microsoft.com/office/powerpoint/2010/main" val="29178585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61A2506A-E02C-8236-9C79-82202DD318F0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Exact spacing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838AC774-FE8B-A40D-06ED-9F9CF866C5DA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all four, put 12 in the Exact (pt) box, Space by = Space between, then Distribute &gt; Horizontally.</a:t>
            </a:r>
          </a:p>
        </p:txBody>
      </p:sp>
      <p:sp>
        <p:nvSpPr>
          <p:cNvPr id="4" name="Gap0">
            <a:extLst>
              <a:ext uri="{FF2B5EF4-FFF2-40B4-BE49-F238E27FC236}">
                <a16:creationId xmlns:a16="http://schemas.microsoft.com/office/drawing/2014/main" id="{385ADD94-1B38-CD1B-0FB6-EE022FCEE5A5}"/>
              </a:ext>
            </a:extLst>
          </p:cNvPr>
          <p:cNvSpPr/>
          <p:nvPr/>
        </p:nvSpPr>
        <p:spPr>
          <a:xfrm>
            <a:off x="1016000" y="3048000"/>
            <a:ext cx="1524000" cy="1270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#1</a:t>
            </a:r>
          </a:p>
        </p:txBody>
      </p:sp>
      <p:sp>
        <p:nvSpPr>
          <p:cNvPr id="5" name="Gap1">
            <a:extLst>
              <a:ext uri="{FF2B5EF4-FFF2-40B4-BE49-F238E27FC236}">
                <a16:creationId xmlns:a16="http://schemas.microsoft.com/office/drawing/2014/main" id="{2B0D1BBB-8782-2160-CB65-972D5F287DFE}"/>
              </a:ext>
            </a:extLst>
          </p:cNvPr>
          <p:cNvSpPr/>
          <p:nvPr/>
        </p:nvSpPr>
        <p:spPr>
          <a:xfrm>
            <a:off x="3429000" y="3048000"/>
            <a:ext cx="1524000" cy="1270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#2</a:t>
            </a:r>
          </a:p>
        </p:txBody>
      </p:sp>
      <p:sp>
        <p:nvSpPr>
          <p:cNvPr id="6" name="Gap2">
            <a:extLst>
              <a:ext uri="{FF2B5EF4-FFF2-40B4-BE49-F238E27FC236}">
                <a16:creationId xmlns:a16="http://schemas.microsoft.com/office/drawing/2014/main" id="{D23B8E60-0ED3-A467-C5C3-FC9458A54225}"/>
              </a:ext>
            </a:extLst>
          </p:cNvPr>
          <p:cNvSpPr/>
          <p:nvPr/>
        </p:nvSpPr>
        <p:spPr>
          <a:xfrm>
            <a:off x="5842000" y="3048000"/>
            <a:ext cx="1524000" cy="1270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#3</a:t>
            </a:r>
          </a:p>
        </p:txBody>
      </p:sp>
      <p:sp>
        <p:nvSpPr>
          <p:cNvPr id="7" name="Gap3">
            <a:extLst>
              <a:ext uri="{FF2B5EF4-FFF2-40B4-BE49-F238E27FC236}">
                <a16:creationId xmlns:a16="http://schemas.microsoft.com/office/drawing/2014/main" id="{9D240117-A63E-B762-4D93-3135D82256BF}"/>
              </a:ext>
            </a:extLst>
          </p:cNvPr>
          <p:cNvSpPr/>
          <p:nvPr/>
        </p:nvSpPr>
        <p:spPr>
          <a:xfrm>
            <a:off x="8255000" y="3048000"/>
            <a:ext cx="1524000" cy="1270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#4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9D6F4A-A3F0-E9E7-72D0-1CDEBA832AE7}"/>
              </a:ext>
            </a:extLst>
          </p:cNvPr>
          <p:cNvSpPr txBox="1"/>
          <p:nvPr/>
        </p:nvSpPr>
        <p:spPr>
          <a:xfrm>
            <a:off x="508000" y="4826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Clear the box again to go back to evening out whatever space is already there. In the edge and centre modes the number is a pitch, not a gap.</a:t>
            </a:r>
          </a:p>
        </p:txBody>
      </p:sp>
    </p:spTree>
    <p:extLst>
      <p:ext uri="{BB962C8B-B14F-4D97-AF65-F5344CB8AC3E}">
        <p14:creationId xmlns:p14="http://schemas.microsoft.com/office/powerpoint/2010/main" val="1888434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EDA02801-A36E-89CE-44DC-75ACFFAC0915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Match size to the anchor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EB3E5981-2954-BAC6-B50B-865A735E0040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the three odd shapes, then Ctrl+click TARGET last. Match &gt; Both. Try the From centre toggle too.</a:t>
            </a:r>
          </a:p>
        </p:txBody>
      </p:sp>
      <p:sp>
        <p:nvSpPr>
          <p:cNvPr id="4" name="Odd1">
            <a:extLst>
              <a:ext uri="{FF2B5EF4-FFF2-40B4-BE49-F238E27FC236}">
                <a16:creationId xmlns:a16="http://schemas.microsoft.com/office/drawing/2014/main" id="{0D8EA6CC-4422-0434-7EBB-EC77ED8B7D02}"/>
              </a:ext>
            </a:extLst>
          </p:cNvPr>
          <p:cNvSpPr/>
          <p:nvPr/>
        </p:nvSpPr>
        <p:spPr>
          <a:xfrm>
            <a:off x="1397000" y="2286000"/>
            <a:ext cx="1016000" cy="1651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Odd1</a:t>
            </a:r>
          </a:p>
        </p:txBody>
      </p:sp>
      <p:sp>
        <p:nvSpPr>
          <p:cNvPr id="5" name="Odd2">
            <a:extLst>
              <a:ext uri="{FF2B5EF4-FFF2-40B4-BE49-F238E27FC236}">
                <a16:creationId xmlns:a16="http://schemas.microsoft.com/office/drawing/2014/main" id="{813F234B-F690-F650-2BB8-8EA12BCBC0B1}"/>
              </a:ext>
            </a:extLst>
          </p:cNvPr>
          <p:cNvSpPr/>
          <p:nvPr/>
        </p:nvSpPr>
        <p:spPr>
          <a:xfrm>
            <a:off x="3048000" y="2794000"/>
            <a:ext cx="2032000" cy="762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Odd2</a:t>
            </a:r>
          </a:p>
        </p:txBody>
      </p:sp>
      <p:sp>
        <p:nvSpPr>
          <p:cNvPr id="6" name="Odd3">
            <a:extLst>
              <a:ext uri="{FF2B5EF4-FFF2-40B4-BE49-F238E27FC236}">
                <a16:creationId xmlns:a16="http://schemas.microsoft.com/office/drawing/2014/main" id="{7C211400-5708-1D60-812B-EB7B72EA56B9}"/>
              </a:ext>
            </a:extLst>
          </p:cNvPr>
          <p:cNvSpPr/>
          <p:nvPr/>
        </p:nvSpPr>
        <p:spPr>
          <a:xfrm>
            <a:off x="1651000" y="4445000"/>
            <a:ext cx="1397000" cy="1143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Odd3</a:t>
            </a:r>
          </a:p>
        </p:txBody>
      </p:sp>
      <p:sp>
        <p:nvSpPr>
          <p:cNvPr id="7" name="Target">
            <a:extLst>
              <a:ext uri="{FF2B5EF4-FFF2-40B4-BE49-F238E27FC236}">
                <a16:creationId xmlns:a16="http://schemas.microsoft.com/office/drawing/2014/main" id="{CD397A8F-0123-8314-8036-9DF87E610287}"/>
              </a:ext>
            </a:extLst>
          </p:cNvPr>
          <p:cNvSpPr/>
          <p:nvPr/>
        </p:nvSpPr>
        <p:spPr>
          <a:xfrm>
            <a:off x="7620000" y="2921000"/>
            <a:ext cx="2540000" cy="1524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TARGET</a:t>
            </a:r>
          </a:p>
        </p:txBody>
      </p:sp>
    </p:spTree>
    <p:extLst>
      <p:ext uri="{BB962C8B-B14F-4D97-AF65-F5344CB8AC3E}">
        <p14:creationId xmlns:p14="http://schemas.microsoft.com/office/powerpoint/2010/main" val="2716272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3E2BDFC0-3568-8A9B-CBA5-DDB44E7CB79F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Order: stack in the order you select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F3EDD9F4-01E4-CFB8-EEA4-E01C457DC827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Card 1, Ctrl+click Card 2 then Card 3 to add them, then click Order &gt; Stack. Card 1 ends on top.</a:t>
            </a:r>
          </a:p>
        </p:txBody>
      </p:sp>
      <p:sp>
        <p:nvSpPr>
          <p:cNvPr id="4" name="Card1">
            <a:extLst>
              <a:ext uri="{FF2B5EF4-FFF2-40B4-BE49-F238E27FC236}">
                <a16:creationId xmlns:a16="http://schemas.microsoft.com/office/drawing/2014/main" id="{356855AF-40D4-3BAA-1B98-3FB9CFC8D349}"/>
              </a:ext>
            </a:extLst>
          </p:cNvPr>
          <p:cNvSpPr/>
          <p:nvPr/>
        </p:nvSpPr>
        <p:spPr>
          <a:xfrm>
            <a:off x="1905000" y="2159000"/>
            <a:ext cx="2794000" cy="2159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Card 1</a:t>
            </a:r>
          </a:p>
        </p:txBody>
      </p:sp>
      <p:sp>
        <p:nvSpPr>
          <p:cNvPr id="5" name="BarA">
            <a:extLst>
              <a:ext uri="{FF2B5EF4-FFF2-40B4-BE49-F238E27FC236}">
                <a16:creationId xmlns:a16="http://schemas.microsoft.com/office/drawing/2014/main" id="{98838886-E63A-F291-3182-AD817711B807}"/>
              </a:ext>
            </a:extLst>
          </p:cNvPr>
          <p:cNvSpPr/>
          <p:nvPr/>
        </p:nvSpPr>
        <p:spPr>
          <a:xfrm>
            <a:off x="4191000" y="1778000"/>
            <a:ext cx="508000" cy="3175000"/>
          </a:xfrm>
          <a:prstGeom prst="rect">
            <a:avLst/>
          </a:prstGeom>
          <a:solidFill>
            <a:srgbClr val="7F7F7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400" b="1">
              <a:solidFill>
                <a:srgbClr val="FFFFFF"/>
              </a:solidFill>
            </a:endParaRPr>
          </a:p>
        </p:txBody>
      </p:sp>
      <p:sp>
        <p:nvSpPr>
          <p:cNvPr id="6" name="Card2">
            <a:extLst>
              <a:ext uri="{FF2B5EF4-FFF2-40B4-BE49-F238E27FC236}">
                <a16:creationId xmlns:a16="http://schemas.microsoft.com/office/drawing/2014/main" id="{83739B7E-EBE7-8F22-9C23-A1BADB39E134}"/>
              </a:ext>
            </a:extLst>
          </p:cNvPr>
          <p:cNvSpPr/>
          <p:nvPr/>
        </p:nvSpPr>
        <p:spPr>
          <a:xfrm>
            <a:off x="4318000" y="2667000"/>
            <a:ext cx="2794000" cy="2159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Card 2</a:t>
            </a:r>
          </a:p>
        </p:txBody>
      </p:sp>
      <p:sp>
        <p:nvSpPr>
          <p:cNvPr id="7" name="BarB">
            <a:extLst>
              <a:ext uri="{FF2B5EF4-FFF2-40B4-BE49-F238E27FC236}">
                <a16:creationId xmlns:a16="http://schemas.microsoft.com/office/drawing/2014/main" id="{BD3FB2D4-2EB3-96D9-BB2E-89F9331FC75D}"/>
              </a:ext>
            </a:extLst>
          </p:cNvPr>
          <p:cNvSpPr/>
          <p:nvPr/>
        </p:nvSpPr>
        <p:spPr>
          <a:xfrm>
            <a:off x="6604000" y="1778000"/>
            <a:ext cx="508000" cy="3175000"/>
          </a:xfrm>
          <a:prstGeom prst="rect">
            <a:avLst/>
          </a:prstGeom>
          <a:solidFill>
            <a:srgbClr val="7F7F7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400" b="1">
              <a:solidFill>
                <a:srgbClr val="FFFFFF"/>
              </a:solidFill>
            </a:endParaRPr>
          </a:p>
        </p:txBody>
      </p:sp>
      <p:sp>
        <p:nvSpPr>
          <p:cNvPr id="8" name="Card3">
            <a:extLst>
              <a:ext uri="{FF2B5EF4-FFF2-40B4-BE49-F238E27FC236}">
                <a16:creationId xmlns:a16="http://schemas.microsoft.com/office/drawing/2014/main" id="{B16E9752-F839-01EB-C3E7-345938474E6C}"/>
              </a:ext>
            </a:extLst>
          </p:cNvPr>
          <p:cNvSpPr/>
          <p:nvPr/>
        </p:nvSpPr>
        <p:spPr>
          <a:xfrm>
            <a:off x="6731000" y="2159000"/>
            <a:ext cx="2794000" cy="2159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Card 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4F4EC8-BA29-A4D3-1F37-1B94A33038B7}"/>
              </a:ext>
            </a:extLst>
          </p:cNvPr>
          <p:cNvSpPr txBox="1"/>
          <p:nvPr/>
        </p:nvSpPr>
        <p:spPr>
          <a:xfrm>
            <a:off x="508000" y="5334000"/>
            <a:ext cx="11176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The two grey bars are not in the selection, and they must come out on exactly the layers they went in on - one behind Card 2, one behind Card 3. That is the difference from Bring to front, which would drag all three cards over the top of them. Now click Order &gt; Reverse to flip the pile, then select the cards in a different order and click Stack again.</a:t>
            </a:r>
          </a:p>
        </p:txBody>
      </p:sp>
    </p:spTree>
    <p:extLst>
      <p:ext uri="{BB962C8B-B14F-4D97-AF65-F5344CB8AC3E}">
        <p14:creationId xmlns:p14="http://schemas.microsoft.com/office/powerpoint/2010/main" val="23558467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4EC9C65D-489A-13FF-4622-6707C225FAC2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Match size with a margin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3FDE753C-249B-3827-FAC1-5509C6D88A71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Type 10 in Margin (pt) and set Apply margin = All the same. Select the three shapes, Ctrl+click TARGET last, then click Match &gt; Both.</a:t>
            </a:r>
          </a:p>
        </p:txBody>
      </p:sp>
      <p:sp>
        <p:nvSpPr>
          <p:cNvPr id="4" name="Step1">
            <a:extLst>
              <a:ext uri="{FF2B5EF4-FFF2-40B4-BE49-F238E27FC236}">
                <a16:creationId xmlns:a16="http://schemas.microsoft.com/office/drawing/2014/main" id="{1E65E548-4953-E17B-9975-478C731BB194}"/>
              </a:ext>
            </a:extLst>
          </p:cNvPr>
          <p:cNvSpPr/>
          <p:nvPr/>
        </p:nvSpPr>
        <p:spPr>
          <a:xfrm>
            <a:off x="1397000" y="2286000"/>
            <a:ext cx="1016000" cy="1651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1st</a:t>
            </a:r>
          </a:p>
        </p:txBody>
      </p:sp>
      <p:sp>
        <p:nvSpPr>
          <p:cNvPr id="5" name="Step2">
            <a:extLst>
              <a:ext uri="{FF2B5EF4-FFF2-40B4-BE49-F238E27FC236}">
                <a16:creationId xmlns:a16="http://schemas.microsoft.com/office/drawing/2014/main" id="{C0EDEB55-755F-4B1B-DFA6-91D67FE553CF}"/>
              </a:ext>
            </a:extLst>
          </p:cNvPr>
          <p:cNvSpPr/>
          <p:nvPr/>
        </p:nvSpPr>
        <p:spPr>
          <a:xfrm>
            <a:off x="3048000" y="2794000"/>
            <a:ext cx="2032000" cy="762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2nd</a:t>
            </a:r>
          </a:p>
        </p:txBody>
      </p:sp>
      <p:sp>
        <p:nvSpPr>
          <p:cNvPr id="6" name="Step3">
            <a:extLst>
              <a:ext uri="{FF2B5EF4-FFF2-40B4-BE49-F238E27FC236}">
                <a16:creationId xmlns:a16="http://schemas.microsoft.com/office/drawing/2014/main" id="{A81A9CB5-3465-25A2-82CB-BA33D22333A4}"/>
              </a:ext>
            </a:extLst>
          </p:cNvPr>
          <p:cNvSpPr/>
          <p:nvPr/>
        </p:nvSpPr>
        <p:spPr>
          <a:xfrm>
            <a:off x="1651000" y="4445000"/>
            <a:ext cx="1397000" cy="1143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3rd</a:t>
            </a:r>
          </a:p>
        </p:txBody>
      </p:sp>
      <p:sp>
        <p:nvSpPr>
          <p:cNvPr id="7" name="MarginTarget">
            <a:extLst>
              <a:ext uri="{FF2B5EF4-FFF2-40B4-BE49-F238E27FC236}">
                <a16:creationId xmlns:a16="http://schemas.microsoft.com/office/drawing/2014/main" id="{E2910351-11B6-7A5D-74C0-5EF74FE340B7}"/>
              </a:ext>
            </a:extLst>
          </p:cNvPr>
          <p:cNvSpPr/>
          <p:nvPr/>
        </p:nvSpPr>
        <p:spPr>
          <a:xfrm>
            <a:off x="7620000" y="2794000"/>
            <a:ext cx="2794000" cy="1778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TARGET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94A238-3889-CFB9-3D99-54DEAC8EB25D}"/>
              </a:ext>
            </a:extLst>
          </p:cNvPr>
          <p:cNvSpPr txBox="1"/>
          <p:nvPr/>
        </p:nvSpPr>
        <p:spPr>
          <a:xfrm>
            <a:off x="508000" y="5715000"/>
            <a:ext cx="11176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The margin is measured per side, so a margin of 10 takes 20 off each dimension and leaves a 10pt border showing all round. Now click AlignPro undo, set Apply margin to Cascade, select the shapes again in the same order and click Match &gt; Both: the shapes tier along the order you selected in, and the one you selected first ends smallest.</a:t>
            </a:r>
          </a:p>
        </p:txBody>
      </p:sp>
    </p:spTree>
    <p:extLst>
      <p:ext uri="{BB962C8B-B14F-4D97-AF65-F5344CB8AC3E}">
        <p14:creationId xmlns:p14="http://schemas.microsoft.com/office/powerpoint/2010/main" val="1448259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A454DE5D-FA03-CEEC-7407-D8BC9BBD6F4E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Concentric rings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DDB3937C-200C-E9C5-DB5F-EC32A60CB9FF}"/>
              </a:ext>
            </a:extLst>
          </p:cNvPr>
          <p:cNvSpPr txBox="1"/>
          <p:nvPr/>
        </p:nvSpPr>
        <p:spPr>
          <a:xfrm>
            <a:off x="508000" y="762000"/>
            <a:ext cx="111760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1st, then Ctrl+click 2nd, 3rd, 4th and 5th in turn. Click Align &gt; Centre, then Align &gt; Middle. Type 12 in Margin (pt), set Apply margin = Cascade, switch From centre on, then click Match &gt; Both. Finish by clicking Order &gt; Stack.</a:t>
            </a:r>
          </a:p>
        </p:txBody>
      </p:sp>
      <p:sp>
        <p:nvSpPr>
          <p:cNvPr id="4" name="Ring1">
            <a:extLst>
              <a:ext uri="{FF2B5EF4-FFF2-40B4-BE49-F238E27FC236}">
                <a16:creationId xmlns:a16="http://schemas.microsoft.com/office/drawing/2014/main" id="{5B59E80E-E8F4-2874-ABA3-FC3C9901FD9D}"/>
              </a:ext>
            </a:extLst>
          </p:cNvPr>
          <p:cNvSpPr/>
          <p:nvPr/>
        </p:nvSpPr>
        <p:spPr>
          <a:xfrm>
            <a:off x="1143000" y="2286000"/>
            <a:ext cx="1905000" cy="1397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1st</a:t>
            </a:r>
          </a:p>
        </p:txBody>
      </p:sp>
      <p:sp>
        <p:nvSpPr>
          <p:cNvPr id="5" name="Ring2">
            <a:extLst>
              <a:ext uri="{FF2B5EF4-FFF2-40B4-BE49-F238E27FC236}">
                <a16:creationId xmlns:a16="http://schemas.microsoft.com/office/drawing/2014/main" id="{15DCD142-DD5A-8989-4610-29145C9A8B5B}"/>
              </a:ext>
            </a:extLst>
          </p:cNvPr>
          <p:cNvSpPr/>
          <p:nvPr/>
        </p:nvSpPr>
        <p:spPr>
          <a:xfrm>
            <a:off x="3683000" y="3810000"/>
            <a:ext cx="2159000" cy="1524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2nd</a:t>
            </a:r>
          </a:p>
        </p:txBody>
      </p:sp>
      <p:sp>
        <p:nvSpPr>
          <p:cNvPr id="6" name="Ring3">
            <a:extLst>
              <a:ext uri="{FF2B5EF4-FFF2-40B4-BE49-F238E27FC236}">
                <a16:creationId xmlns:a16="http://schemas.microsoft.com/office/drawing/2014/main" id="{6F4804C5-6E32-B6A3-53C5-3E4C52301FBE}"/>
              </a:ext>
            </a:extLst>
          </p:cNvPr>
          <p:cNvSpPr/>
          <p:nvPr/>
        </p:nvSpPr>
        <p:spPr>
          <a:xfrm>
            <a:off x="6350000" y="2159000"/>
            <a:ext cx="2032000" cy="1651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3rd</a:t>
            </a:r>
          </a:p>
        </p:txBody>
      </p:sp>
      <p:sp>
        <p:nvSpPr>
          <p:cNvPr id="7" name="Ring4">
            <a:extLst>
              <a:ext uri="{FF2B5EF4-FFF2-40B4-BE49-F238E27FC236}">
                <a16:creationId xmlns:a16="http://schemas.microsoft.com/office/drawing/2014/main" id="{C96A0B3B-03D0-C610-92ED-F64962D4AC2B}"/>
              </a:ext>
            </a:extLst>
          </p:cNvPr>
          <p:cNvSpPr/>
          <p:nvPr/>
        </p:nvSpPr>
        <p:spPr>
          <a:xfrm>
            <a:off x="8890000" y="4064000"/>
            <a:ext cx="2286000" cy="1397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8" name="Ring5">
            <a:extLst>
              <a:ext uri="{FF2B5EF4-FFF2-40B4-BE49-F238E27FC236}">
                <a16:creationId xmlns:a16="http://schemas.microsoft.com/office/drawing/2014/main" id="{2231524A-BF30-C0C4-96D7-7B27A1D8F594}"/>
              </a:ext>
            </a:extLst>
          </p:cNvPr>
          <p:cNvSpPr/>
          <p:nvPr/>
        </p:nvSpPr>
        <p:spPr>
          <a:xfrm>
            <a:off x="4826000" y="1905000"/>
            <a:ext cx="2540000" cy="1778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5th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C3EE30-DC3D-581D-D1DE-4E39B32AEDAD}"/>
              </a:ext>
            </a:extLst>
          </p:cNvPr>
          <p:cNvSpPr txBox="1"/>
          <p:nvPr/>
        </p:nvSpPr>
        <p:spPr>
          <a:xfrm>
            <a:off x="508000" y="5715000"/>
            <a:ext cx="11176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Aligning centres and middles stacks them on one point; From centre then holds that point while the cascade tiers the sizes, so the borders come out even. The last step matters: the cascade makes the shape you selected first the smallest, and Order &gt; Stack puts that same shape on top - so the rings are visible instead of hidden inside the largest. Keep the selection between steps and the order carries through all three commands.</a:t>
            </a:r>
          </a:p>
        </p:txBody>
      </p:sp>
    </p:spTree>
    <p:extLst>
      <p:ext uri="{BB962C8B-B14F-4D97-AF65-F5344CB8AC3E}">
        <p14:creationId xmlns:p14="http://schemas.microsoft.com/office/powerpoint/2010/main" val="11722500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303CF412-B77A-E875-1A5B-0E6E86C0CF05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Grow past the anchor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48C829BB-B86F-287D-FDEA-508CCD6E8757}"/>
              </a:ext>
            </a:extLst>
          </p:cNvPr>
          <p:cNvSpPr txBox="1"/>
          <p:nvPr/>
        </p:nvSpPr>
        <p:spPr>
          <a:xfrm>
            <a:off x="508000" y="762000"/>
            <a:ext cx="111760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Type 12 in Margin (pt), set Apply margin = Cascade and Direction = Grow, switch From centre on. Select 1st, Ctrl+click 2nd, 3rd, then CORE last. Click Match &gt; Both.</a:t>
            </a:r>
          </a:p>
        </p:txBody>
      </p:sp>
      <p:sp>
        <p:nvSpPr>
          <p:cNvPr id="4" name="Grow1">
            <a:extLst>
              <a:ext uri="{FF2B5EF4-FFF2-40B4-BE49-F238E27FC236}">
                <a16:creationId xmlns:a16="http://schemas.microsoft.com/office/drawing/2014/main" id="{135AEEEC-FFA4-C7E6-EFF4-BAA66A03C745}"/>
              </a:ext>
            </a:extLst>
          </p:cNvPr>
          <p:cNvSpPr/>
          <p:nvPr/>
        </p:nvSpPr>
        <p:spPr>
          <a:xfrm>
            <a:off x="1397000" y="2286000"/>
            <a:ext cx="1016000" cy="762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1st</a:t>
            </a:r>
          </a:p>
        </p:txBody>
      </p:sp>
      <p:sp>
        <p:nvSpPr>
          <p:cNvPr id="5" name="Grow2">
            <a:extLst>
              <a:ext uri="{FF2B5EF4-FFF2-40B4-BE49-F238E27FC236}">
                <a16:creationId xmlns:a16="http://schemas.microsoft.com/office/drawing/2014/main" id="{A6A20430-1CC8-C268-DBC8-D7028D0D7ED9}"/>
              </a:ext>
            </a:extLst>
          </p:cNvPr>
          <p:cNvSpPr/>
          <p:nvPr/>
        </p:nvSpPr>
        <p:spPr>
          <a:xfrm>
            <a:off x="3175000" y="3810000"/>
            <a:ext cx="889000" cy="1143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2nd</a:t>
            </a:r>
          </a:p>
        </p:txBody>
      </p:sp>
      <p:sp>
        <p:nvSpPr>
          <p:cNvPr id="6" name="Grow3">
            <a:extLst>
              <a:ext uri="{FF2B5EF4-FFF2-40B4-BE49-F238E27FC236}">
                <a16:creationId xmlns:a16="http://schemas.microsoft.com/office/drawing/2014/main" id="{539BA575-BA18-9B57-7C3E-13BEABB0CBFA}"/>
              </a:ext>
            </a:extLst>
          </p:cNvPr>
          <p:cNvSpPr/>
          <p:nvPr/>
        </p:nvSpPr>
        <p:spPr>
          <a:xfrm>
            <a:off x="1524000" y="4826000"/>
            <a:ext cx="1270000" cy="635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3rd</a:t>
            </a:r>
          </a:p>
        </p:txBody>
      </p:sp>
      <p:sp>
        <p:nvSpPr>
          <p:cNvPr id="7" name="Core">
            <a:extLst>
              <a:ext uri="{FF2B5EF4-FFF2-40B4-BE49-F238E27FC236}">
                <a16:creationId xmlns:a16="http://schemas.microsoft.com/office/drawing/2014/main" id="{6D32E7FF-0EAF-1CD5-4CBF-A4AE2790CAB7}"/>
              </a:ext>
            </a:extLst>
          </p:cNvPr>
          <p:cNvSpPr/>
          <p:nvPr/>
        </p:nvSpPr>
        <p:spPr>
          <a:xfrm>
            <a:off x="7620000" y="3175000"/>
            <a:ext cx="1524000" cy="1016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CORE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FD5EB3-757D-6054-D22A-EBAEEDC06E72}"/>
              </a:ext>
            </a:extLst>
          </p:cNvPr>
          <p:cNvSpPr txBox="1"/>
          <p:nvPr/>
        </p:nvSpPr>
        <p:spPr>
          <a:xfrm>
            <a:off x="508000" y="57150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Grow is the mirror of Shrink: the margin is still a positive number, and the shapes end outside the anchor instead of inside it. With Cascade the shape you selected first ends largest. Align them all to CORE (Reference = Anchor, Align &gt; Centre then Middle) and Order &gt; Reverse to see the rings.</a:t>
            </a:r>
          </a:p>
        </p:txBody>
      </p:sp>
    </p:spTree>
    <p:extLst>
      <p:ext uri="{BB962C8B-B14F-4D97-AF65-F5344CB8AC3E}">
        <p14:creationId xmlns:p14="http://schemas.microsoft.com/office/powerpoint/2010/main" val="20256183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9423F232-719F-5EBA-2340-EEEF91A98FD5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Groups are one object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423AED12-0E64-B2A8-B154-777975D7DFD7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Align the group with the loose shapes - its internal spacing must not change. Then try Match size on it.</a:t>
            </a:r>
          </a:p>
        </p:txBody>
      </p:sp>
      <p:grpSp>
        <p:nvGrpSpPr>
          <p:cNvPr id="7" name="TheGroup">
            <a:extLst>
              <a:ext uri="{FF2B5EF4-FFF2-40B4-BE49-F238E27FC236}">
                <a16:creationId xmlns:a16="http://schemas.microsoft.com/office/drawing/2014/main" id="{77030700-A1D7-4949-4006-C2B9062C72D6}"/>
              </a:ext>
            </a:extLst>
          </p:cNvPr>
          <p:cNvGrpSpPr/>
          <p:nvPr/>
        </p:nvGrpSpPr>
        <p:grpSpPr>
          <a:xfrm>
            <a:off x="1397000" y="2540000"/>
            <a:ext cx="4191000" cy="889000"/>
            <a:chOff x="1397000" y="2540000"/>
            <a:chExt cx="4191000" cy="889000"/>
          </a:xfrm>
        </p:grpSpPr>
        <p:sp>
          <p:nvSpPr>
            <p:cNvPr id="4" name="G1">
              <a:extLst>
                <a:ext uri="{FF2B5EF4-FFF2-40B4-BE49-F238E27FC236}">
                  <a16:creationId xmlns:a16="http://schemas.microsoft.com/office/drawing/2014/main" id="{A98F00CB-04F0-E234-DC61-005DA0049635}"/>
                </a:ext>
              </a:extLst>
            </p:cNvPr>
            <p:cNvSpPr/>
            <p:nvPr/>
          </p:nvSpPr>
          <p:spPr>
            <a:xfrm>
              <a:off x="1397000" y="2540000"/>
              <a:ext cx="1143000" cy="889000"/>
            </a:xfrm>
            <a:prstGeom prst="rect">
              <a:avLst/>
            </a:prstGeom>
            <a:solidFill>
              <a:srgbClr val="1F77B4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b="1">
                  <a:solidFill>
                    <a:srgbClr val="FFFFFF"/>
                  </a:solidFill>
                </a:rPr>
                <a:t>G1</a:t>
              </a:r>
            </a:p>
          </p:txBody>
        </p:sp>
        <p:sp>
          <p:nvSpPr>
            <p:cNvPr id="5" name="G2">
              <a:extLst>
                <a:ext uri="{FF2B5EF4-FFF2-40B4-BE49-F238E27FC236}">
                  <a16:creationId xmlns:a16="http://schemas.microsoft.com/office/drawing/2014/main" id="{8089E7B2-C7DA-9421-B8D4-E609DD18CF22}"/>
                </a:ext>
              </a:extLst>
            </p:cNvPr>
            <p:cNvSpPr/>
            <p:nvPr/>
          </p:nvSpPr>
          <p:spPr>
            <a:xfrm>
              <a:off x="2921000" y="2540000"/>
              <a:ext cx="1143000" cy="889000"/>
            </a:xfrm>
            <a:prstGeom prst="rect">
              <a:avLst/>
            </a:prstGeom>
            <a:solidFill>
              <a:srgbClr val="1F77B4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b="1">
                  <a:solidFill>
                    <a:srgbClr val="FFFFFF"/>
                  </a:solidFill>
                </a:rPr>
                <a:t>G2</a:t>
              </a:r>
            </a:p>
          </p:txBody>
        </p:sp>
        <p:sp>
          <p:nvSpPr>
            <p:cNvPr id="6" name="G3">
              <a:extLst>
                <a:ext uri="{FF2B5EF4-FFF2-40B4-BE49-F238E27FC236}">
                  <a16:creationId xmlns:a16="http://schemas.microsoft.com/office/drawing/2014/main" id="{E852B890-0AEB-C706-6282-3E3C991B0132}"/>
                </a:ext>
              </a:extLst>
            </p:cNvPr>
            <p:cNvSpPr/>
            <p:nvPr/>
          </p:nvSpPr>
          <p:spPr>
            <a:xfrm>
              <a:off x="4445000" y="2540000"/>
              <a:ext cx="1143000" cy="889000"/>
            </a:xfrm>
            <a:prstGeom prst="rect">
              <a:avLst/>
            </a:prstGeom>
            <a:solidFill>
              <a:srgbClr val="1F77B4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b="1">
                  <a:solidFill>
                    <a:srgbClr val="FFFFFF"/>
                  </a:solidFill>
                </a:rPr>
                <a:t>G3</a:t>
              </a:r>
            </a:p>
          </p:txBody>
        </p:sp>
      </p:grpSp>
      <p:sp>
        <p:nvSpPr>
          <p:cNvPr id="8" name="Loose1">
            <a:extLst>
              <a:ext uri="{FF2B5EF4-FFF2-40B4-BE49-F238E27FC236}">
                <a16:creationId xmlns:a16="http://schemas.microsoft.com/office/drawing/2014/main" id="{5E15B04E-011F-4CC7-B95D-15EDD6C23B3B}"/>
              </a:ext>
            </a:extLst>
          </p:cNvPr>
          <p:cNvSpPr/>
          <p:nvPr/>
        </p:nvSpPr>
        <p:spPr>
          <a:xfrm>
            <a:off x="7620000" y="3810000"/>
            <a:ext cx="1905000" cy="1143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Loose1</a:t>
            </a:r>
          </a:p>
        </p:txBody>
      </p:sp>
      <p:sp>
        <p:nvSpPr>
          <p:cNvPr id="9" name="Loose2">
            <a:extLst>
              <a:ext uri="{FF2B5EF4-FFF2-40B4-BE49-F238E27FC236}">
                <a16:creationId xmlns:a16="http://schemas.microsoft.com/office/drawing/2014/main" id="{F5B3F2EA-8580-7A01-14A6-E868C3344DFB}"/>
              </a:ext>
            </a:extLst>
          </p:cNvPr>
          <p:cNvSpPr/>
          <p:nvPr/>
        </p:nvSpPr>
        <p:spPr>
          <a:xfrm>
            <a:off x="10033000" y="4953000"/>
            <a:ext cx="1397000" cy="762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Loose2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3E678-A0A5-BD20-A97D-084D8B934B17}"/>
              </a:ext>
            </a:extLst>
          </p:cNvPr>
          <p:cNvSpPr txBox="1"/>
          <p:nvPr/>
        </p:nvSpPr>
        <p:spPr>
          <a:xfrm>
            <a:off x="508000" y="5842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Match size refuses groups on purpose: scaling a group scales the gaps between its children, which silently distorts a diagram. AlignPro tells you rather than doing it.</a:t>
            </a:r>
          </a:p>
        </p:txBody>
      </p:sp>
    </p:spTree>
    <p:extLst>
      <p:ext uri="{BB962C8B-B14F-4D97-AF65-F5344CB8AC3E}">
        <p14:creationId xmlns:p14="http://schemas.microsoft.com/office/powerpoint/2010/main" val="21952063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4ED19572-BBE5-80D3-0661-1AC644477F35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Align the text, not the box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FCC070F3-5EED-38C5-EF56-E3122A56CD04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All three frames already start at the same x. Select them and Align &gt; Left with Measure = Text bounds.</a:t>
            </a:r>
          </a:p>
        </p:txBody>
      </p:sp>
      <p:sp>
        <p:nvSpPr>
          <p:cNvPr id="4" name="Text0">
            <a:extLst>
              <a:ext uri="{FF2B5EF4-FFF2-40B4-BE49-F238E27FC236}">
                <a16:creationId xmlns:a16="http://schemas.microsoft.com/office/drawing/2014/main" id="{CEE2ACCD-033A-6679-72D9-879367BDF2E8}"/>
              </a:ext>
            </a:extLst>
          </p:cNvPr>
          <p:cNvSpPr/>
          <p:nvPr/>
        </p:nvSpPr>
        <p:spPr>
          <a:xfrm>
            <a:off x="3175000" y="2159000"/>
            <a:ext cx="5334000" cy="762000"/>
          </a:xfrm>
          <a:prstGeom prst="roundRect">
            <a:avLst/>
          </a:prstGeom>
          <a:solidFill>
            <a:srgbClr val="EBEBF0"/>
          </a:solidFill>
          <a:ln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AU" sz="1600">
                <a:solidFill>
                  <a:srgbClr val="282828"/>
                </a:solidFill>
              </a:rPr>
              <a:t>left-aligned text</a:t>
            </a:r>
          </a:p>
        </p:txBody>
      </p:sp>
      <p:sp>
        <p:nvSpPr>
          <p:cNvPr id="5" name="Text1">
            <a:extLst>
              <a:ext uri="{FF2B5EF4-FFF2-40B4-BE49-F238E27FC236}">
                <a16:creationId xmlns:a16="http://schemas.microsoft.com/office/drawing/2014/main" id="{CAC6C313-FF9A-B367-DA8D-C9008D3BF361}"/>
              </a:ext>
            </a:extLst>
          </p:cNvPr>
          <p:cNvSpPr/>
          <p:nvPr/>
        </p:nvSpPr>
        <p:spPr>
          <a:xfrm>
            <a:off x="3175000" y="3302000"/>
            <a:ext cx="5334000" cy="762000"/>
          </a:xfrm>
          <a:prstGeom prst="roundRect">
            <a:avLst/>
          </a:prstGeom>
          <a:solidFill>
            <a:srgbClr val="EBEBF0"/>
          </a:solidFill>
          <a:ln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>
                <a:solidFill>
                  <a:srgbClr val="282828"/>
                </a:solidFill>
              </a:rPr>
              <a:t>centred text</a:t>
            </a:r>
          </a:p>
        </p:txBody>
      </p:sp>
      <p:sp>
        <p:nvSpPr>
          <p:cNvPr id="6" name="Text2">
            <a:extLst>
              <a:ext uri="{FF2B5EF4-FFF2-40B4-BE49-F238E27FC236}">
                <a16:creationId xmlns:a16="http://schemas.microsoft.com/office/drawing/2014/main" id="{6C879EB5-5877-7FF2-3714-C105EA6647CD}"/>
              </a:ext>
            </a:extLst>
          </p:cNvPr>
          <p:cNvSpPr/>
          <p:nvPr/>
        </p:nvSpPr>
        <p:spPr>
          <a:xfrm>
            <a:off x="3175000" y="4445000"/>
            <a:ext cx="5334000" cy="762000"/>
          </a:xfrm>
          <a:prstGeom prst="roundRect">
            <a:avLst/>
          </a:prstGeom>
          <a:solidFill>
            <a:srgbClr val="EBEBF0"/>
          </a:solidFill>
          <a:ln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AU" sz="1600">
                <a:solidFill>
                  <a:srgbClr val="282828"/>
                </a:solidFill>
              </a:rPr>
              <a:t>right-aligned text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97C498-B08A-C0FB-F67F-AA983584EC4D}"/>
              </a:ext>
            </a:extLst>
          </p:cNvPr>
          <p:cNvSpPr txBox="1"/>
          <p:nvPr/>
        </p:nvSpPr>
        <p:spPr>
          <a:xfrm>
            <a:off x="508000" y="5715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The frames are identical, so frame mode does nothing. Text bounds moves each box so the text itself lines up.</a:t>
            </a:r>
          </a:p>
        </p:txBody>
      </p:sp>
    </p:spTree>
    <p:extLst>
      <p:ext uri="{BB962C8B-B14F-4D97-AF65-F5344CB8AC3E}">
        <p14:creationId xmlns:p14="http://schemas.microsoft.com/office/powerpoint/2010/main" val="24650767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E3479571-6DA8-61E5-1DE5-4431F770FD95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Tidy a scatter into a grid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B9D21081-DF6E-26F9-D319-FAA4CA5E17D6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all nine circles. Leave Columns blank for a near-square grid, or type 3. Then Arrange &gt; Grid.</a:t>
            </a:r>
          </a:p>
        </p:txBody>
      </p:sp>
      <p:sp>
        <p:nvSpPr>
          <p:cNvPr id="4" name="Dot0">
            <a:extLst>
              <a:ext uri="{FF2B5EF4-FFF2-40B4-BE49-F238E27FC236}">
                <a16:creationId xmlns:a16="http://schemas.microsoft.com/office/drawing/2014/main" id="{397606B1-C9DF-AC39-3FC0-BE57F2E4D8A5}"/>
              </a:ext>
            </a:extLst>
          </p:cNvPr>
          <p:cNvSpPr/>
          <p:nvPr/>
        </p:nvSpPr>
        <p:spPr>
          <a:xfrm>
            <a:off x="1524000" y="1905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Dot1">
            <a:extLst>
              <a:ext uri="{FF2B5EF4-FFF2-40B4-BE49-F238E27FC236}">
                <a16:creationId xmlns:a16="http://schemas.microsoft.com/office/drawing/2014/main" id="{3EF6AB56-374B-D874-6EA2-F587E8F80601}"/>
              </a:ext>
            </a:extLst>
          </p:cNvPr>
          <p:cNvSpPr/>
          <p:nvPr/>
        </p:nvSpPr>
        <p:spPr>
          <a:xfrm>
            <a:off x="5461000" y="2413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Dot2">
            <a:extLst>
              <a:ext uri="{FF2B5EF4-FFF2-40B4-BE49-F238E27FC236}">
                <a16:creationId xmlns:a16="http://schemas.microsoft.com/office/drawing/2014/main" id="{EC51F784-2571-22EF-82B3-092D42E3697B}"/>
              </a:ext>
            </a:extLst>
          </p:cNvPr>
          <p:cNvSpPr/>
          <p:nvPr/>
        </p:nvSpPr>
        <p:spPr>
          <a:xfrm>
            <a:off x="9652000" y="1778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7" name="Dot3">
            <a:extLst>
              <a:ext uri="{FF2B5EF4-FFF2-40B4-BE49-F238E27FC236}">
                <a16:creationId xmlns:a16="http://schemas.microsoft.com/office/drawing/2014/main" id="{FD0C3A9C-9DA3-094A-DF0C-141342C81674}"/>
              </a:ext>
            </a:extLst>
          </p:cNvPr>
          <p:cNvSpPr/>
          <p:nvPr/>
        </p:nvSpPr>
        <p:spPr>
          <a:xfrm>
            <a:off x="2413000" y="3810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8" name="Dot4">
            <a:extLst>
              <a:ext uri="{FF2B5EF4-FFF2-40B4-BE49-F238E27FC236}">
                <a16:creationId xmlns:a16="http://schemas.microsoft.com/office/drawing/2014/main" id="{7BA20AAF-1BE4-BF3A-2895-843A3097D83F}"/>
              </a:ext>
            </a:extLst>
          </p:cNvPr>
          <p:cNvSpPr/>
          <p:nvPr/>
        </p:nvSpPr>
        <p:spPr>
          <a:xfrm>
            <a:off x="6604000" y="3302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9" name="Dot5">
            <a:extLst>
              <a:ext uri="{FF2B5EF4-FFF2-40B4-BE49-F238E27FC236}">
                <a16:creationId xmlns:a16="http://schemas.microsoft.com/office/drawing/2014/main" id="{FE711F46-D6C6-749B-C018-19365D4609D1}"/>
              </a:ext>
            </a:extLst>
          </p:cNvPr>
          <p:cNvSpPr/>
          <p:nvPr/>
        </p:nvSpPr>
        <p:spPr>
          <a:xfrm>
            <a:off x="8763000" y="4191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0" name="Dot6">
            <a:extLst>
              <a:ext uri="{FF2B5EF4-FFF2-40B4-BE49-F238E27FC236}">
                <a16:creationId xmlns:a16="http://schemas.microsoft.com/office/drawing/2014/main" id="{0DE8A725-5145-8E70-4642-01CC0220C84F}"/>
              </a:ext>
            </a:extLst>
          </p:cNvPr>
          <p:cNvSpPr/>
          <p:nvPr/>
        </p:nvSpPr>
        <p:spPr>
          <a:xfrm>
            <a:off x="1397000" y="5334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1" name="Dot7">
            <a:extLst>
              <a:ext uri="{FF2B5EF4-FFF2-40B4-BE49-F238E27FC236}">
                <a16:creationId xmlns:a16="http://schemas.microsoft.com/office/drawing/2014/main" id="{8E0B51D7-92DD-6783-32E0-DCA1BA2126EB}"/>
              </a:ext>
            </a:extLst>
          </p:cNvPr>
          <p:cNvSpPr/>
          <p:nvPr/>
        </p:nvSpPr>
        <p:spPr>
          <a:xfrm>
            <a:off x="5080000" y="5080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12" name="Dot8">
            <a:extLst>
              <a:ext uri="{FF2B5EF4-FFF2-40B4-BE49-F238E27FC236}">
                <a16:creationId xmlns:a16="http://schemas.microsoft.com/office/drawing/2014/main" id="{C86ADD1B-5D8E-95CF-D76E-46731456025F}"/>
              </a:ext>
            </a:extLst>
          </p:cNvPr>
          <p:cNvSpPr/>
          <p:nvPr/>
        </p:nvSpPr>
        <p:spPr>
          <a:xfrm>
            <a:off x="10160000" y="5461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8071C2-F0E7-27EF-F5FC-4EEAF4813AD0}"/>
              </a:ext>
            </a:extLst>
          </p:cNvPr>
          <p:cNvSpPr txBox="1"/>
          <p:nvPr/>
        </p:nvSpPr>
        <p:spPr>
          <a:xfrm>
            <a:off x="508000" y="6350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Grid only repositions - sizes are left alone, so it is safe on groups too. Set Reference = Slide to spread across the whole slide.</a:t>
            </a:r>
          </a:p>
        </p:txBody>
      </p:sp>
    </p:spTree>
    <p:extLst>
      <p:ext uri="{BB962C8B-B14F-4D97-AF65-F5344CB8AC3E}">
        <p14:creationId xmlns:p14="http://schemas.microsoft.com/office/powerpoint/2010/main" val="36605548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8D0985E0-B7DF-D711-5F53-25364920EEBD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Align to the slide, or to its margins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0A1368A6-8010-A714-F1A8-27C0C2C1A34B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one shape. Reference = Slide then Align &gt; Centre. Then Reference = Slide margins with Margin = 36.</a:t>
            </a:r>
          </a:p>
        </p:txBody>
      </p:sp>
      <p:sp>
        <p:nvSpPr>
          <p:cNvPr id="4" name="Wanderer">
            <a:extLst>
              <a:ext uri="{FF2B5EF4-FFF2-40B4-BE49-F238E27FC236}">
                <a16:creationId xmlns:a16="http://schemas.microsoft.com/office/drawing/2014/main" id="{27808935-4A67-2AEA-CBCF-0C53E4F3BD83}"/>
              </a:ext>
            </a:extLst>
          </p:cNvPr>
          <p:cNvSpPr/>
          <p:nvPr/>
        </p:nvSpPr>
        <p:spPr>
          <a:xfrm>
            <a:off x="1905000" y="2540000"/>
            <a:ext cx="2794000" cy="1524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Move me</a:t>
            </a:r>
          </a:p>
        </p:txBody>
      </p:sp>
      <p:sp>
        <p:nvSpPr>
          <p:cNvPr id="5" name="Friend">
            <a:extLst>
              <a:ext uri="{FF2B5EF4-FFF2-40B4-BE49-F238E27FC236}">
                <a16:creationId xmlns:a16="http://schemas.microsoft.com/office/drawing/2014/main" id="{B1A35E15-949B-6E43-9242-5B575F05FAD0}"/>
              </a:ext>
            </a:extLst>
          </p:cNvPr>
          <p:cNvSpPr/>
          <p:nvPr/>
        </p:nvSpPr>
        <p:spPr>
          <a:xfrm>
            <a:off x="7874000" y="4318000"/>
            <a:ext cx="2032000" cy="1143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Friend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E2F00E-AA27-D958-6C40-A2F95F5C4541}"/>
              </a:ext>
            </a:extLst>
          </p:cNvPr>
          <p:cNvSpPr txBox="1"/>
          <p:nvPr/>
        </p:nvSpPr>
        <p:spPr>
          <a:xfrm>
            <a:off x="508000" y="5969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Aligning a single shape to the selection is meaningless, so AlignPro refuses it and says why. Against the slide it is perfectly meaningful, so it works.</a:t>
            </a:r>
          </a:p>
        </p:txBody>
      </p:sp>
    </p:spTree>
    <p:extLst>
      <p:ext uri="{BB962C8B-B14F-4D97-AF65-F5344CB8AC3E}">
        <p14:creationId xmlns:p14="http://schemas.microsoft.com/office/powerpoint/2010/main" val="11204904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4A6294AD-71A6-C736-C403-F6329814296F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Match rotation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471D5253-3BF1-FB12-B08A-3153531C0671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the three tilted shapes, then Ctrl+click LEVEL last. Click Match &gt; Rotation.</a:t>
            </a:r>
          </a:p>
        </p:txBody>
      </p:sp>
      <p:sp>
        <p:nvSpPr>
          <p:cNvPr id="4" name="Tilt1">
            <a:extLst>
              <a:ext uri="{FF2B5EF4-FFF2-40B4-BE49-F238E27FC236}">
                <a16:creationId xmlns:a16="http://schemas.microsoft.com/office/drawing/2014/main" id="{D4D6F389-FBFE-5CC7-B358-70D618F0FAB9}"/>
              </a:ext>
            </a:extLst>
          </p:cNvPr>
          <p:cNvSpPr/>
          <p:nvPr/>
        </p:nvSpPr>
        <p:spPr>
          <a:xfrm rot="720000">
            <a:off x="1524000" y="2286000"/>
            <a:ext cx="1778000" cy="762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5" name="Tilt2">
            <a:extLst>
              <a:ext uri="{FF2B5EF4-FFF2-40B4-BE49-F238E27FC236}">
                <a16:creationId xmlns:a16="http://schemas.microsoft.com/office/drawing/2014/main" id="{5E283E0A-1778-073C-F02F-3F83116E6344}"/>
              </a:ext>
            </a:extLst>
          </p:cNvPr>
          <p:cNvSpPr/>
          <p:nvPr/>
        </p:nvSpPr>
        <p:spPr>
          <a:xfrm rot="21060000">
            <a:off x="4191000" y="3810000"/>
            <a:ext cx="1524000" cy="889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-9</a:t>
            </a:r>
          </a:p>
        </p:txBody>
      </p:sp>
      <p:sp>
        <p:nvSpPr>
          <p:cNvPr id="6" name="Tilt3">
            <a:extLst>
              <a:ext uri="{FF2B5EF4-FFF2-40B4-BE49-F238E27FC236}">
                <a16:creationId xmlns:a16="http://schemas.microsoft.com/office/drawing/2014/main" id="{12B748A5-2C83-BE03-CAC2-D98EDF3F45FA}"/>
              </a:ext>
            </a:extLst>
          </p:cNvPr>
          <p:cNvSpPr/>
          <p:nvPr/>
        </p:nvSpPr>
        <p:spPr>
          <a:xfrm rot="1500000">
            <a:off x="1905000" y="4699000"/>
            <a:ext cx="2032000" cy="635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25</a:t>
            </a:r>
          </a:p>
        </p:txBody>
      </p:sp>
      <p:sp>
        <p:nvSpPr>
          <p:cNvPr id="7" name="Level">
            <a:extLst>
              <a:ext uri="{FF2B5EF4-FFF2-40B4-BE49-F238E27FC236}">
                <a16:creationId xmlns:a16="http://schemas.microsoft.com/office/drawing/2014/main" id="{FFF11520-84C8-2DEE-7930-E519A701C2EA}"/>
              </a:ext>
            </a:extLst>
          </p:cNvPr>
          <p:cNvSpPr/>
          <p:nvPr/>
        </p:nvSpPr>
        <p:spPr>
          <a:xfrm rot="1200000">
            <a:off x="7874000" y="3048000"/>
            <a:ext cx="2286000" cy="1143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LEVEL (20)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85568-2C03-5A12-20DC-D81079A1D166}"/>
              </a:ext>
            </a:extLst>
          </p:cNvPr>
          <p:cNvSpPr txBox="1"/>
          <p:nvPr/>
        </p:nvSpPr>
        <p:spPr>
          <a:xfrm>
            <a:off x="508000" y="57150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Each shape turns about its own centre to the anchor's angle, and nothing else changes - not its position, not its size, not a flip. Groups are fine here: turning a group does not change the spacing inside it.</a:t>
            </a:r>
          </a:p>
        </p:txBody>
      </p:sp>
    </p:spTree>
    <p:extLst>
      <p:ext uri="{BB962C8B-B14F-4D97-AF65-F5344CB8AC3E}">
        <p14:creationId xmlns:p14="http://schemas.microsoft.com/office/powerpoint/2010/main" val="23904587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DEF8642C-A567-8103-2AA2-1269F890B044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Duplicate: rows, rings and spirals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72D21161-F203-97C8-A8AC-624FF86738A2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SEED. X = 70, Y = 0, Angle = 0, Copies = 5, then Duplicate. Undo, then X = 0, Y = 0, Angle = 30, Copies = 11, Pivot = Slide centre.</a:t>
            </a:r>
          </a:p>
        </p:txBody>
      </p:sp>
      <p:sp>
        <p:nvSpPr>
          <p:cNvPr id="4" name="Seed">
            <a:extLst>
              <a:ext uri="{FF2B5EF4-FFF2-40B4-BE49-F238E27FC236}">
                <a16:creationId xmlns:a16="http://schemas.microsoft.com/office/drawing/2014/main" id="{5D8C498C-4377-A64D-2854-CC100C901F4D}"/>
              </a:ext>
            </a:extLst>
          </p:cNvPr>
          <p:cNvSpPr/>
          <p:nvPr/>
        </p:nvSpPr>
        <p:spPr>
          <a:xfrm>
            <a:off x="5778500" y="1397000"/>
            <a:ext cx="635000" cy="635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SEED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5E53E5-529B-53AE-791E-B7F693D04FDF}"/>
              </a:ext>
            </a:extLst>
          </p:cNvPr>
          <p:cNvSpPr txBox="1"/>
          <p:nvPr/>
        </p:nvSpPr>
        <p:spPr>
          <a:xfrm>
            <a:off x="508000" y="5842000"/>
            <a:ext cx="11176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One step is: turn by Angle about the Pivot, then move by X and Y. Each copy gets one more step than the one before, so X alone makes a row, Angle round a far pivot makes a ring, and both together make a spiral - try X = 12 with the ring settings. Turn Rotate shapes off and the copies stay upright as they go round. Undo removes every copy at once.</a:t>
            </a:r>
          </a:p>
        </p:txBody>
      </p:sp>
    </p:spTree>
    <p:extLst>
      <p:ext uri="{BB962C8B-B14F-4D97-AF65-F5344CB8AC3E}">
        <p14:creationId xmlns:p14="http://schemas.microsoft.com/office/powerpoint/2010/main" val="4680304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00B8D8C3-1CC6-D18C-532E-66B86E8CD67A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Distribute along a curve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668C0847-7B03-D2FB-762F-69DB3E48C373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the six beads, then Ctrl+click RING last, and Distribute &gt; Along curve. Undo, then try the arc, then the wave.</a:t>
            </a:r>
          </a:p>
        </p:txBody>
      </p:sp>
      <p:sp>
        <p:nvSpPr>
          <p:cNvPr id="4" name="Ring">
            <a:extLst>
              <a:ext uri="{FF2B5EF4-FFF2-40B4-BE49-F238E27FC236}">
                <a16:creationId xmlns:a16="http://schemas.microsoft.com/office/drawing/2014/main" id="{36054B84-A666-3A30-48BD-6BA6E65AAFCA}"/>
              </a:ext>
            </a:extLst>
          </p:cNvPr>
          <p:cNvSpPr/>
          <p:nvPr/>
        </p:nvSpPr>
        <p:spPr>
          <a:xfrm>
            <a:off x="889000" y="1524000"/>
            <a:ext cx="3048000" cy="3048000"/>
          </a:xfrm>
          <a:prstGeom prst="ellipse">
            <a:avLst/>
          </a:prstGeom>
          <a:noFill/>
          <a:ln w="25400" cap="flat" cmpd="sng" algn="ctr">
            <a:solidFill>
              <a:srgbClr val="7F7F7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Arc">
            <a:extLst>
              <a:ext uri="{FF2B5EF4-FFF2-40B4-BE49-F238E27FC236}">
                <a16:creationId xmlns:a16="http://schemas.microsoft.com/office/drawing/2014/main" id="{C681D972-A7DE-767A-4D0D-8D5684A47263}"/>
              </a:ext>
            </a:extLst>
          </p:cNvPr>
          <p:cNvSpPr/>
          <p:nvPr/>
        </p:nvSpPr>
        <p:spPr>
          <a:xfrm>
            <a:off x="4699000" y="1905001"/>
            <a:ext cx="3048000" cy="3047999"/>
          </a:xfrm>
          <a:prstGeom prst="arc">
            <a:avLst>
              <a:gd name="adj1" fmla="val 10800000"/>
              <a:gd name="adj2" fmla="val 0"/>
            </a:avLst>
          </a:prstGeom>
          <a:ln w="254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Wave">
            <a:extLst>
              <a:ext uri="{FF2B5EF4-FFF2-40B4-BE49-F238E27FC236}">
                <a16:creationId xmlns:a16="http://schemas.microsoft.com/office/drawing/2014/main" id="{54F5F6CF-AE41-4DA2-514C-051C2892FDC5}"/>
              </a:ext>
            </a:extLst>
          </p:cNvPr>
          <p:cNvSpPr/>
          <p:nvPr/>
        </p:nvSpPr>
        <p:spPr>
          <a:xfrm>
            <a:off x="8509000" y="1778000"/>
            <a:ext cx="3175001" cy="2540001"/>
          </a:xfrm>
          <a:custGeom>
            <a:avLst/>
            <a:gdLst/>
            <a:ahLst/>
            <a:cxnLst/>
            <a:rect l="0" t="0" r="0" b="0"/>
            <a:pathLst>
              <a:path w="3175001" h="2540001">
                <a:moveTo>
                  <a:pt x="0" y="2032000"/>
                </a:moveTo>
                <a:cubicBezTo>
                  <a:pt x="635000" y="0"/>
                  <a:pt x="1651000" y="0"/>
                  <a:pt x="1905000" y="1270000"/>
                </a:cubicBezTo>
                <a:cubicBezTo>
                  <a:pt x="2159000" y="2540000"/>
                  <a:pt x="2921000" y="2540000"/>
                  <a:pt x="3175000" y="508000"/>
                </a:cubicBezTo>
              </a:path>
            </a:pathLst>
          </a:custGeom>
          <a:ln w="254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Bead1">
            <a:extLst>
              <a:ext uri="{FF2B5EF4-FFF2-40B4-BE49-F238E27FC236}">
                <a16:creationId xmlns:a16="http://schemas.microsoft.com/office/drawing/2014/main" id="{96FA5A57-7976-0742-5710-4645C9FD1095}"/>
              </a:ext>
            </a:extLst>
          </p:cNvPr>
          <p:cNvSpPr/>
          <p:nvPr/>
        </p:nvSpPr>
        <p:spPr>
          <a:xfrm>
            <a:off x="1397000" y="5080000"/>
            <a:ext cx="381000" cy="381000"/>
          </a:xfrm>
          <a:prstGeom prst="round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Bead2">
            <a:extLst>
              <a:ext uri="{FF2B5EF4-FFF2-40B4-BE49-F238E27FC236}">
                <a16:creationId xmlns:a16="http://schemas.microsoft.com/office/drawing/2014/main" id="{D5428671-2EC2-472C-5329-7E94BE5AFFE6}"/>
              </a:ext>
            </a:extLst>
          </p:cNvPr>
          <p:cNvSpPr/>
          <p:nvPr/>
        </p:nvSpPr>
        <p:spPr>
          <a:xfrm>
            <a:off x="2032000" y="5080000"/>
            <a:ext cx="381000" cy="381000"/>
          </a:xfrm>
          <a:prstGeom prst="round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Bead3">
            <a:extLst>
              <a:ext uri="{FF2B5EF4-FFF2-40B4-BE49-F238E27FC236}">
                <a16:creationId xmlns:a16="http://schemas.microsoft.com/office/drawing/2014/main" id="{A47F43CA-4E4D-A0EF-006D-0CA1545B1459}"/>
              </a:ext>
            </a:extLst>
          </p:cNvPr>
          <p:cNvSpPr/>
          <p:nvPr/>
        </p:nvSpPr>
        <p:spPr>
          <a:xfrm>
            <a:off x="2667000" y="5080000"/>
            <a:ext cx="381000" cy="381000"/>
          </a:xfrm>
          <a:prstGeom prst="round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Bead4">
            <a:extLst>
              <a:ext uri="{FF2B5EF4-FFF2-40B4-BE49-F238E27FC236}">
                <a16:creationId xmlns:a16="http://schemas.microsoft.com/office/drawing/2014/main" id="{4BD1EE77-C014-E47F-5456-B6D1216BF352}"/>
              </a:ext>
            </a:extLst>
          </p:cNvPr>
          <p:cNvSpPr/>
          <p:nvPr/>
        </p:nvSpPr>
        <p:spPr>
          <a:xfrm>
            <a:off x="3302000" y="5080000"/>
            <a:ext cx="381000" cy="381000"/>
          </a:xfrm>
          <a:prstGeom prst="round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" name="Bead5">
            <a:extLst>
              <a:ext uri="{FF2B5EF4-FFF2-40B4-BE49-F238E27FC236}">
                <a16:creationId xmlns:a16="http://schemas.microsoft.com/office/drawing/2014/main" id="{63815679-0D75-E39A-CCCE-33163F870242}"/>
              </a:ext>
            </a:extLst>
          </p:cNvPr>
          <p:cNvSpPr/>
          <p:nvPr/>
        </p:nvSpPr>
        <p:spPr>
          <a:xfrm>
            <a:off x="3937000" y="5080000"/>
            <a:ext cx="381000" cy="381000"/>
          </a:xfrm>
          <a:prstGeom prst="round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2" name="Bead6">
            <a:extLst>
              <a:ext uri="{FF2B5EF4-FFF2-40B4-BE49-F238E27FC236}">
                <a16:creationId xmlns:a16="http://schemas.microsoft.com/office/drawing/2014/main" id="{B30CE0E5-8E10-62BE-2E6B-80E2A2DC50F1}"/>
              </a:ext>
            </a:extLst>
          </p:cNvPr>
          <p:cNvSpPr/>
          <p:nvPr/>
        </p:nvSpPr>
        <p:spPr>
          <a:xfrm>
            <a:off x="4572000" y="5080000"/>
            <a:ext cx="381000" cy="381000"/>
          </a:xfrm>
          <a:prstGeom prst="round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C49C3-F6B5-70A8-9FD0-BDA301798CB1}"/>
              </a:ext>
            </a:extLst>
          </p:cNvPr>
          <p:cNvSpPr txBox="1"/>
          <p:nvPr/>
        </p:nvSpPr>
        <p:spPr>
          <a:xfrm>
            <a:off x="508000" y="5715000"/>
            <a:ext cx="11176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Round an oval the beads go evenly from twelve o'clock, clockwise, with no overlap where the circle closes. Along an arc or a path they run from one end to the other. Rotate shapes (in the Duplicate group) turns each bead to follow the curve; Exact (pt) sets the distance between them. Duplicate a bead first, then distribute the copies round the ring, for a radial array.</a:t>
            </a:r>
          </a:p>
        </p:txBody>
      </p:sp>
    </p:spTree>
    <p:extLst>
      <p:ext uri="{BB962C8B-B14F-4D97-AF65-F5344CB8AC3E}">
        <p14:creationId xmlns:p14="http://schemas.microsoft.com/office/powerpoint/2010/main" val="4280688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6EE39E61-EBBD-D685-391D-F47C789BCFDE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Inside a group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789ECB06-9ADB-C7B9-45E2-567D7BBEE304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Click the panel, then click Item 1 inside it and Ctrl+click Items 2 and 3. Align &gt; Left. Undo, then Reference = Group and Align &gt; Centre.</a:t>
            </a:r>
          </a:p>
        </p:txBody>
      </p:sp>
      <p:grpSp>
        <p:nvGrpSpPr>
          <p:cNvPr id="8" name="Panel">
            <a:extLst>
              <a:ext uri="{FF2B5EF4-FFF2-40B4-BE49-F238E27FC236}">
                <a16:creationId xmlns:a16="http://schemas.microsoft.com/office/drawing/2014/main" id="{5BA2ACB2-03A4-6507-8223-BDE32F9E38FF}"/>
              </a:ext>
            </a:extLst>
          </p:cNvPr>
          <p:cNvGrpSpPr/>
          <p:nvPr/>
        </p:nvGrpSpPr>
        <p:grpSpPr>
          <a:xfrm>
            <a:off x="2794000" y="1651000"/>
            <a:ext cx="6604000" cy="3810000"/>
            <a:chOff x="2794000" y="1651000"/>
            <a:chExt cx="6604000" cy="3810000"/>
          </a:xfrm>
        </p:grpSpPr>
        <p:sp>
          <p:nvSpPr>
            <p:cNvPr id="4" name="Card">
              <a:extLst>
                <a:ext uri="{FF2B5EF4-FFF2-40B4-BE49-F238E27FC236}">
                  <a16:creationId xmlns:a16="http://schemas.microsoft.com/office/drawing/2014/main" id="{B9FE6E1E-B75F-C059-C1A3-767264C6651A}"/>
                </a:ext>
              </a:extLst>
            </p:cNvPr>
            <p:cNvSpPr/>
            <p:nvPr/>
          </p:nvSpPr>
          <p:spPr>
            <a:xfrm>
              <a:off x="2794000" y="1651000"/>
              <a:ext cx="6604000" cy="3810000"/>
            </a:xfrm>
            <a:prstGeom prst="rect">
              <a:avLst/>
            </a:prstGeom>
            <a:solidFill>
              <a:srgbClr val="DEE2E8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400" b="1">
                <a:solidFill>
                  <a:srgbClr val="FFFFFF"/>
                </a:solidFill>
              </a:endParaRPr>
            </a:p>
          </p:txBody>
        </p:sp>
        <p:sp>
          <p:nvSpPr>
            <p:cNvPr id="5" name="Item1">
              <a:extLst>
                <a:ext uri="{FF2B5EF4-FFF2-40B4-BE49-F238E27FC236}">
                  <a16:creationId xmlns:a16="http://schemas.microsoft.com/office/drawing/2014/main" id="{577230F9-EF8C-0D44-8ADF-A0F3E2838E51}"/>
                </a:ext>
              </a:extLst>
            </p:cNvPr>
            <p:cNvSpPr/>
            <p:nvPr/>
          </p:nvSpPr>
          <p:spPr>
            <a:xfrm>
              <a:off x="3302000" y="2032000"/>
              <a:ext cx="1905000" cy="635000"/>
            </a:xfrm>
            <a:prstGeom prst="rect">
              <a:avLst/>
            </a:prstGeom>
            <a:solidFill>
              <a:srgbClr val="1F77B4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b="1">
                  <a:solidFill>
                    <a:srgbClr val="FFFFFF"/>
                  </a:solidFill>
                </a:rPr>
                <a:t>Item 1</a:t>
              </a:r>
            </a:p>
          </p:txBody>
        </p:sp>
        <p:sp>
          <p:nvSpPr>
            <p:cNvPr id="6" name="Item2">
              <a:extLst>
                <a:ext uri="{FF2B5EF4-FFF2-40B4-BE49-F238E27FC236}">
                  <a16:creationId xmlns:a16="http://schemas.microsoft.com/office/drawing/2014/main" id="{6E48CA0C-4DDC-8D42-E79C-107E47228511}"/>
                </a:ext>
              </a:extLst>
            </p:cNvPr>
            <p:cNvSpPr/>
            <p:nvPr/>
          </p:nvSpPr>
          <p:spPr>
            <a:xfrm>
              <a:off x="4191000" y="3175000"/>
              <a:ext cx="2413000" cy="635000"/>
            </a:xfrm>
            <a:prstGeom prst="rect">
              <a:avLst/>
            </a:prstGeom>
            <a:solidFill>
              <a:srgbClr val="2CA02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b="1">
                  <a:solidFill>
                    <a:srgbClr val="FFFFFF"/>
                  </a:solidFill>
                </a:rPr>
                <a:t>Item 2</a:t>
              </a:r>
            </a:p>
          </p:txBody>
        </p:sp>
        <p:sp>
          <p:nvSpPr>
            <p:cNvPr id="7" name="Item3">
              <a:extLst>
                <a:ext uri="{FF2B5EF4-FFF2-40B4-BE49-F238E27FC236}">
                  <a16:creationId xmlns:a16="http://schemas.microsoft.com/office/drawing/2014/main" id="{A5DBD787-72E3-806B-DF47-81593EF642D1}"/>
                </a:ext>
              </a:extLst>
            </p:cNvPr>
            <p:cNvSpPr/>
            <p:nvPr/>
          </p:nvSpPr>
          <p:spPr>
            <a:xfrm>
              <a:off x="3683000" y="4318000"/>
              <a:ext cx="1524000" cy="635000"/>
            </a:xfrm>
            <a:prstGeom prst="rect">
              <a:avLst/>
            </a:prstGeom>
            <a:solidFill>
              <a:srgbClr val="FF7F0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b="1">
                  <a:solidFill>
                    <a:srgbClr val="FFFFFF"/>
                  </a:solidFill>
                </a:rPr>
                <a:t>Item 3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19F5F15-1230-9858-7194-0F8964A16ED8}"/>
              </a:ext>
            </a:extLst>
          </p:cNvPr>
          <p:cNvSpPr txBox="1"/>
          <p:nvPr/>
        </p:nvSpPr>
        <p:spPr>
          <a:xfrm>
            <a:off x="508000" y="5715000"/>
            <a:ext cx="11176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Shapes picked inside a group are aligned on their own, and the group stays a group. Select the whole panel instead and it moves as one piece. Reference = Group measures against the group's edges - here the grey card's - and needs only one shape: try centring Item 2 alone. Order and Duplicate work in here too, and copies stay in the group.</a:t>
            </a:r>
          </a:p>
        </p:txBody>
      </p:sp>
    </p:spTree>
    <p:extLst>
      <p:ext uri="{BB962C8B-B14F-4D97-AF65-F5344CB8AC3E}">
        <p14:creationId xmlns:p14="http://schemas.microsoft.com/office/powerpoint/2010/main" val="42344741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235FB603-6F81-B50C-6CA2-2CD07300E426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Inside a rotated group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D8259570-2BAA-BD8A-0041-6D414424CE1C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Click the tilted panel, then pick Items 1 to 3 inside it. Align &gt; Left: they line up along the panel's edge, not the slide's.</a:t>
            </a:r>
          </a:p>
        </p:txBody>
      </p:sp>
      <p:grpSp>
        <p:nvGrpSpPr>
          <p:cNvPr id="8" name="TiltPanel">
            <a:extLst>
              <a:ext uri="{FF2B5EF4-FFF2-40B4-BE49-F238E27FC236}">
                <a16:creationId xmlns:a16="http://schemas.microsoft.com/office/drawing/2014/main" id="{F86D84E3-129B-5519-3939-358DFD878D30}"/>
              </a:ext>
            </a:extLst>
          </p:cNvPr>
          <p:cNvGrpSpPr/>
          <p:nvPr/>
        </p:nvGrpSpPr>
        <p:grpSpPr>
          <a:xfrm rot="900000">
            <a:off x="2921000" y="1905000"/>
            <a:ext cx="6350000" cy="3302000"/>
            <a:chOff x="2921000" y="1905000"/>
            <a:chExt cx="6350000" cy="3302000"/>
          </a:xfrm>
        </p:grpSpPr>
        <p:sp>
          <p:nvSpPr>
            <p:cNvPr id="4" name="TiltCard">
              <a:extLst>
                <a:ext uri="{FF2B5EF4-FFF2-40B4-BE49-F238E27FC236}">
                  <a16:creationId xmlns:a16="http://schemas.microsoft.com/office/drawing/2014/main" id="{520FAA42-FBF9-E327-D88C-FA5293B5E3F3}"/>
                </a:ext>
              </a:extLst>
            </p:cNvPr>
            <p:cNvSpPr/>
            <p:nvPr/>
          </p:nvSpPr>
          <p:spPr>
            <a:xfrm>
              <a:off x="2921000" y="1905000"/>
              <a:ext cx="6350000" cy="3302000"/>
            </a:xfrm>
            <a:prstGeom prst="rect">
              <a:avLst/>
            </a:prstGeom>
            <a:solidFill>
              <a:srgbClr val="DEE2E8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400" b="1">
                <a:solidFill>
                  <a:srgbClr val="FFFFFF"/>
                </a:solidFill>
              </a:endParaRPr>
            </a:p>
          </p:txBody>
        </p:sp>
        <p:sp>
          <p:nvSpPr>
            <p:cNvPr id="5" name="TiltItem1">
              <a:extLst>
                <a:ext uri="{FF2B5EF4-FFF2-40B4-BE49-F238E27FC236}">
                  <a16:creationId xmlns:a16="http://schemas.microsoft.com/office/drawing/2014/main" id="{5DA095F8-D51E-8483-9966-AA1EE0FAB883}"/>
                </a:ext>
              </a:extLst>
            </p:cNvPr>
            <p:cNvSpPr/>
            <p:nvPr/>
          </p:nvSpPr>
          <p:spPr>
            <a:xfrm>
              <a:off x="3429000" y="2222500"/>
              <a:ext cx="1905000" cy="635000"/>
            </a:xfrm>
            <a:prstGeom prst="rect">
              <a:avLst/>
            </a:prstGeom>
            <a:solidFill>
              <a:srgbClr val="1F77B4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b="1">
                  <a:solidFill>
                    <a:srgbClr val="FFFFFF"/>
                  </a:solidFill>
                </a:rPr>
                <a:t>Item 1</a:t>
              </a:r>
            </a:p>
          </p:txBody>
        </p:sp>
        <p:sp>
          <p:nvSpPr>
            <p:cNvPr id="6" name="TiltItem2">
              <a:extLst>
                <a:ext uri="{FF2B5EF4-FFF2-40B4-BE49-F238E27FC236}">
                  <a16:creationId xmlns:a16="http://schemas.microsoft.com/office/drawing/2014/main" id="{AC5E17F1-634A-3543-E7D6-28938428847F}"/>
                </a:ext>
              </a:extLst>
            </p:cNvPr>
            <p:cNvSpPr/>
            <p:nvPr/>
          </p:nvSpPr>
          <p:spPr>
            <a:xfrm>
              <a:off x="4318000" y="3238500"/>
              <a:ext cx="2413000" cy="635000"/>
            </a:xfrm>
            <a:prstGeom prst="rect">
              <a:avLst/>
            </a:prstGeom>
            <a:solidFill>
              <a:srgbClr val="2CA02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b="1">
                  <a:solidFill>
                    <a:srgbClr val="FFFFFF"/>
                  </a:solidFill>
                </a:rPr>
                <a:t>Item 2</a:t>
              </a:r>
            </a:p>
          </p:txBody>
        </p:sp>
        <p:sp>
          <p:nvSpPr>
            <p:cNvPr id="7" name="TiltItem3">
              <a:extLst>
                <a:ext uri="{FF2B5EF4-FFF2-40B4-BE49-F238E27FC236}">
                  <a16:creationId xmlns:a16="http://schemas.microsoft.com/office/drawing/2014/main" id="{E37839A2-D5CC-B814-8824-50EC94A47436}"/>
                </a:ext>
              </a:extLst>
            </p:cNvPr>
            <p:cNvSpPr/>
            <p:nvPr/>
          </p:nvSpPr>
          <p:spPr>
            <a:xfrm>
              <a:off x="3810000" y="4254500"/>
              <a:ext cx="1524000" cy="635000"/>
            </a:xfrm>
            <a:prstGeom prst="rect">
              <a:avLst/>
            </a:prstGeom>
            <a:solidFill>
              <a:srgbClr val="FF7F0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b="1">
                  <a:solidFill>
                    <a:srgbClr val="FFFFFF"/>
                  </a:solidFill>
                </a:rPr>
                <a:t>Item 3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2E5E971-F32A-5EE6-EA47-B1D1372F1A55}"/>
              </a:ext>
            </a:extLst>
          </p:cNvPr>
          <p:cNvSpPr txBox="1"/>
          <p:nvPr/>
        </p:nvSpPr>
        <p:spPr>
          <a:xfrm>
            <a:off x="508000" y="58420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Inside a rotated group, left, top, centre and spacing all follow the group's own edges. Reference = Group works too. Slide, Slide margins, Content placeholder and Measure = Text bounds are refused here, because they run along the slide instead.</a:t>
            </a:r>
          </a:p>
        </p:txBody>
      </p:sp>
    </p:spTree>
    <p:extLst>
      <p:ext uri="{BB962C8B-B14F-4D97-AF65-F5344CB8AC3E}">
        <p14:creationId xmlns:p14="http://schemas.microsoft.com/office/powerpoint/2010/main" val="6168115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1705</Words>
  <Application>Microsoft Office PowerPoint</Application>
  <PresentationFormat>Widescreen</PresentationFormat>
  <Paragraphs>128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 Renoden</dc:creator>
  <cp:lastModifiedBy>Mark Renoden</cp:lastModifiedBy>
  <cp:revision>1</cp:revision>
  <dcterms:created xsi:type="dcterms:W3CDTF">2026-10-08T00:06:57Z</dcterms:created>
  <dcterms:modified xsi:type="dcterms:W3CDTF">2026-10-08T00:06:57Z</dcterms:modified>
</cp:coreProperties>
</file>