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10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EC77E-BFAA-2875-1E2D-6B028BD1D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9C06B-8050-675E-6167-837D8D130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3654-A0E3-6699-1096-E7642126C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4BB86-6D73-57C6-B745-0DCFCBD92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9446A1-2E1A-FD7D-EE64-37E156839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454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FFBE-95F0-2057-131A-6BC52524D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3B2D5-F376-E6A4-7D7E-67A1DB6D3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90810-B2BE-4C72-D3D9-A4252ED08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1083B-E91C-8EC6-DBC5-E5A647867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03562-32F7-3E4B-FB1E-99F1F0A15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371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B0AE-57DA-33CE-ABC4-E2C8BE7F1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0D8C2-FDFE-F29F-334C-DD603F66C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3EAA0-23B4-AEEC-0279-2327BD1A6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1FA2-09C2-6E2F-2703-87545E6B6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16AF0-6433-1599-8A9F-925D5CFBF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128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CC3A0-1ECE-2CB3-3CD1-93C2B3A88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5D113-2DEA-4B04-01FF-855502852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4BD10-EAB4-E4BB-7661-523A2DE6FC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1C7A0-B7F1-F2DF-45F7-EDCB80DA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2A33A1-C17A-BE38-8CD9-073BBDA4A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919DC-2D11-3EAF-AC3D-30955D92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2761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4346B-8520-7805-F583-47876AAA0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E6B56-C0C7-F9E3-6456-E3B118938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3F6028-5ECD-3A67-F304-3DCBB08E64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BB2C2F-620B-85A2-5F30-E11B9307BD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9B7FF-C284-F510-A7A8-5CD29D7DA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F6C9AF-3C5D-7CCE-A116-3C119CDFF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7B9484-2F42-E356-8025-9E4C6094C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E31AA-5BE3-3152-79B4-FC9BEFAE6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7493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1E75-D9CF-FF3B-65A2-074E422DE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02ED5C-AB93-C4A3-3260-A7A7B1ABF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1B8F7-7BB5-3BF3-2BB8-659AC2326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C07EB8-ECF2-5914-500A-A6CEE80DF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0874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8EA94C-D041-13EF-0666-F5FB5A7BF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C79C94-40F6-7815-1F86-41F3BF03D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79046-BAB4-FEE7-1891-63EE04F3B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210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8D8F1-8858-E827-2459-E57D1F1AB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43DD9-96C0-FD37-BF77-5D56B27DC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52D90-96F9-D45D-B47C-339430458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E5E768-8C87-C8DB-83DC-9EEFCFF0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15AB34-15C0-FD51-C9B5-DDAADF14C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136DA1-8D3C-9773-CB9A-80279814C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35984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8E02F-8825-959E-63FB-EDAC917FB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8E6474-FD4B-B26C-5508-02561E938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1DA39B-0CD0-7586-78E1-7D6E345E5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A7480-7C6B-26F4-5F32-AF493856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8CD120-B71A-D58F-AD4F-55E69EE1B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C459-8EBD-2094-B9D0-5DCDEBCB5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30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12DC4-89EF-D668-B438-5E0C8119E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F6FE7-941E-AF02-8E0E-0337CAC23C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88BD6-85F4-2805-DE31-5FB34220A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B4041-B03F-4AA2-D288-3B0208A67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14F442-8E17-DEB7-3AC3-DD1E408D5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7727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437BFE-B3CA-BE87-FF0E-518833C00A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E9EA55-4CD3-FFB6-8645-AD19C9FB1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D879F-51F2-EF4E-C0D8-3099A1B3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BEFCB-F23E-0D87-44C3-3AD7DDFB0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5508E-252A-7F45-3645-6A392409A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34542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72C24E-4E07-5AEC-1BAA-1AF0208E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7F556-2718-677A-C8B8-A38695699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C3F45-84D9-B81D-24A3-DB6A5AE55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DDE284-78A4-49CA-804C-6A9295C02157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A2E20-E2AE-46DA-50EE-2205A3C32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D0795-2B7D-1971-B894-C0E24F42F8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635631-434B-460F-812D-B1531B39C8B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9906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F7A1C717-B700-BC40-8403-100BA89053D2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AlignPro sample deck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18E8C144-20C3-36AC-73B1-51B5DB299C1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Each slide says what to try. Nothing here is precious - edit it freely and save over it if you like.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14EE38-21A5-FDE2-B7AC-C66CE5FFA9B0}"/>
              </a:ext>
            </a:extLst>
          </p:cNvPr>
          <p:cNvSpPr txBox="1"/>
          <p:nvPr/>
        </p:nvSpPr>
        <p:spPr>
          <a:xfrm>
            <a:off x="762000" y="1651000"/>
            <a:ext cx="10668000" cy="35548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500">
                <a:solidFill>
                  <a:srgbClr val="282828"/>
                </a:solidFill>
              </a:rPr>
              <a:t>The AlignPro tab is on the ribbon.
Two dropdowns carry the state the six align buttons are crossed with:
    Reference  -  what to align against: the anchor shape, the selection, the slide, the
                  slide margins, or the layout's content placeholder.
    Measure    -  which rectangle to align: the shape frame (what PowerPoint itself uses,
                  which ignores rotation), the visual bounds (what you actually see), or
                  the text inside.
Undo is PowerPoint's own - Ctrl+Z, the ribbon button and the Quick Access Toolbar all
reverse exactly one AlignPro command.
Slide 2 is the one to try first. It is the reason this add-in exists.</a:t>
            </a:r>
          </a:p>
        </p:txBody>
      </p:sp>
    </p:spTree>
    <p:extLst>
      <p:ext uri="{BB962C8B-B14F-4D97-AF65-F5344CB8AC3E}">
        <p14:creationId xmlns:p14="http://schemas.microsoft.com/office/powerpoint/2010/main" val="3546679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DDA39E9-1DF5-8E7E-CF47-390B55A8B7E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Rotation: the case PowerPoint gets wrong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2450E790-BF54-F559-C128-DACFF3ED53E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four. Align &gt; Left with Measure = Shape frame, undo, then again with Measure = Visual bounds.</a:t>
            </a:r>
          </a:p>
        </p:txBody>
      </p:sp>
      <p:sp>
        <p:nvSpPr>
          <p:cNvPr id="4" name="Plain1">
            <a:extLst>
              <a:ext uri="{FF2B5EF4-FFF2-40B4-BE49-F238E27FC236}">
                <a16:creationId xmlns:a16="http://schemas.microsoft.com/office/drawing/2014/main" id="{3FE11738-77DB-40A9-5EBE-A18BBCFDB884}"/>
              </a:ext>
            </a:extLst>
          </p:cNvPr>
          <p:cNvSpPr/>
          <p:nvPr/>
        </p:nvSpPr>
        <p:spPr>
          <a:xfrm>
            <a:off x="1778000" y="1905000"/>
            <a:ext cx="1905000" cy="1016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Plain1</a:t>
            </a:r>
          </a:p>
        </p:txBody>
      </p:sp>
      <p:sp>
        <p:nvSpPr>
          <p:cNvPr id="5" name="Tall">
            <a:extLst>
              <a:ext uri="{FF2B5EF4-FFF2-40B4-BE49-F238E27FC236}">
                <a16:creationId xmlns:a16="http://schemas.microsoft.com/office/drawing/2014/main" id="{E07990BE-8418-6269-D42A-7D40CF0056EE}"/>
              </a:ext>
            </a:extLst>
          </p:cNvPr>
          <p:cNvSpPr/>
          <p:nvPr/>
        </p:nvSpPr>
        <p:spPr>
          <a:xfrm>
            <a:off x="4191000" y="3302000"/>
            <a:ext cx="1143000" cy="1905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Tall</a:t>
            </a:r>
          </a:p>
        </p:txBody>
      </p:sp>
      <p:sp>
        <p:nvSpPr>
          <p:cNvPr id="6" name="Rotated">
            <a:extLst>
              <a:ext uri="{FF2B5EF4-FFF2-40B4-BE49-F238E27FC236}">
                <a16:creationId xmlns:a16="http://schemas.microsoft.com/office/drawing/2014/main" id="{47BD9F65-0107-5C40-EC77-C6113BB5E0A3}"/>
              </a:ext>
            </a:extLst>
          </p:cNvPr>
          <p:cNvSpPr/>
          <p:nvPr/>
        </p:nvSpPr>
        <p:spPr>
          <a:xfrm rot="1800000">
            <a:off x="6604000" y="2032000"/>
            <a:ext cx="2286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Rotated 30</a:t>
            </a:r>
          </a:p>
        </p:txBody>
      </p:sp>
      <p:sp>
        <p:nvSpPr>
          <p:cNvPr id="7" name="Plain2">
            <a:extLst>
              <a:ext uri="{FF2B5EF4-FFF2-40B4-BE49-F238E27FC236}">
                <a16:creationId xmlns:a16="http://schemas.microsoft.com/office/drawing/2014/main" id="{1E351D04-9377-ABCC-9613-D7EBBA0BDD7A}"/>
              </a:ext>
            </a:extLst>
          </p:cNvPr>
          <p:cNvSpPr/>
          <p:nvPr/>
        </p:nvSpPr>
        <p:spPr>
          <a:xfrm>
            <a:off x="9398000" y="4191000"/>
            <a:ext cx="1651000" cy="889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Plain2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B0A5B-981D-754D-7CCF-90CEEB36CEB3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In frame mode the rotated shape looks wrong, because PowerPoint aligns an unrotated rectangle it never draws. Visual bounds fixes it.</a:t>
            </a:r>
          </a:p>
        </p:txBody>
      </p:sp>
    </p:spTree>
    <p:extLst>
      <p:ext uri="{BB962C8B-B14F-4D97-AF65-F5344CB8AC3E}">
        <p14:creationId xmlns:p14="http://schemas.microsoft.com/office/powerpoint/2010/main" val="2971739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1FE37963-9FAC-BFFB-6550-2E8D9B3EE442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an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17114A22-8496-37A3-EA1A-7BAD9249E54A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Set Reference = Anchor. Select the three small shapes, then Ctrl+click BIG ANCHOR last, and Align &gt; Left.</a:t>
            </a:r>
          </a:p>
        </p:txBody>
      </p:sp>
      <p:sp>
        <p:nvSpPr>
          <p:cNvPr id="4" name="Small1">
            <a:extLst>
              <a:ext uri="{FF2B5EF4-FFF2-40B4-BE49-F238E27FC236}">
                <a16:creationId xmlns:a16="http://schemas.microsoft.com/office/drawing/2014/main" id="{C72091D7-D271-4A54-4540-134CFB34A198}"/>
              </a:ext>
            </a:extLst>
          </p:cNvPr>
          <p:cNvSpPr/>
          <p:nvPr/>
        </p:nvSpPr>
        <p:spPr>
          <a:xfrm>
            <a:off x="1524000" y="2159000"/>
            <a:ext cx="1397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Small1</a:t>
            </a:r>
          </a:p>
        </p:txBody>
      </p:sp>
      <p:sp>
        <p:nvSpPr>
          <p:cNvPr id="5" name="Small2">
            <a:extLst>
              <a:ext uri="{FF2B5EF4-FFF2-40B4-BE49-F238E27FC236}">
                <a16:creationId xmlns:a16="http://schemas.microsoft.com/office/drawing/2014/main" id="{10363F41-A6F0-1079-1E84-D985F34A23CE}"/>
              </a:ext>
            </a:extLst>
          </p:cNvPr>
          <p:cNvSpPr/>
          <p:nvPr/>
        </p:nvSpPr>
        <p:spPr>
          <a:xfrm>
            <a:off x="3175000" y="3302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Small2</a:t>
            </a:r>
          </a:p>
        </p:txBody>
      </p:sp>
      <p:sp>
        <p:nvSpPr>
          <p:cNvPr id="6" name="Small3">
            <a:extLst>
              <a:ext uri="{FF2B5EF4-FFF2-40B4-BE49-F238E27FC236}">
                <a16:creationId xmlns:a16="http://schemas.microsoft.com/office/drawing/2014/main" id="{2EF65603-920D-53A7-DFF5-FA42AD59963F}"/>
              </a:ext>
            </a:extLst>
          </p:cNvPr>
          <p:cNvSpPr/>
          <p:nvPr/>
        </p:nvSpPr>
        <p:spPr>
          <a:xfrm>
            <a:off x="2286000" y="4445000"/>
            <a:ext cx="1397000" cy="762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Small3</a:t>
            </a:r>
          </a:p>
        </p:txBody>
      </p:sp>
      <p:sp>
        <p:nvSpPr>
          <p:cNvPr id="7" name="Anchor">
            <a:extLst>
              <a:ext uri="{FF2B5EF4-FFF2-40B4-BE49-F238E27FC236}">
                <a16:creationId xmlns:a16="http://schemas.microsoft.com/office/drawing/2014/main" id="{9ED3A2A8-F0A1-5FE2-527A-86AEC0012BAE}"/>
              </a:ext>
            </a:extLst>
          </p:cNvPr>
          <p:cNvSpPr/>
          <p:nvPr/>
        </p:nvSpPr>
        <p:spPr>
          <a:xfrm>
            <a:off x="7112000" y="2540000"/>
            <a:ext cx="3556000" cy="2540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BIG ANCHOR</a:t>
            </a:r>
          </a:p>
        </p:txBody>
      </p:sp>
    </p:spTree>
    <p:extLst>
      <p:ext uri="{BB962C8B-B14F-4D97-AF65-F5344CB8AC3E}">
        <p14:creationId xmlns:p14="http://schemas.microsoft.com/office/powerpoint/2010/main" val="261857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9AD8B2A7-82D1-53EE-1289-AC1EDB138B55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Distribute: four modes, four answers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B6F959C0-1D56-9A18-14A4-700213B1D995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five. Try Distribute &gt; Horizontally with each Space by setting. Widths differ, so all four differ.</a:t>
            </a:r>
          </a:p>
        </p:txBody>
      </p:sp>
      <p:sp>
        <p:nvSpPr>
          <p:cNvPr id="4" name="W200">
            <a:extLst>
              <a:ext uri="{FF2B5EF4-FFF2-40B4-BE49-F238E27FC236}">
                <a16:creationId xmlns:a16="http://schemas.microsoft.com/office/drawing/2014/main" id="{7E515EEC-88E6-CB8A-32C1-8E9C5B4F6B76}"/>
              </a:ext>
            </a:extLst>
          </p:cNvPr>
          <p:cNvSpPr/>
          <p:nvPr/>
        </p:nvSpPr>
        <p:spPr>
          <a:xfrm>
            <a:off x="635000" y="3175000"/>
            <a:ext cx="2540000" cy="1143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5" name="W60">
            <a:extLst>
              <a:ext uri="{FF2B5EF4-FFF2-40B4-BE49-F238E27FC236}">
                <a16:creationId xmlns:a16="http://schemas.microsoft.com/office/drawing/2014/main" id="{A4016496-3BDD-7698-928B-DF886F336FCB}"/>
              </a:ext>
            </a:extLst>
          </p:cNvPr>
          <p:cNvSpPr/>
          <p:nvPr/>
        </p:nvSpPr>
        <p:spPr>
          <a:xfrm>
            <a:off x="3810000" y="3175000"/>
            <a:ext cx="762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6" name="W120">
            <a:extLst>
              <a:ext uri="{FF2B5EF4-FFF2-40B4-BE49-F238E27FC236}">
                <a16:creationId xmlns:a16="http://schemas.microsoft.com/office/drawing/2014/main" id="{4D19D1A4-4987-BAA2-3429-4542273C33B8}"/>
              </a:ext>
            </a:extLst>
          </p:cNvPr>
          <p:cNvSpPr/>
          <p:nvPr/>
        </p:nvSpPr>
        <p:spPr>
          <a:xfrm>
            <a:off x="5334000" y="3175000"/>
            <a:ext cx="1524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120</a:t>
            </a:r>
          </a:p>
        </p:txBody>
      </p:sp>
      <p:sp>
        <p:nvSpPr>
          <p:cNvPr id="7" name="W40">
            <a:extLst>
              <a:ext uri="{FF2B5EF4-FFF2-40B4-BE49-F238E27FC236}">
                <a16:creationId xmlns:a16="http://schemas.microsoft.com/office/drawing/2014/main" id="{F7A19768-7A95-167A-D124-13A2D388892E}"/>
              </a:ext>
            </a:extLst>
          </p:cNvPr>
          <p:cNvSpPr/>
          <p:nvPr/>
        </p:nvSpPr>
        <p:spPr>
          <a:xfrm>
            <a:off x="7874000" y="3175000"/>
            <a:ext cx="508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8" name="W150">
            <a:extLst>
              <a:ext uri="{FF2B5EF4-FFF2-40B4-BE49-F238E27FC236}">
                <a16:creationId xmlns:a16="http://schemas.microsoft.com/office/drawing/2014/main" id="{F9D92E0B-7D21-2486-23AC-767D61DFEED6}"/>
              </a:ext>
            </a:extLst>
          </p:cNvPr>
          <p:cNvSpPr/>
          <p:nvPr/>
        </p:nvSpPr>
        <p:spPr>
          <a:xfrm>
            <a:off x="9652000" y="3175000"/>
            <a:ext cx="1905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150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7615B-D933-641D-305F-5A3F7F6918EF}"/>
              </a:ext>
            </a:extLst>
          </p:cNvPr>
          <p:cNvSpPr txBox="1"/>
          <p:nvPr/>
        </p:nvSpPr>
        <p:spPr>
          <a:xfrm>
            <a:off x="508000" y="4826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Leading edges lines up the left edges at an even pitch. Centres evens the centres. Trailing edges evens the right edges. Space between evens the visible gaps - the only one of the four that does.</a:t>
            </a:r>
          </a:p>
        </p:txBody>
      </p:sp>
    </p:spTree>
    <p:extLst>
      <p:ext uri="{BB962C8B-B14F-4D97-AF65-F5344CB8AC3E}">
        <p14:creationId xmlns:p14="http://schemas.microsoft.com/office/powerpoint/2010/main" val="260070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BC2FE07A-C0DA-E46F-D561-D2F4291B1260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Exact spacing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AF3F2D7-BE96-E554-D996-2D9EB4DC610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four, put 12 in the Exact (pt) box, Space by = Space between, then Distribute &gt; Horizontally.</a:t>
            </a:r>
          </a:p>
        </p:txBody>
      </p:sp>
      <p:sp>
        <p:nvSpPr>
          <p:cNvPr id="4" name="Gap0">
            <a:extLst>
              <a:ext uri="{FF2B5EF4-FFF2-40B4-BE49-F238E27FC236}">
                <a16:creationId xmlns:a16="http://schemas.microsoft.com/office/drawing/2014/main" id="{3F8658EA-7731-6724-E466-94BDDDE387ED}"/>
              </a:ext>
            </a:extLst>
          </p:cNvPr>
          <p:cNvSpPr/>
          <p:nvPr/>
        </p:nvSpPr>
        <p:spPr>
          <a:xfrm>
            <a:off x="1016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5" name="Gap1">
            <a:extLst>
              <a:ext uri="{FF2B5EF4-FFF2-40B4-BE49-F238E27FC236}">
                <a16:creationId xmlns:a16="http://schemas.microsoft.com/office/drawing/2014/main" id="{7CA08527-592B-F4E1-840E-A22891CA77CF}"/>
              </a:ext>
            </a:extLst>
          </p:cNvPr>
          <p:cNvSpPr/>
          <p:nvPr/>
        </p:nvSpPr>
        <p:spPr>
          <a:xfrm>
            <a:off x="3429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6" name="Gap2">
            <a:extLst>
              <a:ext uri="{FF2B5EF4-FFF2-40B4-BE49-F238E27FC236}">
                <a16:creationId xmlns:a16="http://schemas.microsoft.com/office/drawing/2014/main" id="{DCCA2B29-A227-0608-86C0-23164387F313}"/>
              </a:ext>
            </a:extLst>
          </p:cNvPr>
          <p:cNvSpPr/>
          <p:nvPr/>
        </p:nvSpPr>
        <p:spPr>
          <a:xfrm>
            <a:off x="5842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7" name="Gap3">
            <a:extLst>
              <a:ext uri="{FF2B5EF4-FFF2-40B4-BE49-F238E27FC236}">
                <a16:creationId xmlns:a16="http://schemas.microsoft.com/office/drawing/2014/main" id="{551034EB-CB3A-3CBF-54FD-65144CB7743C}"/>
              </a:ext>
            </a:extLst>
          </p:cNvPr>
          <p:cNvSpPr/>
          <p:nvPr/>
        </p:nvSpPr>
        <p:spPr>
          <a:xfrm>
            <a:off x="8255000" y="3048000"/>
            <a:ext cx="1524000" cy="1270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544001-9FD2-9756-387C-8BF4339F1DC7}"/>
              </a:ext>
            </a:extLst>
          </p:cNvPr>
          <p:cNvSpPr txBox="1"/>
          <p:nvPr/>
        </p:nvSpPr>
        <p:spPr>
          <a:xfrm>
            <a:off x="508000" y="4826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Clear the box again to go back to evening out whatever space is already there. In the edge and centre modes the number is a pitch, not a gap.</a:t>
            </a:r>
          </a:p>
        </p:txBody>
      </p:sp>
    </p:spTree>
    <p:extLst>
      <p:ext uri="{BB962C8B-B14F-4D97-AF65-F5344CB8AC3E}">
        <p14:creationId xmlns:p14="http://schemas.microsoft.com/office/powerpoint/2010/main" val="2752815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D7C9E300-75A8-A200-A83D-7BCD4C02382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to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DB9CD109-C1C2-81FB-CCED-D4051A1D314D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odd shapes, then Ctrl+click TARGET last. Match &gt; Both. Try the From centre toggle too.</a:t>
            </a:r>
          </a:p>
        </p:txBody>
      </p:sp>
      <p:sp>
        <p:nvSpPr>
          <p:cNvPr id="4" name="Odd1">
            <a:extLst>
              <a:ext uri="{FF2B5EF4-FFF2-40B4-BE49-F238E27FC236}">
                <a16:creationId xmlns:a16="http://schemas.microsoft.com/office/drawing/2014/main" id="{72825E67-862D-B4FB-BC97-E0471427C1BD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Odd1</a:t>
            </a:r>
          </a:p>
        </p:txBody>
      </p:sp>
      <p:sp>
        <p:nvSpPr>
          <p:cNvPr id="5" name="Odd2">
            <a:extLst>
              <a:ext uri="{FF2B5EF4-FFF2-40B4-BE49-F238E27FC236}">
                <a16:creationId xmlns:a16="http://schemas.microsoft.com/office/drawing/2014/main" id="{2D4F2370-1FC0-F6F5-1894-36C9D4661723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Odd2</a:t>
            </a:r>
          </a:p>
        </p:txBody>
      </p:sp>
      <p:sp>
        <p:nvSpPr>
          <p:cNvPr id="6" name="Odd3">
            <a:extLst>
              <a:ext uri="{FF2B5EF4-FFF2-40B4-BE49-F238E27FC236}">
                <a16:creationId xmlns:a16="http://schemas.microsoft.com/office/drawing/2014/main" id="{8F3C72B1-32D3-DADF-75B3-7ACAA3AF4783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Odd3</a:t>
            </a:r>
          </a:p>
        </p:txBody>
      </p:sp>
      <p:sp>
        <p:nvSpPr>
          <p:cNvPr id="7" name="Target">
            <a:extLst>
              <a:ext uri="{FF2B5EF4-FFF2-40B4-BE49-F238E27FC236}">
                <a16:creationId xmlns:a16="http://schemas.microsoft.com/office/drawing/2014/main" id="{0D5E0F19-B6E2-4EA6-6EA5-698758B5408B}"/>
              </a:ext>
            </a:extLst>
          </p:cNvPr>
          <p:cNvSpPr/>
          <p:nvPr/>
        </p:nvSpPr>
        <p:spPr>
          <a:xfrm>
            <a:off x="7620000" y="2921000"/>
            <a:ext cx="2540000" cy="1524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</p:spTree>
    <p:extLst>
      <p:ext uri="{BB962C8B-B14F-4D97-AF65-F5344CB8AC3E}">
        <p14:creationId xmlns:p14="http://schemas.microsoft.com/office/powerpoint/2010/main" val="416029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DC03D324-67F6-07EE-0FA8-6A9E166C6343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Order: stack in the order you select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F59C305E-F6B2-28F8-1258-71491A9F75F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Card 1, Ctrl+click Card 2 then Card 3 to add them, then click Order &gt; Stack. Card 1 ends on top.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EAD2D035-0BED-C626-6CB9-60A289E281F4}"/>
              </a:ext>
            </a:extLst>
          </p:cNvPr>
          <p:cNvSpPr/>
          <p:nvPr/>
        </p:nvSpPr>
        <p:spPr>
          <a:xfrm>
            <a:off x="1905000" y="2159000"/>
            <a:ext cx="2794000" cy="2159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1</a:t>
            </a:r>
          </a:p>
        </p:txBody>
      </p:sp>
      <p:sp>
        <p:nvSpPr>
          <p:cNvPr id="5" name="BarA">
            <a:extLst>
              <a:ext uri="{FF2B5EF4-FFF2-40B4-BE49-F238E27FC236}">
                <a16:creationId xmlns:a16="http://schemas.microsoft.com/office/drawing/2014/main" id="{D3E8B5E9-A3BE-1D80-DBB5-C3A0C86B13D3}"/>
              </a:ext>
            </a:extLst>
          </p:cNvPr>
          <p:cNvSpPr/>
          <p:nvPr/>
        </p:nvSpPr>
        <p:spPr>
          <a:xfrm>
            <a:off x="4191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6" name="Card2">
            <a:extLst>
              <a:ext uri="{FF2B5EF4-FFF2-40B4-BE49-F238E27FC236}">
                <a16:creationId xmlns:a16="http://schemas.microsoft.com/office/drawing/2014/main" id="{48CFE070-1FE4-B764-DF53-AF28DCEFB976}"/>
              </a:ext>
            </a:extLst>
          </p:cNvPr>
          <p:cNvSpPr/>
          <p:nvPr/>
        </p:nvSpPr>
        <p:spPr>
          <a:xfrm>
            <a:off x="4318000" y="2667000"/>
            <a:ext cx="2794000" cy="2159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2</a:t>
            </a:r>
          </a:p>
        </p:txBody>
      </p:sp>
      <p:sp>
        <p:nvSpPr>
          <p:cNvPr id="7" name="BarB">
            <a:extLst>
              <a:ext uri="{FF2B5EF4-FFF2-40B4-BE49-F238E27FC236}">
                <a16:creationId xmlns:a16="http://schemas.microsoft.com/office/drawing/2014/main" id="{9630613B-2F15-FBFA-0359-FE150955A4C4}"/>
              </a:ext>
            </a:extLst>
          </p:cNvPr>
          <p:cNvSpPr/>
          <p:nvPr/>
        </p:nvSpPr>
        <p:spPr>
          <a:xfrm>
            <a:off x="6604000" y="1778000"/>
            <a:ext cx="508000" cy="3175000"/>
          </a:xfrm>
          <a:prstGeom prst="rect">
            <a:avLst/>
          </a:prstGeom>
          <a:solidFill>
            <a:srgbClr val="7F7F7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400" b="1">
              <a:solidFill>
                <a:srgbClr val="FFFFFF"/>
              </a:solidFill>
            </a:endParaRPr>
          </a:p>
        </p:txBody>
      </p:sp>
      <p:sp>
        <p:nvSpPr>
          <p:cNvPr id="8" name="Card3">
            <a:extLst>
              <a:ext uri="{FF2B5EF4-FFF2-40B4-BE49-F238E27FC236}">
                <a16:creationId xmlns:a16="http://schemas.microsoft.com/office/drawing/2014/main" id="{30F42D4E-C5EE-086B-C0DF-2A30A294664F}"/>
              </a:ext>
            </a:extLst>
          </p:cNvPr>
          <p:cNvSpPr/>
          <p:nvPr/>
        </p:nvSpPr>
        <p:spPr>
          <a:xfrm>
            <a:off x="6731000" y="2159000"/>
            <a:ext cx="2794000" cy="215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Card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9543DA-C31D-B4AF-F18D-8F7CA0ADBE3A}"/>
              </a:ext>
            </a:extLst>
          </p:cNvPr>
          <p:cNvSpPr txBox="1"/>
          <p:nvPr/>
        </p:nvSpPr>
        <p:spPr>
          <a:xfrm>
            <a:off x="508000" y="5334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two grey bars are not in the selection, and they must come out on exactly the layers they went in on - one behind Card 2, one behind Card 3. That is the difference from Bring to front, which would drag all three cards over the top of them. Now click Order &gt; Reverse to flip the pile, then select the cards in a different order and click Stack again.</a:t>
            </a:r>
          </a:p>
        </p:txBody>
      </p:sp>
    </p:spTree>
    <p:extLst>
      <p:ext uri="{BB962C8B-B14F-4D97-AF65-F5344CB8AC3E}">
        <p14:creationId xmlns:p14="http://schemas.microsoft.com/office/powerpoint/2010/main" val="169023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02812C76-5569-930D-10B4-3CE5EEEACCC7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size with a margin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070462C-1989-68EA-581C-BA368DF353E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10 in Margin (pt) and set Apply margin = All the same. Select the three shapes, Ctrl+click TARGET last, then click Match &gt; Both.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C6278B4A-FBC6-3C94-F6C9-4F9DF8747A41}"/>
              </a:ext>
            </a:extLst>
          </p:cNvPr>
          <p:cNvSpPr/>
          <p:nvPr/>
        </p:nvSpPr>
        <p:spPr>
          <a:xfrm>
            <a:off x="1397000" y="2286000"/>
            <a:ext cx="1016000" cy="1651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A8AA8B9C-00AD-0D48-BD9D-CAC42BB806D8}"/>
              </a:ext>
            </a:extLst>
          </p:cNvPr>
          <p:cNvSpPr/>
          <p:nvPr/>
        </p:nvSpPr>
        <p:spPr>
          <a:xfrm>
            <a:off x="3048000" y="2794000"/>
            <a:ext cx="2032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BFBC13E0-98AD-7A3E-DCAD-443CF28B06EF}"/>
              </a:ext>
            </a:extLst>
          </p:cNvPr>
          <p:cNvSpPr/>
          <p:nvPr/>
        </p:nvSpPr>
        <p:spPr>
          <a:xfrm>
            <a:off x="1651000" y="4445000"/>
            <a:ext cx="1397000" cy="1143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MarginTarget">
            <a:extLst>
              <a:ext uri="{FF2B5EF4-FFF2-40B4-BE49-F238E27FC236}">
                <a16:creationId xmlns:a16="http://schemas.microsoft.com/office/drawing/2014/main" id="{D7DA3CF5-C675-27FE-78A1-CA7479A2B9ED}"/>
              </a:ext>
            </a:extLst>
          </p:cNvPr>
          <p:cNvSpPr/>
          <p:nvPr/>
        </p:nvSpPr>
        <p:spPr>
          <a:xfrm>
            <a:off x="7620000" y="2794000"/>
            <a:ext cx="2794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5F4DED-5B97-1F81-E6E6-0AC7EF6C7C2D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margin is measured per side, so a margin of 10 takes 20 off each dimension and leaves a 10pt border showing all round. Now click AlignPro undo, set Apply margin to Cascade, select the shapes again in the same order and click Match &gt; Both: the shapes tier along the order you selected in, and the one you selected first ends smallest.</a:t>
            </a:r>
          </a:p>
        </p:txBody>
      </p:sp>
    </p:spTree>
    <p:extLst>
      <p:ext uri="{BB962C8B-B14F-4D97-AF65-F5344CB8AC3E}">
        <p14:creationId xmlns:p14="http://schemas.microsoft.com/office/powerpoint/2010/main" val="260317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BCA55109-275B-238C-516A-87B50472D308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Concentric rings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305F9414-2FD5-FACF-9636-AB1164BFBB95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1st, then Ctrl+click 2nd, 3rd, 4th and 5th in turn. Click Align &gt; Centre, then Align &gt; Middle. Type 12 in Margin (pt), set Apply margin = Cascade, switch From centre on, then click Match &gt; Both. Finish by clicking Order &gt; Stack.</a:t>
            </a:r>
          </a:p>
        </p:txBody>
      </p:sp>
      <p:sp>
        <p:nvSpPr>
          <p:cNvPr id="4" name="Ring1">
            <a:extLst>
              <a:ext uri="{FF2B5EF4-FFF2-40B4-BE49-F238E27FC236}">
                <a16:creationId xmlns:a16="http://schemas.microsoft.com/office/drawing/2014/main" id="{CD7E57B7-0333-553E-27DB-0566EFD88DBD}"/>
              </a:ext>
            </a:extLst>
          </p:cNvPr>
          <p:cNvSpPr/>
          <p:nvPr/>
        </p:nvSpPr>
        <p:spPr>
          <a:xfrm>
            <a:off x="1143000" y="2286000"/>
            <a:ext cx="1905000" cy="1397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Ring2">
            <a:extLst>
              <a:ext uri="{FF2B5EF4-FFF2-40B4-BE49-F238E27FC236}">
                <a16:creationId xmlns:a16="http://schemas.microsoft.com/office/drawing/2014/main" id="{25A285F4-B409-CF54-CFA1-C0593F1F87AE}"/>
              </a:ext>
            </a:extLst>
          </p:cNvPr>
          <p:cNvSpPr/>
          <p:nvPr/>
        </p:nvSpPr>
        <p:spPr>
          <a:xfrm>
            <a:off x="3683000" y="3810000"/>
            <a:ext cx="2159000" cy="1524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Ring3">
            <a:extLst>
              <a:ext uri="{FF2B5EF4-FFF2-40B4-BE49-F238E27FC236}">
                <a16:creationId xmlns:a16="http://schemas.microsoft.com/office/drawing/2014/main" id="{8B6BBF25-7DBB-E9D1-6C71-03C8D55BC714}"/>
              </a:ext>
            </a:extLst>
          </p:cNvPr>
          <p:cNvSpPr/>
          <p:nvPr/>
        </p:nvSpPr>
        <p:spPr>
          <a:xfrm>
            <a:off x="6350000" y="2159000"/>
            <a:ext cx="2032000" cy="1651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Ring4">
            <a:extLst>
              <a:ext uri="{FF2B5EF4-FFF2-40B4-BE49-F238E27FC236}">
                <a16:creationId xmlns:a16="http://schemas.microsoft.com/office/drawing/2014/main" id="{53C5B7AC-DCBB-06C0-9E5D-63E578755C82}"/>
              </a:ext>
            </a:extLst>
          </p:cNvPr>
          <p:cNvSpPr/>
          <p:nvPr/>
        </p:nvSpPr>
        <p:spPr>
          <a:xfrm>
            <a:off x="8890000" y="4064000"/>
            <a:ext cx="2286000" cy="1397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8" name="Ring5">
            <a:extLst>
              <a:ext uri="{FF2B5EF4-FFF2-40B4-BE49-F238E27FC236}">
                <a16:creationId xmlns:a16="http://schemas.microsoft.com/office/drawing/2014/main" id="{065516A0-6B9A-8B70-7B1B-E7C03401F2D6}"/>
              </a:ext>
            </a:extLst>
          </p:cNvPr>
          <p:cNvSpPr/>
          <p:nvPr/>
        </p:nvSpPr>
        <p:spPr>
          <a:xfrm>
            <a:off x="4826000" y="1905000"/>
            <a:ext cx="2540000" cy="1778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D9180-785D-87B3-7966-B3F06E958645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centres and middles stacks them on one point; From centre then holds that point while the cascade tiers the sizes, so the borders come out even. The last step matters: the cascade makes the shape you selected first the smallest, and Order &gt; Stack puts that same shape on top - so the rings are visible instead of hidden inside the largest. Keep the selection between steps and the order carries through all three commands.</a:t>
            </a:r>
          </a:p>
        </p:txBody>
      </p:sp>
    </p:spTree>
    <p:extLst>
      <p:ext uri="{BB962C8B-B14F-4D97-AF65-F5344CB8AC3E}">
        <p14:creationId xmlns:p14="http://schemas.microsoft.com/office/powerpoint/2010/main" val="2240331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4B046990-6147-F86D-DCC4-FDDB1FC6E154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Grow past the anchor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2ECAFD9-9521-BABE-D926-0B1AC09BBB12}"/>
              </a:ext>
            </a:extLst>
          </p:cNvPr>
          <p:cNvSpPr txBox="1"/>
          <p:nvPr/>
        </p:nvSpPr>
        <p:spPr>
          <a:xfrm>
            <a:off x="508000" y="7620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Type 12 in Margin (pt), set Apply margin = Cascade and Direction = Grow, switch From centre on. Select 1st, Ctrl+click 2nd, 3rd, then CORE last. Click Match &gt; Both.</a:t>
            </a:r>
          </a:p>
        </p:txBody>
      </p:sp>
      <p:sp>
        <p:nvSpPr>
          <p:cNvPr id="4" name="Grow1">
            <a:extLst>
              <a:ext uri="{FF2B5EF4-FFF2-40B4-BE49-F238E27FC236}">
                <a16:creationId xmlns:a16="http://schemas.microsoft.com/office/drawing/2014/main" id="{CC95CC7B-8BD7-82E7-3153-26B37302E7F2}"/>
              </a:ext>
            </a:extLst>
          </p:cNvPr>
          <p:cNvSpPr/>
          <p:nvPr/>
        </p:nvSpPr>
        <p:spPr>
          <a:xfrm>
            <a:off x="1397000" y="2286000"/>
            <a:ext cx="1016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1st</a:t>
            </a:r>
          </a:p>
        </p:txBody>
      </p:sp>
      <p:sp>
        <p:nvSpPr>
          <p:cNvPr id="5" name="Grow2">
            <a:extLst>
              <a:ext uri="{FF2B5EF4-FFF2-40B4-BE49-F238E27FC236}">
                <a16:creationId xmlns:a16="http://schemas.microsoft.com/office/drawing/2014/main" id="{6A0C8852-48A4-F234-7975-B8A05722C42D}"/>
              </a:ext>
            </a:extLst>
          </p:cNvPr>
          <p:cNvSpPr/>
          <p:nvPr/>
        </p:nvSpPr>
        <p:spPr>
          <a:xfrm>
            <a:off x="3175000" y="3810000"/>
            <a:ext cx="889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2nd</a:t>
            </a:r>
          </a:p>
        </p:txBody>
      </p:sp>
      <p:sp>
        <p:nvSpPr>
          <p:cNvPr id="6" name="Grow3">
            <a:extLst>
              <a:ext uri="{FF2B5EF4-FFF2-40B4-BE49-F238E27FC236}">
                <a16:creationId xmlns:a16="http://schemas.microsoft.com/office/drawing/2014/main" id="{84FBA0C3-48B8-662D-A847-F3B7AEAD9ABD}"/>
              </a:ext>
            </a:extLst>
          </p:cNvPr>
          <p:cNvSpPr/>
          <p:nvPr/>
        </p:nvSpPr>
        <p:spPr>
          <a:xfrm>
            <a:off x="1524000" y="4826000"/>
            <a:ext cx="1270000" cy="635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3rd</a:t>
            </a:r>
          </a:p>
        </p:txBody>
      </p:sp>
      <p:sp>
        <p:nvSpPr>
          <p:cNvPr id="7" name="Core">
            <a:extLst>
              <a:ext uri="{FF2B5EF4-FFF2-40B4-BE49-F238E27FC236}">
                <a16:creationId xmlns:a16="http://schemas.microsoft.com/office/drawing/2014/main" id="{F08B86A5-916B-74D7-063A-5F2DD401D2F3}"/>
              </a:ext>
            </a:extLst>
          </p:cNvPr>
          <p:cNvSpPr/>
          <p:nvPr/>
        </p:nvSpPr>
        <p:spPr>
          <a:xfrm>
            <a:off x="7620000" y="3175000"/>
            <a:ext cx="1524000" cy="1016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D8530-6EA1-7814-37F6-E99389FF87E5}"/>
              </a:ext>
            </a:extLst>
          </p:cNvPr>
          <p:cNvSpPr txBox="1"/>
          <p:nvPr/>
        </p:nvSpPr>
        <p:spPr>
          <a:xfrm>
            <a:off x="508000" y="5715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Grow is the mirror of Shrink: the margin is still a positive number, and the shapes end outside the anchor instead of inside it. With Cascade the shape you selected first ends largest. Align them all to CORE (Reference = Anchor, Align &gt; Centre then Middle) and Order &gt; Reverse to see the rings.</a:t>
            </a:r>
          </a:p>
        </p:txBody>
      </p:sp>
    </p:spTree>
    <p:extLst>
      <p:ext uri="{BB962C8B-B14F-4D97-AF65-F5344CB8AC3E}">
        <p14:creationId xmlns:p14="http://schemas.microsoft.com/office/powerpoint/2010/main" val="2756119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D5A9923-9525-28B2-F4A6-6C0208682769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Groups are one object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B600DD0F-4D79-8356-74C3-67309DBBDB1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Align the group with the loose shapes - its internal spacing must not change. Then try Match size on it.</a:t>
            </a:r>
          </a:p>
        </p:txBody>
      </p:sp>
      <p:grpSp>
        <p:nvGrpSpPr>
          <p:cNvPr id="7" name="TheGroup">
            <a:extLst>
              <a:ext uri="{FF2B5EF4-FFF2-40B4-BE49-F238E27FC236}">
                <a16:creationId xmlns:a16="http://schemas.microsoft.com/office/drawing/2014/main" id="{BACD3F8F-0F46-167A-B8ED-57F296CA5F62}"/>
              </a:ext>
            </a:extLst>
          </p:cNvPr>
          <p:cNvGrpSpPr/>
          <p:nvPr/>
        </p:nvGrpSpPr>
        <p:grpSpPr>
          <a:xfrm>
            <a:off x="1397000" y="2540000"/>
            <a:ext cx="4191000" cy="889000"/>
            <a:chOff x="1397000" y="2540000"/>
            <a:chExt cx="4191000" cy="889000"/>
          </a:xfrm>
        </p:grpSpPr>
        <p:sp>
          <p:nvSpPr>
            <p:cNvPr id="4" name="G1">
              <a:extLst>
                <a:ext uri="{FF2B5EF4-FFF2-40B4-BE49-F238E27FC236}">
                  <a16:creationId xmlns:a16="http://schemas.microsoft.com/office/drawing/2014/main" id="{A4260E1E-B439-4679-DC74-E8FAF75953FE}"/>
                </a:ext>
              </a:extLst>
            </p:cNvPr>
            <p:cNvSpPr/>
            <p:nvPr/>
          </p:nvSpPr>
          <p:spPr>
            <a:xfrm>
              <a:off x="1397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G1</a:t>
              </a:r>
            </a:p>
          </p:txBody>
        </p:sp>
        <p:sp>
          <p:nvSpPr>
            <p:cNvPr id="5" name="G2">
              <a:extLst>
                <a:ext uri="{FF2B5EF4-FFF2-40B4-BE49-F238E27FC236}">
                  <a16:creationId xmlns:a16="http://schemas.microsoft.com/office/drawing/2014/main" id="{091087E4-1986-3C28-F97D-F8A2C8C4380B}"/>
                </a:ext>
              </a:extLst>
            </p:cNvPr>
            <p:cNvSpPr/>
            <p:nvPr/>
          </p:nvSpPr>
          <p:spPr>
            <a:xfrm>
              <a:off x="2921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G2</a:t>
              </a:r>
            </a:p>
          </p:txBody>
        </p:sp>
        <p:sp>
          <p:nvSpPr>
            <p:cNvPr id="6" name="G3">
              <a:extLst>
                <a:ext uri="{FF2B5EF4-FFF2-40B4-BE49-F238E27FC236}">
                  <a16:creationId xmlns:a16="http://schemas.microsoft.com/office/drawing/2014/main" id="{CAD32015-8A63-0943-84EC-07AA50581029}"/>
                </a:ext>
              </a:extLst>
            </p:cNvPr>
            <p:cNvSpPr/>
            <p:nvPr/>
          </p:nvSpPr>
          <p:spPr>
            <a:xfrm>
              <a:off x="4445000" y="2540000"/>
              <a:ext cx="1143000" cy="889000"/>
            </a:xfrm>
            <a:prstGeom prst="rect">
              <a:avLst/>
            </a:prstGeom>
            <a:solidFill>
              <a:srgbClr val="1F77B4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1400" b="1">
                  <a:solidFill>
                    <a:srgbClr val="FFFFFF"/>
                  </a:solidFill>
                </a:rPr>
                <a:t>G3</a:t>
              </a:r>
            </a:p>
          </p:txBody>
        </p:sp>
      </p:grpSp>
      <p:sp>
        <p:nvSpPr>
          <p:cNvPr id="8" name="Loose1">
            <a:extLst>
              <a:ext uri="{FF2B5EF4-FFF2-40B4-BE49-F238E27FC236}">
                <a16:creationId xmlns:a16="http://schemas.microsoft.com/office/drawing/2014/main" id="{8F1647AE-596E-7226-7B32-7A4031D30C34}"/>
              </a:ext>
            </a:extLst>
          </p:cNvPr>
          <p:cNvSpPr/>
          <p:nvPr/>
        </p:nvSpPr>
        <p:spPr>
          <a:xfrm>
            <a:off x="7620000" y="3810000"/>
            <a:ext cx="1905000" cy="1143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Loose1</a:t>
            </a:r>
          </a:p>
        </p:txBody>
      </p:sp>
      <p:sp>
        <p:nvSpPr>
          <p:cNvPr id="9" name="Loose2">
            <a:extLst>
              <a:ext uri="{FF2B5EF4-FFF2-40B4-BE49-F238E27FC236}">
                <a16:creationId xmlns:a16="http://schemas.microsoft.com/office/drawing/2014/main" id="{71A195A6-0764-EA95-6CFD-A4315B9C738A}"/>
              </a:ext>
            </a:extLst>
          </p:cNvPr>
          <p:cNvSpPr/>
          <p:nvPr/>
        </p:nvSpPr>
        <p:spPr>
          <a:xfrm>
            <a:off x="10033000" y="4953000"/>
            <a:ext cx="1397000" cy="762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Loose2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FFCD1-E64C-079D-D3AC-EF34AF401D48}"/>
              </a:ext>
            </a:extLst>
          </p:cNvPr>
          <p:cNvSpPr txBox="1"/>
          <p:nvPr/>
        </p:nvSpPr>
        <p:spPr>
          <a:xfrm>
            <a:off x="508000" y="5842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Match size refuses groups on purpose: scaling a group scales the gaps between its children, which silently distorts a diagram. AlignPro tells you rather than doing it.</a:t>
            </a:r>
          </a:p>
        </p:txBody>
      </p:sp>
    </p:spTree>
    <p:extLst>
      <p:ext uri="{BB962C8B-B14F-4D97-AF65-F5344CB8AC3E}">
        <p14:creationId xmlns:p14="http://schemas.microsoft.com/office/powerpoint/2010/main" val="2670020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C94C02B1-449D-BF29-8C75-80B7C113E448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the text, not the box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19CA6D15-D870-24FC-A552-70FA9B08FF8E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All three frames already start at the same x. Select them and Align &gt; Left with Measure = Text bounds.</a:t>
            </a:r>
          </a:p>
        </p:txBody>
      </p:sp>
      <p:sp>
        <p:nvSpPr>
          <p:cNvPr id="4" name="Text0">
            <a:extLst>
              <a:ext uri="{FF2B5EF4-FFF2-40B4-BE49-F238E27FC236}">
                <a16:creationId xmlns:a16="http://schemas.microsoft.com/office/drawing/2014/main" id="{154B5121-4C30-5AFB-9739-379CC828D74D}"/>
              </a:ext>
            </a:extLst>
          </p:cNvPr>
          <p:cNvSpPr/>
          <p:nvPr/>
        </p:nvSpPr>
        <p:spPr>
          <a:xfrm>
            <a:off x="3175000" y="2159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1600">
                <a:solidFill>
                  <a:srgbClr val="282828"/>
                </a:solidFill>
              </a:rPr>
              <a:t>left-aligned text</a:t>
            </a:r>
          </a:p>
        </p:txBody>
      </p:sp>
      <p:sp>
        <p:nvSpPr>
          <p:cNvPr id="5" name="Text1">
            <a:extLst>
              <a:ext uri="{FF2B5EF4-FFF2-40B4-BE49-F238E27FC236}">
                <a16:creationId xmlns:a16="http://schemas.microsoft.com/office/drawing/2014/main" id="{F5C07AAA-B3E1-6FF5-5099-1F774C4EA241}"/>
              </a:ext>
            </a:extLst>
          </p:cNvPr>
          <p:cNvSpPr/>
          <p:nvPr/>
        </p:nvSpPr>
        <p:spPr>
          <a:xfrm>
            <a:off x="3175000" y="3302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600">
                <a:solidFill>
                  <a:srgbClr val="282828"/>
                </a:solidFill>
              </a:rPr>
              <a:t>centred text</a:t>
            </a:r>
          </a:p>
        </p:txBody>
      </p:sp>
      <p:sp>
        <p:nvSpPr>
          <p:cNvPr id="6" name="Text2">
            <a:extLst>
              <a:ext uri="{FF2B5EF4-FFF2-40B4-BE49-F238E27FC236}">
                <a16:creationId xmlns:a16="http://schemas.microsoft.com/office/drawing/2014/main" id="{574F9553-9131-B30C-6A02-6173203BB5F8}"/>
              </a:ext>
            </a:extLst>
          </p:cNvPr>
          <p:cNvSpPr/>
          <p:nvPr/>
        </p:nvSpPr>
        <p:spPr>
          <a:xfrm>
            <a:off x="3175000" y="4445000"/>
            <a:ext cx="5334000" cy="762000"/>
          </a:xfrm>
          <a:prstGeom prst="roundRect">
            <a:avLst/>
          </a:prstGeom>
          <a:solidFill>
            <a:srgbClr val="EBEBF0"/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AU" sz="1600">
                <a:solidFill>
                  <a:srgbClr val="282828"/>
                </a:solidFill>
              </a:rPr>
              <a:t>right-aligned 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C26DA-1DD3-4A63-1C80-E540A6325116}"/>
              </a:ext>
            </a:extLst>
          </p:cNvPr>
          <p:cNvSpPr txBox="1"/>
          <p:nvPr/>
        </p:nvSpPr>
        <p:spPr>
          <a:xfrm>
            <a:off x="508000" y="5715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The frames are identical, so frame mode does nothing. Text bounds moves each box so the text itself lines up.</a:t>
            </a:r>
          </a:p>
        </p:txBody>
      </p:sp>
    </p:spTree>
    <p:extLst>
      <p:ext uri="{BB962C8B-B14F-4D97-AF65-F5344CB8AC3E}">
        <p14:creationId xmlns:p14="http://schemas.microsoft.com/office/powerpoint/2010/main" val="2313899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E0063245-517F-5D8D-7D4D-5D57BBEA4F7D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Tidy a scatter into a grid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BA8ADA75-458E-0C5F-6F6F-3B6BB7B6F249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all nine circles. Leave Columns blank for a near-square grid, or type 3. Then Arrange &gt; Grid.</a:t>
            </a:r>
          </a:p>
        </p:txBody>
      </p:sp>
      <p:sp>
        <p:nvSpPr>
          <p:cNvPr id="4" name="Dot0">
            <a:extLst>
              <a:ext uri="{FF2B5EF4-FFF2-40B4-BE49-F238E27FC236}">
                <a16:creationId xmlns:a16="http://schemas.microsoft.com/office/drawing/2014/main" id="{57C56979-E104-7324-2BBA-12A8EE4F206B}"/>
              </a:ext>
            </a:extLst>
          </p:cNvPr>
          <p:cNvSpPr/>
          <p:nvPr/>
        </p:nvSpPr>
        <p:spPr>
          <a:xfrm>
            <a:off x="1524000" y="1905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Dot1">
            <a:extLst>
              <a:ext uri="{FF2B5EF4-FFF2-40B4-BE49-F238E27FC236}">
                <a16:creationId xmlns:a16="http://schemas.microsoft.com/office/drawing/2014/main" id="{67AB020F-983B-E7AB-A1B1-22818B35CC6C}"/>
              </a:ext>
            </a:extLst>
          </p:cNvPr>
          <p:cNvSpPr/>
          <p:nvPr/>
        </p:nvSpPr>
        <p:spPr>
          <a:xfrm>
            <a:off x="5461000" y="2413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Dot2">
            <a:extLst>
              <a:ext uri="{FF2B5EF4-FFF2-40B4-BE49-F238E27FC236}">
                <a16:creationId xmlns:a16="http://schemas.microsoft.com/office/drawing/2014/main" id="{983CE5CC-C9C4-CA9A-19BE-C5269B60E689}"/>
              </a:ext>
            </a:extLst>
          </p:cNvPr>
          <p:cNvSpPr/>
          <p:nvPr/>
        </p:nvSpPr>
        <p:spPr>
          <a:xfrm>
            <a:off x="9652000" y="1778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Dot3">
            <a:extLst>
              <a:ext uri="{FF2B5EF4-FFF2-40B4-BE49-F238E27FC236}">
                <a16:creationId xmlns:a16="http://schemas.microsoft.com/office/drawing/2014/main" id="{D94C1D4D-32B0-6872-DE96-CE8F3C56DEF6}"/>
              </a:ext>
            </a:extLst>
          </p:cNvPr>
          <p:cNvSpPr/>
          <p:nvPr/>
        </p:nvSpPr>
        <p:spPr>
          <a:xfrm>
            <a:off x="2413000" y="381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Dot4">
            <a:extLst>
              <a:ext uri="{FF2B5EF4-FFF2-40B4-BE49-F238E27FC236}">
                <a16:creationId xmlns:a16="http://schemas.microsoft.com/office/drawing/2014/main" id="{E2F905AD-D958-7BDF-067B-24C02C256495}"/>
              </a:ext>
            </a:extLst>
          </p:cNvPr>
          <p:cNvSpPr/>
          <p:nvPr/>
        </p:nvSpPr>
        <p:spPr>
          <a:xfrm>
            <a:off x="6604000" y="3302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Dot5">
            <a:extLst>
              <a:ext uri="{FF2B5EF4-FFF2-40B4-BE49-F238E27FC236}">
                <a16:creationId xmlns:a16="http://schemas.microsoft.com/office/drawing/2014/main" id="{62B799E8-8677-D837-A02F-5AEAC2418969}"/>
              </a:ext>
            </a:extLst>
          </p:cNvPr>
          <p:cNvSpPr/>
          <p:nvPr/>
        </p:nvSpPr>
        <p:spPr>
          <a:xfrm>
            <a:off x="8763000" y="419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0" name="Dot6">
            <a:extLst>
              <a:ext uri="{FF2B5EF4-FFF2-40B4-BE49-F238E27FC236}">
                <a16:creationId xmlns:a16="http://schemas.microsoft.com/office/drawing/2014/main" id="{479FB203-E04E-9048-81B8-BA305A3E0987}"/>
              </a:ext>
            </a:extLst>
          </p:cNvPr>
          <p:cNvSpPr/>
          <p:nvPr/>
        </p:nvSpPr>
        <p:spPr>
          <a:xfrm>
            <a:off x="1397000" y="5334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" name="Dot7">
            <a:extLst>
              <a:ext uri="{FF2B5EF4-FFF2-40B4-BE49-F238E27FC236}">
                <a16:creationId xmlns:a16="http://schemas.microsoft.com/office/drawing/2014/main" id="{A2351D57-BCA7-1F7D-8300-E81362D42EB1}"/>
              </a:ext>
            </a:extLst>
          </p:cNvPr>
          <p:cNvSpPr/>
          <p:nvPr/>
        </p:nvSpPr>
        <p:spPr>
          <a:xfrm>
            <a:off x="5080000" y="5080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2" name="Dot8">
            <a:extLst>
              <a:ext uri="{FF2B5EF4-FFF2-40B4-BE49-F238E27FC236}">
                <a16:creationId xmlns:a16="http://schemas.microsoft.com/office/drawing/2014/main" id="{B07E038A-BA95-524E-F36E-A9E3511620E8}"/>
              </a:ext>
            </a:extLst>
          </p:cNvPr>
          <p:cNvSpPr/>
          <p:nvPr/>
        </p:nvSpPr>
        <p:spPr>
          <a:xfrm>
            <a:off x="10160000" y="5461000"/>
            <a:ext cx="1016000" cy="1016000"/>
          </a:xfrm>
          <a:prstGeom prst="ellipse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28EF18-C1F3-2181-E6C3-9FF1AC62560E}"/>
              </a:ext>
            </a:extLst>
          </p:cNvPr>
          <p:cNvSpPr txBox="1"/>
          <p:nvPr/>
        </p:nvSpPr>
        <p:spPr>
          <a:xfrm>
            <a:off x="508000" y="6350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Grid only repositions - sizes are left alone, so it is safe on groups too. Set Reference = Slide to spread across the whole slide.</a:t>
            </a:r>
          </a:p>
        </p:txBody>
      </p:sp>
    </p:spTree>
    <p:extLst>
      <p:ext uri="{BB962C8B-B14F-4D97-AF65-F5344CB8AC3E}">
        <p14:creationId xmlns:p14="http://schemas.microsoft.com/office/powerpoint/2010/main" val="3655201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D6FDC8A-4263-7AA3-965E-0AF21B72852B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Align to the slide, or to its margins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1368349C-E372-A8FB-2130-049E8F5CBCC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one shape. Reference = Slide then Align &gt; Centre. Then Reference = Slide margins with Margin = 36.</a:t>
            </a:r>
          </a:p>
        </p:txBody>
      </p:sp>
      <p:sp>
        <p:nvSpPr>
          <p:cNvPr id="4" name="Wanderer">
            <a:extLst>
              <a:ext uri="{FF2B5EF4-FFF2-40B4-BE49-F238E27FC236}">
                <a16:creationId xmlns:a16="http://schemas.microsoft.com/office/drawing/2014/main" id="{69815706-9F19-5655-FDC5-6824BFF77547}"/>
              </a:ext>
            </a:extLst>
          </p:cNvPr>
          <p:cNvSpPr/>
          <p:nvPr/>
        </p:nvSpPr>
        <p:spPr>
          <a:xfrm>
            <a:off x="1905000" y="2540000"/>
            <a:ext cx="2794000" cy="1524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Move me</a:t>
            </a:r>
          </a:p>
        </p:txBody>
      </p:sp>
      <p:sp>
        <p:nvSpPr>
          <p:cNvPr id="5" name="Friend">
            <a:extLst>
              <a:ext uri="{FF2B5EF4-FFF2-40B4-BE49-F238E27FC236}">
                <a16:creationId xmlns:a16="http://schemas.microsoft.com/office/drawing/2014/main" id="{E2087A3A-44FF-14FE-F1B0-81EC3EF2D04C}"/>
              </a:ext>
            </a:extLst>
          </p:cNvPr>
          <p:cNvSpPr/>
          <p:nvPr/>
        </p:nvSpPr>
        <p:spPr>
          <a:xfrm>
            <a:off x="7874000" y="4318000"/>
            <a:ext cx="2032000" cy="1143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Friend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A05EC-0701-8BC6-9BCC-40B596F8BD01}"/>
              </a:ext>
            </a:extLst>
          </p:cNvPr>
          <p:cNvSpPr txBox="1"/>
          <p:nvPr/>
        </p:nvSpPr>
        <p:spPr>
          <a:xfrm>
            <a:off x="508000" y="5969000"/>
            <a:ext cx="11176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Aligning a single shape to the selection is meaningless, so AlignPro refuses it and says why. Against the slide it is perfectly meaningful, so it works.</a:t>
            </a:r>
          </a:p>
        </p:txBody>
      </p:sp>
    </p:spTree>
    <p:extLst>
      <p:ext uri="{BB962C8B-B14F-4D97-AF65-F5344CB8AC3E}">
        <p14:creationId xmlns:p14="http://schemas.microsoft.com/office/powerpoint/2010/main" val="327056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3B36B4B4-33EB-2E68-5ED2-9DBC8E76184C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Match rotation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93476BF3-2422-ABAB-5561-11BFA633F5D6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three tilted shapes, then Ctrl+click LEVEL last. Click Match &gt; Rotation.</a:t>
            </a:r>
          </a:p>
        </p:txBody>
      </p:sp>
      <p:sp>
        <p:nvSpPr>
          <p:cNvPr id="4" name="Tilt1">
            <a:extLst>
              <a:ext uri="{FF2B5EF4-FFF2-40B4-BE49-F238E27FC236}">
                <a16:creationId xmlns:a16="http://schemas.microsoft.com/office/drawing/2014/main" id="{774E37F3-B045-D4CB-8F8E-1AD155D18214}"/>
              </a:ext>
            </a:extLst>
          </p:cNvPr>
          <p:cNvSpPr/>
          <p:nvPr/>
        </p:nvSpPr>
        <p:spPr>
          <a:xfrm rot="720000">
            <a:off x="1524000" y="2286000"/>
            <a:ext cx="1778000" cy="762000"/>
          </a:xfrm>
          <a:prstGeom prst="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" name="Tilt2">
            <a:extLst>
              <a:ext uri="{FF2B5EF4-FFF2-40B4-BE49-F238E27FC236}">
                <a16:creationId xmlns:a16="http://schemas.microsoft.com/office/drawing/2014/main" id="{C9BE322E-08E4-EF67-F672-C0B25FA81DB7}"/>
              </a:ext>
            </a:extLst>
          </p:cNvPr>
          <p:cNvSpPr/>
          <p:nvPr/>
        </p:nvSpPr>
        <p:spPr>
          <a:xfrm rot="21060000">
            <a:off x="4191000" y="3810000"/>
            <a:ext cx="1524000" cy="889000"/>
          </a:xfrm>
          <a:prstGeom prst="rect">
            <a:avLst/>
          </a:prstGeom>
          <a:solidFill>
            <a:srgbClr val="2CA0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-9</a:t>
            </a:r>
          </a:p>
        </p:txBody>
      </p:sp>
      <p:sp>
        <p:nvSpPr>
          <p:cNvPr id="6" name="Tilt3">
            <a:extLst>
              <a:ext uri="{FF2B5EF4-FFF2-40B4-BE49-F238E27FC236}">
                <a16:creationId xmlns:a16="http://schemas.microsoft.com/office/drawing/2014/main" id="{0E018A60-3325-9384-9348-29C46291028E}"/>
              </a:ext>
            </a:extLst>
          </p:cNvPr>
          <p:cNvSpPr/>
          <p:nvPr/>
        </p:nvSpPr>
        <p:spPr>
          <a:xfrm rot="1500000">
            <a:off x="1905000" y="4699000"/>
            <a:ext cx="2032000" cy="635000"/>
          </a:xfrm>
          <a:prstGeom prst="rect">
            <a:avLst/>
          </a:prstGeom>
          <a:solidFill>
            <a:srgbClr val="9467B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Level">
            <a:extLst>
              <a:ext uri="{FF2B5EF4-FFF2-40B4-BE49-F238E27FC236}">
                <a16:creationId xmlns:a16="http://schemas.microsoft.com/office/drawing/2014/main" id="{F69E8CBD-AF96-ADD4-6447-B6B17BA53BF6}"/>
              </a:ext>
            </a:extLst>
          </p:cNvPr>
          <p:cNvSpPr/>
          <p:nvPr/>
        </p:nvSpPr>
        <p:spPr>
          <a:xfrm rot="1200000">
            <a:off x="7874000" y="3048000"/>
            <a:ext cx="2286000" cy="1143000"/>
          </a:xfrm>
          <a:prstGeom prst="rect">
            <a:avLst/>
          </a:prstGeom>
          <a:solidFill>
            <a:srgbClr val="D6272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LEVEL (20)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E12A8-34E7-A4C8-6CF6-D886C4E65C09}"/>
              </a:ext>
            </a:extLst>
          </p:cNvPr>
          <p:cNvSpPr txBox="1"/>
          <p:nvPr/>
        </p:nvSpPr>
        <p:spPr>
          <a:xfrm>
            <a:off x="508000" y="57150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Each shape turns about its own centre to the anchor's angle, and nothing else changes - not its position, not its size, not a flip. Groups are fine here: turning a group does not change the spacing inside it.</a:t>
            </a:r>
          </a:p>
        </p:txBody>
      </p:sp>
    </p:spTree>
    <p:extLst>
      <p:ext uri="{BB962C8B-B14F-4D97-AF65-F5344CB8AC3E}">
        <p14:creationId xmlns:p14="http://schemas.microsoft.com/office/powerpoint/2010/main" val="34711080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5B9912A-0CE1-8BB1-68BE-C3E12248C431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Duplicate: rows, rings and spirals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A02FF7DA-FF08-2307-9C82-8A82DA6B26B1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SEED. X = 70, Y = 0, Angle = 0, Copies = 5, then Duplicate. Undo, then X = 0, Y = 0, Angle = 30, Copies = 11, Pivot = Slide centre.</a:t>
            </a:r>
          </a:p>
        </p:txBody>
      </p:sp>
      <p:sp>
        <p:nvSpPr>
          <p:cNvPr id="4" name="Seed">
            <a:extLst>
              <a:ext uri="{FF2B5EF4-FFF2-40B4-BE49-F238E27FC236}">
                <a16:creationId xmlns:a16="http://schemas.microsoft.com/office/drawing/2014/main" id="{EC133921-A3CF-28ED-0C80-9951B1F33897}"/>
              </a:ext>
            </a:extLst>
          </p:cNvPr>
          <p:cNvSpPr/>
          <p:nvPr/>
        </p:nvSpPr>
        <p:spPr>
          <a:xfrm>
            <a:off x="5778500" y="1397000"/>
            <a:ext cx="635000" cy="635000"/>
          </a:xfrm>
          <a:prstGeom prst="rect">
            <a:avLst/>
          </a:prstGeom>
          <a:solidFill>
            <a:srgbClr val="FF7F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SEED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D6E102-6404-4299-BB98-2F22E2705B78}"/>
              </a:ext>
            </a:extLst>
          </p:cNvPr>
          <p:cNvSpPr txBox="1"/>
          <p:nvPr/>
        </p:nvSpPr>
        <p:spPr>
          <a:xfrm>
            <a:off x="508000" y="5842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One step is: turn by Angle about the Pivot, then move by X and Y. Each copy gets one more step than the one before, so X alone makes a row, Angle round a far pivot makes a ring, and both together make a spiral - try X = 12 with the ring settings. Turn Rotate shapes off and the copies stay upright as they go round. Undo removes every copy at once.</a:t>
            </a:r>
          </a:p>
        </p:txBody>
      </p:sp>
    </p:spTree>
    <p:extLst>
      <p:ext uri="{BB962C8B-B14F-4D97-AF65-F5344CB8AC3E}">
        <p14:creationId xmlns:p14="http://schemas.microsoft.com/office/powerpoint/2010/main" val="2606218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>
            <a:extLst>
              <a:ext uri="{FF2B5EF4-FFF2-40B4-BE49-F238E27FC236}">
                <a16:creationId xmlns:a16="http://schemas.microsoft.com/office/drawing/2014/main" id="{828F9D36-3CAC-3A9E-A6D5-65A23C314C2C}"/>
              </a:ext>
            </a:extLst>
          </p:cNvPr>
          <p:cNvSpPr txBox="1"/>
          <p:nvPr/>
        </p:nvSpPr>
        <p:spPr>
          <a:xfrm>
            <a:off x="508000" y="304800"/>
            <a:ext cx="1117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2400" b="1">
                <a:solidFill>
                  <a:srgbClr val="282828"/>
                </a:solidFill>
              </a:rPr>
              <a:t>Distribute along a curve</a:t>
            </a:r>
          </a:p>
        </p:txBody>
      </p:sp>
      <p:sp>
        <p:nvSpPr>
          <p:cNvPr id="3" name="Instructions">
            <a:extLst>
              <a:ext uri="{FF2B5EF4-FFF2-40B4-BE49-F238E27FC236}">
                <a16:creationId xmlns:a16="http://schemas.microsoft.com/office/drawing/2014/main" id="{E6C6D120-0FA8-1149-09A0-D92E356005DD}"/>
              </a:ext>
            </a:extLst>
          </p:cNvPr>
          <p:cNvSpPr txBox="1"/>
          <p:nvPr/>
        </p:nvSpPr>
        <p:spPr>
          <a:xfrm>
            <a:off x="508000" y="762000"/>
            <a:ext cx="1117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300">
                <a:solidFill>
                  <a:srgbClr val="7F7F7F"/>
                </a:solidFill>
              </a:rPr>
              <a:t>Select the six beads, then Ctrl+click RING last, and Distribute &gt; Along curve. Undo, then try the arc, then the wave.</a:t>
            </a:r>
          </a:p>
        </p:txBody>
      </p:sp>
      <p:sp>
        <p:nvSpPr>
          <p:cNvPr id="4" name="Ring">
            <a:extLst>
              <a:ext uri="{FF2B5EF4-FFF2-40B4-BE49-F238E27FC236}">
                <a16:creationId xmlns:a16="http://schemas.microsoft.com/office/drawing/2014/main" id="{9028C3D4-9662-6419-7DC1-FD5B4FB75B79}"/>
              </a:ext>
            </a:extLst>
          </p:cNvPr>
          <p:cNvSpPr/>
          <p:nvPr/>
        </p:nvSpPr>
        <p:spPr>
          <a:xfrm>
            <a:off x="889000" y="1524000"/>
            <a:ext cx="3048000" cy="3048000"/>
          </a:xfrm>
          <a:prstGeom prst="ellipse">
            <a:avLst/>
          </a:prstGeom>
          <a:noFill/>
          <a:ln w="25400" cap="flat" cmpd="sng" algn="ctr">
            <a:solidFill>
              <a:srgbClr val="7F7F7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">
            <a:extLst>
              <a:ext uri="{FF2B5EF4-FFF2-40B4-BE49-F238E27FC236}">
                <a16:creationId xmlns:a16="http://schemas.microsoft.com/office/drawing/2014/main" id="{59BC9C81-2515-9528-5BAB-F0F773990B3D}"/>
              </a:ext>
            </a:extLst>
          </p:cNvPr>
          <p:cNvSpPr/>
          <p:nvPr/>
        </p:nvSpPr>
        <p:spPr>
          <a:xfrm>
            <a:off x="4699000" y="1905001"/>
            <a:ext cx="3048000" cy="3047999"/>
          </a:xfrm>
          <a:prstGeom prst="arc">
            <a:avLst>
              <a:gd name="adj1" fmla="val 10800000"/>
              <a:gd name="adj2" fmla="val 0"/>
            </a:avLst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Wave">
            <a:extLst>
              <a:ext uri="{FF2B5EF4-FFF2-40B4-BE49-F238E27FC236}">
                <a16:creationId xmlns:a16="http://schemas.microsoft.com/office/drawing/2014/main" id="{CAB49992-A031-7EE5-55B7-65CE6FCAC7AB}"/>
              </a:ext>
            </a:extLst>
          </p:cNvPr>
          <p:cNvSpPr/>
          <p:nvPr/>
        </p:nvSpPr>
        <p:spPr>
          <a:xfrm>
            <a:off x="8509000" y="1778000"/>
            <a:ext cx="3175001" cy="2540001"/>
          </a:xfrm>
          <a:custGeom>
            <a:avLst/>
            <a:gdLst/>
            <a:ahLst/>
            <a:cxnLst/>
            <a:rect l="0" t="0" r="0" b="0"/>
            <a:pathLst>
              <a:path w="3175001" h="2540001">
                <a:moveTo>
                  <a:pt x="0" y="2032000"/>
                </a:moveTo>
                <a:cubicBezTo>
                  <a:pt x="635000" y="0"/>
                  <a:pt x="1651000" y="0"/>
                  <a:pt x="1905000" y="1270000"/>
                </a:cubicBezTo>
                <a:cubicBezTo>
                  <a:pt x="2159000" y="2540000"/>
                  <a:pt x="2921000" y="2540000"/>
                  <a:pt x="3175000" y="508000"/>
                </a:cubicBezTo>
              </a:path>
            </a:pathLst>
          </a:cu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Bead1">
            <a:extLst>
              <a:ext uri="{FF2B5EF4-FFF2-40B4-BE49-F238E27FC236}">
                <a16:creationId xmlns:a16="http://schemas.microsoft.com/office/drawing/2014/main" id="{34960C85-239D-0C92-D414-53FBE1AEA1E7}"/>
              </a:ext>
            </a:extLst>
          </p:cNvPr>
          <p:cNvSpPr/>
          <p:nvPr/>
        </p:nvSpPr>
        <p:spPr>
          <a:xfrm>
            <a:off x="139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Bead2">
            <a:extLst>
              <a:ext uri="{FF2B5EF4-FFF2-40B4-BE49-F238E27FC236}">
                <a16:creationId xmlns:a16="http://schemas.microsoft.com/office/drawing/2014/main" id="{4A547E43-BA89-A40D-4CA4-31FB2523C49F}"/>
              </a:ext>
            </a:extLst>
          </p:cNvPr>
          <p:cNvSpPr/>
          <p:nvPr/>
        </p:nvSpPr>
        <p:spPr>
          <a:xfrm>
            <a:off x="203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Bead3">
            <a:extLst>
              <a:ext uri="{FF2B5EF4-FFF2-40B4-BE49-F238E27FC236}">
                <a16:creationId xmlns:a16="http://schemas.microsoft.com/office/drawing/2014/main" id="{DDE55D5C-719F-52DD-DA1A-6BB10858C653}"/>
              </a:ext>
            </a:extLst>
          </p:cNvPr>
          <p:cNvSpPr/>
          <p:nvPr/>
        </p:nvSpPr>
        <p:spPr>
          <a:xfrm>
            <a:off x="266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Bead4">
            <a:extLst>
              <a:ext uri="{FF2B5EF4-FFF2-40B4-BE49-F238E27FC236}">
                <a16:creationId xmlns:a16="http://schemas.microsoft.com/office/drawing/2014/main" id="{9B2CFB7C-E665-293E-81E0-874DD30EC7DA}"/>
              </a:ext>
            </a:extLst>
          </p:cNvPr>
          <p:cNvSpPr/>
          <p:nvPr/>
        </p:nvSpPr>
        <p:spPr>
          <a:xfrm>
            <a:off x="330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Bead5">
            <a:extLst>
              <a:ext uri="{FF2B5EF4-FFF2-40B4-BE49-F238E27FC236}">
                <a16:creationId xmlns:a16="http://schemas.microsoft.com/office/drawing/2014/main" id="{A5A47E3F-35ED-D52F-E60D-976282E764F2}"/>
              </a:ext>
            </a:extLst>
          </p:cNvPr>
          <p:cNvSpPr/>
          <p:nvPr/>
        </p:nvSpPr>
        <p:spPr>
          <a:xfrm>
            <a:off x="3937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2" name="Bead6">
            <a:extLst>
              <a:ext uri="{FF2B5EF4-FFF2-40B4-BE49-F238E27FC236}">
                <a16:creationId xmlns:a16="http://schemas.microsoft.com/office/drawing/2014/main" id="{01ECE142-7BFC-5C21-3292-4EFAB800E61A}"/>
              </a:ext>
            </a:extLst>
          </p:cNvPr>
          <p:cNvSpPr/>
          <p:nvPr/>
        </p:nvSpPr>
        <p:spPr>
          <a:xfrm>
            <a:off x="4572000" y="5080000"/>
            <a:ext cx="381000" cy="381000"/>
          </a:xfrm>
          <a:prstGeom prst="roundRect">
            <a:avLst/>
          </a:prstGeom>
          <a:solidFill>
            <a:srgbClr val="1F77B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98289B-A868-128B-689C-0D436BC819F7}"/>
              </a:ext>
            </a:extLst>
          </p:cNvPr>
          <p:cNvSpPr txBox="1"/>
          <p:nvPr/>
        </p:nvSpPr>
        <p:spPr>
          <a:xfrm>
            <a:off x="508000" y="5715000"/>
            <a:ext cx="11176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AU" sz="1200">
                <a:solidFill>
                  <a:srgbClr val="7F7F7F"/>
                </a:solidFill>
              </a:rPr>
              <a:t>Round an oval the beads go evenly from twelve o'clock, clockwise, with no overlap where the circle closes. Along an arc or a path they run from one end to the other. Rotate shapes (in the Duplicate group) turns each bead to follow the curve; Exact (pt) sets the distance between them. Duplicate a bead first, then distribute the copies round the ring, for a radial array.</a:t>
            </a:r>
          </a:p>
        </p:txBody>
      </p:sp>
    </p:spTree>
    <p:extLst>
      <p:ext uri="{BB962C8B-B14F-4D97-AF65-F5344CB8AC3E}">
        <p14:creationId xmlns:p14="http://schemas.microsoft.com/office/powerpoint/2010/main" val="2694734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</Words>
  <Application>Microsoft Office PowerPoint</Application>
  <PresentationFormat>Widescreen</PresentationFormat>
  <Paragraphs>116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Renoden</dc:creator>
  <cp:lastModifiedBy>Mark Renoden</cp:lastModifiedBy>
  <cp:revision>1</cp:revision>
  <dcterms:created xsi:type="dcterms:W3CDTF">2026-09-22T22:32:36Z</dcterms:created>
  <dcterms:modified xsi:type="dcterms:W3CDTF">2026-09-22T22:32:37Z</dcterms:modified>
</cp:coreProperties>
</file>