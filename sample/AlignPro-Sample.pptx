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48B43-C18B-AA32-5B1F-A02B55E741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F1A651-F632-C161-AD60-970C592D42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833C8-FAC5-A1C2-C768-CCBCA89A9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0542D-D569-B555-D2EB-356897DC1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1EF1C-9D3E-E6E8-483C-A530DDF5F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5354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6D3FD-79C8-41DB-6A7E-7CD57D296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DA96E-0AA7-9FCE-54B3-A7824BE01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CD4D-C825-ED4C-49D0-976293A61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9C58EB-2425-C216-6826-4B6248F8F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23BF7-EC88-E225-3CB9-8C8D5A3E6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6304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D66D7-BE9B-D5F8-925E-18A1BCE84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639FF-580F-7433-FFC5-27DB41EC5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F7E8F-A0DE-470C-8E95-3B58BD6DD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C5D83-BBFE-71AF-1F3C-034107D7C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0ABC-71F8-B71F-C802-E88FF8DD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44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50DD-F150-3AED-87C2-BD4A549CD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20E57-278B-0165-342A-B4EF31733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33E2EE-9E9D-6DE9-689E-25FCBE1AF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9795D-6D0D-3ED4-9869-A5992859D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D7B56D-EA50-9C84-C6A8-D11F8CC11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9B0EB-7809-EE29-A4F5-A0184F2E9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8035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AC77-8C74-D061-A967-1308F81D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9788-FBF7-A1EA-2C66-17A1DF2EFB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077054-948E-4650-5E7E-CE2ADD5C71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E8285D-2278-51DD-4EE2-0338215927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D0DD26-7EED-62DC-9EA5-4C44BF5E7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403819-2760-7574-829F-0C07182FE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1FE065-5FE6-1BC0-F318-F4F5777DA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D374B7-DE48-A08C-537E-CD7553CA0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144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DA5D-139A-7018-2B34-D66EA0CE9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88DE64-CC95-0766-805F-18C7C64D9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CF4FEA-BC3F-603D-1695-E58C46DE2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4A966-D04C-2911-52D7-939D976A8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8630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3EC4F0-9B36-F167-63FB-444984FD9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FE8EF-683E-B7F1-AD5A-B7848F2E1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45B45-13F0-3F0D-6C43-E08587C9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19942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3BF75-BBEA-63AC-DD2F-69A3951C1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EC60-71A2-9322-5D52-C2BB7F5CD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95234-C92E-5A3E-F429-044440216F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E696A3-C078-A512-5038-9B273B6A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2966AD-11AC-24B8-A6BE-304876262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4BF8BD-81E2-0E63-2BBD-455004BFE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89465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1FC8C-A43E-8413-7763-AD06B7F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6417BC-A63F-BE29-55BA-672D742CC0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94470E-9AC8-020A-0E07-ED8316DC22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75B2D-33D7-F8CB-38C5-EAC5D42A2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B70170-1C45-9BE1-3E54-72C96F94B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D33551-C15C-3D02-44FE-65E75170A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9800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49FE-4E5F-DEAF-1A03-83DFAD38F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010F5A-B396-9B6E-E008-FCB4177414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81861-2362-923E-5861-9A816B56E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A395C6-92BB-7710-FC77-8F2A25F7A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68DD7-8DC1-C833-AAF8-287232367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7999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E4AC44-FAC1-3BAF-1E9A-4557681628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11F413-BF5F-7051-35A2-CBB172514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F9916C-E679-D1AE-7E64-AA709A305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3839C-5DD9-48D8-CF34-4C2C25554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DC9C5-9803-D080-3456-595C22A5A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29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7C0D3-B7B5-2D5D-7ED0-50A02E53E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675B5-6A47-B710-7C27-C197513D11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E7EEB-DFDB-3614-7FDE-BB02244CB4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F68664-1AD9-4835-8FD1-41EFF9726D29}" type="datetimeFigureOut">
              <a:rPr lang="en-AU" smtClean="0"/>
              <a:t>17/09/2026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28831-1B74-5A5B-E87A-C4B1D8D8D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7BFD06-71F0-1559-9890-6FDA279389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27C069-30F2-4954-BF7D-F242A30D399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8331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91F8B2B0-1120-5847-0B0A-D1E6705D1534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AlignPro sample deck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DE17DF60-E191-85CF-EADC-AACA9DF7CF7D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Each slide says what to try. Nothing here is precious - edit it freely and save over it if you like.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0D208-5216-C788-239E-E2C82707C1FC}"/>
              </a:ext>
            </a:extLst>
          </p:cNvPr>
          <p:cNvSpPr txBox="1"/>
          <p:nvPr/>
        </p:nvSpPr>
        <p:spPr>
          <a:xfrm>
            <a:off x="762000" y="1651000"/>
            <a:ext cx="10668000" cy="35548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500">
                <a:solidFill>
                  <a:srgbClr val="282828"/>
                </a:solidFill>
              </a:rPr>
              <a:t>The AlignPro tab is on the ribbon.
Two dropdowns carry the state the six align buttons are crossed with:
    Reference  -  what to align against: the anchor shape, the selection, the slide, the
                  slide margins, or the layout's content placeholder.
    Measure    -  which rectangle to align: the shape frame (what PowerPoint itself uses,
                  which ignores rotation), the visual bounds (what you actually see), or
                  the text inside.
Undo is PowerPoint's own - Ctrl+Z, the ribbon button and the Quick Access Toolbar all
reverse exactly one AlignPro command.
Slide 2 is the one to try first. It is the reason this add-in exists.</a:t>
            </a:r>
          </a:p>
        </p:txBody>
      </p:sp>
    </p:spTree>
    <p:extLst>
      <p:ext uri="{BB962C8B-B14F-4D97-AF65-F5344CB8AC3E}">
        <p14:creationId xmlns:p14="http://schemas.microsoft.com/office/powerpoint/2010/main" val="2832939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4D2320BC-2772-E423-E9CD-60A94269EFEE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Rotation: the case PowerPoint gets wrong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E71C122A-F3C4-B9C3-B47A-9982D7CC89EE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four. Align &gt; Left with Measure = Shape frame, undo, then again with Measure = Visual bounds.</a:t>
            </a:r>
          </a:p>
        </p:txBody>
      </p:sp>
      <p:sp>
        <p:nvSpPr>
          <p:cNvPr id="4" name="Plain1">
            <a:extLst>
              <a:ext uri="{FF2B5EF4-FFF2-40B4-BE49-F238E27FC236}">
                <a16:creationId xmlns:a16="http://schemas.microsoft.com/office/drawing/2014/main" id="{F94D94CD-8D56-C2EF-A632-525CF8B0A8A5}"/>
              </a:ext>
            </a:extLst>
          </p:cNvPr>
          <p:cNvSpPr/>
          <p:nvPr/>
        </p:nvSpPr>
        <p:spPr>
          <a:xfrm>
            <a:off x="1778000" y="1905000"/>
            <a:ext cx="1905000" cy="1016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Plain1</a:t>
            </a:r>
          </a:p>
        </p:txBody>
      </p:sp>
      <p:sp>
        <p:nvSpPr>
          <p:cNvPr id="5" name="Tall">
            <a:extLst>
              <a:ext uri="{FF2B5EF4-FFF2-40B4-BE49-F238E27FC236}">
                <a16:creationId xmlns:a16="http://schemas.microsoft.com/office/drawing/2014/main" id="{6935E25E-B6CE-81B4-230C-36256A9227F3}"/>
              </a:ext>
            </a:extLst>
          </p:cNvPr>
          <p:cNvSpPr/>
          <p:nvPr/>
        </p:nvSpPr>
        <p:spPr>
          <a:xfrm>
            <a:off x="4191000" y="3302000"/>
            <a:ext cx="1143000" cy="1905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Tall</a:t>
            </a:r>
          </a:p>
        </p:txBody>
      </p:sp>
      <p:sp>
        <p:nvSpPr>
          <p:cNvPr id="6" name="Rotated">
            <a:extLst>
              <a:ext uri="{FF2B5EF4-FFF2-40B4-BE49-F238E27FC236}">
                <a16:creationId xmlns:a16="http://schemas.microsoft.com/office/drawing/2014/main" id="{26E2C418-B438-8F30-1CA5-15E5ED69CDE2}"/>
              </a:ext>
            </a:extLst>
          </p:cNvPr>
          <p:cNvSpPr/>
          <p:nvPr/>
        </p:nvSpPr>
        <p:spPr>
          <a:xfrm rot="1800000">
            <a:off x="6604000" y="2032000"/>
            <a:ext cx="2286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Rotated 30</a:t>
            </a:r>
          </a:p>
        </p:txBody>
      </p:sp>
      <p:sp>
        <p:nvSpPr>
          <p:cNvPr id="7" name="Plain2">
            <a:extLst>
              <a:ext uri="{FF2B5EF4-FFF2-40B4-BE49-F238E27FC236}">
                <a16:creationId xmlns:a16="http://schemas.microsoft.com/office/drawing/2014/main" id="{9483BAFC-7E51-C17F-DEBA-BA39AF8CDDB2}"/>
              </a:ext>
            </a:extLst>
          </p:cNvPr>
          <p:cNvSpPr/>
          <p:nvPr/>
        </p:nvSpPr>
        <p:spPr>
          <a:xfrm>
            <a:off x="9398000" y="4191000"/>
            <a:ext cx="1651000" cy="889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71E1AF-16CD-A9E9-302B-BD98F778126B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In frame mode the rotated shape looks wrong, because PowerPoint aligns an unrotated rectangle it never draws. Visual bounds fixes it.</a:t>
            </a:r>
          </a:p>
        </p:txBody>
      </p:sp>
    </p:spTree>
    <p:extLst>
      <p:ext uri="{BB962C8B-B14F-4D97-AF65-F5344CB8AC3E}">
        <p14:creationId xmlns:p14="http://schemas.microsoft.com/office/powerpoint/2010/main" val="666713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1CA91E4A-5456-7ABA-DD98-7484F4C179EB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an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2239874-37AA-E7B6-D76D-A19B80EDD550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Set Reference = Anchor. Select the three small shapes, then Ctrl+click BIG ANCHOR last, and Align &gt; Left.</a:t>
            </a:r>
          </a:p>
        </p:txBody>
      </p:sp>
      <p:sp>
        <p:nvSpPr>
          <p:cNvPr id="4" name="Small1">
            <a:extLst>
              <a:ext uri="{FF2B5EF4-FFF2-40B4-BE49-F238E27FC236}">
                <a16:creationId xmlns:a16="http://schemas.microsoft.com/office/drawing/2014/main" id="{DECBE808-C135-CEEA-38DB-64C6C765E8FD}"/>
              </a:ext>
            </a:extLst>
          </p:cNvPr>
          <p:cNvSpPr/>
          <p:nvPr/>
        </p:nvSpPr>
        <p:spPr>
          <a:xfrm>
            <a:off x="1524000" y="2159000"/>
            <a:ext cx="1397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Small1</a:t>
            </a:r>
          </a:p>
        </p:txBody>
      </p:sp>
      <p:sp>
        <p:nvSpPr>
          <p:cNvPr id="5" name="Small2">
            <a:extLst>
              <a:ext uri="{FF2B5EF4-FFF2-40B4-BE49-F238E27FC236}">
                <a16:creationId xmlns:a16="http://schemas.microsoft.com/office/drawing/2014/main" id="{2C5DD125-9487-0EE7-544B-2610C2C2D33E}"/>
              </a:ext>
            </a:extLst>
          </p:cNvPr>
          <p:cNvSpPr/>
          <p:nvPr/>
        </p:nvSpPr>
        <p:spPr>
          <a:xfrm>
            <a:off x="3175000" y="3302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Small2</a:t>
            </a:r>
          </a:p>
        </p:txBody>
      </p:sp>
      <p:sp>
        <p:nvSpPr>
          <p:cNvPr id="6" name="Small3">
            <a:extLst>
              <a:ext uri="{FF2B5EF4-FFF2-40B4-BE49-F238E27FC236}">
                <a16:creationId xmlns:a16="http://schemas.microsoft.com/office/drawing/2014/main" id="{BD20AE5D-8A27-72B2-019D-D6231DCF1B4A}"/>
              </a:ext>
            </a:extLst>
          </p:cNvPr>
          <p:cNvSpPr/>
          <p:nvPr/>
        </p:nvSpPr>
        <p:spPr>
          <a:xfrm>
            <a:off x="2286000" y="4445000"/>
            <a:ext cx="1397000" cy="762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Small3</a:t>
            </a:r>
          </a:p>
        </p:txBody>
      </p:sp>
      <p:sp>
        <p:nvSpPr>
          <p:cNvPr id="7" name="Anchor">
            <a:extLst>
              <a:ext uri="{FF2B5EF4-FFF2-40B4-BE49-F238E27FC236}">
                <a16:creationId xmlns:a16="http://schemas.microsoft.com/office/drawing/2014/main" id="{958798D7-BFDC-C0F4-03C7-92FBF9118177}"/>
              </a:ext>
            </a:extLst>
          </p:cNvPr>
          <p:cNvSpPr/>
          <p:nvPr/>
        </p:nvSpPr>
        <p:spPr>
          <a:xfrm>
            <a:off x="7112000" y="2540000"/>
            <a:ext cx="3556000" cy="2540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BIG ANCHOR</a:t>
            </a:r>
          </a:p>
        </p:txBody>
      </p:sp>
    </p:spTree>
    <p:extLst>
      <p:ext uri="{BB962C8B-B14F-4D97-AF65-F5344CB8AC3E}">
        <p14:creationId xmlns:p14="http://schemas.microsoft.com/office/powerpoint/2010/main" val="1805846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0005E616-D4A3-06D3-9DC6-3B725902829E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Distribute: four modes, four answers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C5A598EA-3764-1D34-2AD7-A5E3BF1CDA60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five. Try Distribute &gt; Horizontally with each Space by setting. Widths differ, so all four differ.</a:t>
            </a:r>
          </a:p>
        </p:txBody>
      </p:sp>
      <p:sp>
        <p:nvSpPr>
          <p:cNvPr id="4" name="W200">
            <a:extLst>
              <a:ext uri="{FF2B5EF4-FFF2-40B4-BE49-F238E27FC236}">
                <a16:creationId xmlns:a16="http://schemas.microsoft.com/office/drawing/2014/main" id="{780344AF-B245-67C1-4805-0F980C0DCF9C}"/>
              </a:ext>
            </a:extLst>
          </p:cNvPr>
          <p:cNvSpPr/>
          <p:nvPr/>
        </p:nvSpPr>
        <p:spPr>
          <a:xfrm>
            <a:off x="635000" y="3175000"/>
            <a:ext cx="2540000" cy="1143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5" name="W60">
            <a:extLst>
              <a:ext uri="{FF2B5EF4-FFF2-40B4-BE49-F238E27FC236}">
                <a16:creationId xmlns:a16="http://schemas.microsoft.com/office/drawing/2014/main" id="{32586B56-5BF9-55BF-7CAB-9080D1EF469C}"/>
              </a:ext>
            </a:extLst>
          </p:cNvPr>
          <p:cNvSpPr/>
          <p:nvPr/>
        </p:nvSpPr>
        <p:spPr>
          <a:xfrm>
            <a:off x="3810000" y="3175000"/>
            <a:ext cx="762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6" name="W120">
            <a:extLst>
              <a:ext uri="{FF2B5EF4-FFF2-40B4-BE49-F238E27FC236}">
                <a16:creationId xmlns:a16="http://schemas.microsoft.com/office/drawing/2014/main" id="{75CD9908-8A85-6681-7691-18F867702CEB}"/>
              </a:ext>
            </a:extLst>
          </p:cNvPr>
          <p:cNvSpPr/>
          <p:nvPr/>
        </p:nvSpPr>
        <p:spPr>
          <a:xfrm>
            <a:off x="5334000" y="3175000"/>
            <a:ext cx="1524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7" name="W40">
            <a:extLst>
              <a:ext uri="{FF2B5EF4-FFF2-40B4-BE49-F238E27FC236}">
                <a16:creationId xmlns:a16="http://schemas.microsoft.com/office/drawing/2014/main" id="{5028F5A6-AF53-ABED-7259-75A86500CF4A}"/>
              </a:ext>
            </a:extLst>
          </p:cNvPr>
          <p:cNvSpPr/>
          <p:nvPr/>
        </p:nvSpPr>
        <p:spPr>
          <a:xfrm>
            <a:off x="7874000" y="3175000"/>
            <a:ext cx="508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8" name="W150">
            <a:extLst>
              <a:ext uri="{FF2B5EF4-FFF2-40B4-BE49-F238E27FC236}">
                <a16:creationId xmlns:a16="http://schemas.microsoft.com/office/drawing/2014/main" id="{4F1079F3-BB17-C135-E25F-1F253775A9DA}"/>
              </a:ext>
            </a:extLst>
          </p:cNvPr>
          <p:cNvSpPr/>
          <p:nvPr/>
        </p:nvSpPr>
        <p:spPr>
          <a:xfrm>
            <a:off x="9652000" y="3175000"/>
            <a:ext cx="1905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150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4A485-0EB8-06B0-C4E9-CFC1CF62FF51}"/>
              </a:ext>
            </a:extLst>
          </p:cNvPr>
          <p:cNvSpPr txBox="1"/>
          <p:nvPr/>
        </p:nvSpPr>
        <p:spPr>
          <a:xfrm>
            <a:off x="508000" y="4826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Leading edges lines up the left edges at an even pitch. Centres evens the centres. Trailing edges evens the right edges. Space between evens the visible gaps - the only one of the four that does.</a:t>
            </a:r>
          </a:p>
        </p:txBody>
      </p:sp>
    </p:spTree>
    <p:extLst>
      <p:ext uri="{BB962C8B-B14F-4D97-AF65-F5344CB8AC3E}">
        <p14:creationId xmlns:p14="http://schemas.microsoft.com/office/powerpoint/2010/main" val="909781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33FAB78E-59D1-3EDC-1D26-A0EC113970F9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Exact spacing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8A737B20-A0F8-3228-C60F-0DC83348BD4D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four, put 12 in the Exact (pt) box, Space by = Space between, then Distribute &gt; Horizontally.</a:t>
            </a:r>
          </a:p>
        </p:txBody>
      </p:sp>
      <p:sp>
        <p:nvSpPr>
          <p:cNvPr id="4" name="Gap0">
            <a:extLst>
              <a:ext uri="{FF2B5EF4-FFF2-40B4-BE49-F238E27FC236}">
                <a16:creationId xmlns:a16="http://schemas.microsoft.com/office/drawing/2014/main" id="{5A548DC6-691F-8AC3-40B9-93C0300E655D}"/>
              </a:ext>
            </a:extLst>
          </p:cNvPr>
          <p:cNvSpPr/>
          <p:nvPr/>
        </p:nvSpPr>
        <p:spPr>
          <a:xfrm>
            <a:off x="1016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#1</a:t>
            </a:r>
          </a:p>
        </p:txBody>
      </p:sp>
      <p:sp>
        <p:nvSpPr>
          <p:cNvPr id="5" name="Gap1">
            <a:extLst>
              <a:ext uri="{FF2B5EF4-FFF2-40B4-BE49-F238E27FC236}">
                <a16:creationId xmlns:a16="http://schemas.microsoft.com/office/drawing/2014/main" id="{A9922820-CC26-D6B3-3924-F1A896CDDD13}"/>
              </a:ext>
            </a:extLst>
          </p:cNvPr>
          <p:cNvSpPr/>
          <p:nvPr/>
        </p:nvSpPr>
        <p:spPr>
          <a:xfrm>
            <a:off x="3429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#2</a:t>
            </a:r>
          </a:p>
        </p:txBody>
      </p:sp>
      <p:sp>
        <p:nvSpPr>
          <p:cNvPr id="6" name="Gap2">
            <a:extLst>
              <a:ext uri="{FF2B5EF4-FFF2-40B4-BE49-F238E27FC236}">
                <a16:creationId xmlns:a16="http://schemas.microsoft.com/office/drawing/2014/main" id="{64240C09-BCE0-59DB-8EB9-A6326043BDC9}"/>
              </a:ext>
            </a:extLst>
          </p:cNvPr>
          <p:cNvSpPr/>
          <p:nvPr/>
        </p:nvSpPr>
        <p:spPr>
          <a:xfrm>
            <a:off x="5842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#3</a:t>
            </a:r>
          </a:p>
        </p:txBody>
      </p:sp>
      <p:sp>
        <p:nvSpPr>
          <p:cNvPr id="7" name="Gap3">
            <a:extLst>
              <a:ext uri="{FF2B5EF4-FFF2-40B4-BE49-F238E27FC236}">
                <a16:creationId xmlns:a16="http://schemas.microsoft.com/office/drawing/2014/main" id="{214B50A7-AB53-92DD-32D4-6BD45600A2BF}"/>
              </a:ext>
            </a:extLst>
          </p:cNvPr>
          <p:cNvSpPr/>
          <p:nvPr/>
        </p:nvSpPr>
        <p:spPr>
          <a:xfrm>
            <a:off x="8255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1DE18D-9409-5FF6-297F-312E1E17321F}"/>
              </a:ext>
            </a:extLst>
          </p:cNvPr>
          <p:cNvSpPr txBox="1"/>
          <p:nvPr/>
        </p:nvSpPr>
        <p:spPr>
          <a:xfrm>
            <a:off x="508000" y="4826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Clear the box again to go back to evening out whatever space is already there. In the edge and centre modes the number is a pitch, not a gap.</a:t>
            </a:r>
          </a:p>
        </p:txBody>
      </p:sp>
    </p:spTree>
    <p:extLst>
      <p:ext uri="{BB962C8B-B14F-4D97-AF65-F5344CB8AC3E}">
        <p14:creationId xmlns:p14="http://schemas.microsoft.com/office/powerpoint/2010/main" val="3677677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0A81E201-7C6F-F773-0409-03355439EFAF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to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F4ADDDDE-D37E-D716-84F9-0B4C262524BA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odd shapes, then Ctrl+click TARGET last. Match size &gt; Both. Try the From centre toggle too.</a:t>
            </a:r>
          </a:p>
        </p:txBody>
      </p:sp>
      <p:sp>
        <p:nvSpPr>
          <p:cNvPr id="4" name="Odd1">
            <a:extLst>
              <a:ext uri="{FF2B5EF4-FFF2-40B4-BE49-F238E27FC236}">
                <a16:creationId xmlns:a16="http://schemas.microsoft.com/office/drawing/2014/main" id="{C38BAB03-F82D-F78E-4740-2A59A2C431DE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Odd1</a:t>
            </a:r>
          </a:p>
        </p:txBody>
      </p:sp>
      <p:sp>
        <p:nvSpPr>
          <p:cNvPr id="5" name="Odd2">
            <a:extLst>
              <a:ext uri="{FF2B5EF4-FFF2-40B4-BE49-F238E27FC236}">
                <a16:creationId xmlns:a16="http://schemas.microsoft.com/office/drawing/2014/main" id="{16746223-2CF5-CD1B-52CE-699627368751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Odd2</a:t>
            </a:r>
          </a:p>
        </p:txBody>
      </p:sp>
      <p:sp>
        <p:nvSpPr>
          <p:cNvPr id="6" name="Odd3">
            <a:extLst>
              <a:ext uri="{FF2B5EF4-FFF2-40B4-BE49-F238E27FC236}">
                <a16:creationId xmlns:a16="http://schemas.microsoft.com/office/drawing/2014/main" id="{AF5D7A72-F2E8-91C2-55F3-6CD79512B42F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Odd3</a:t>
            </a:r>
          </a:p>
        </p:txBody>
      </p:sp>
      <p:sp>
        <p:nvSpPr>
          <p:cNvPr id="7" name="Target">
            <a:extLst>
              <a:ext uri="{FF2B5EF4-FFF2-40B4-BE49-F238E27FC236}">
                <a16:creationId xmlns:a16="http://schemas.microsoft.com/office/drawing/2014/main" id="{1E59E077-6F00-975B-E8AD-A745741CDB1B}"/>
              </a:ext>
            </a:extLst>
          </p:cNvPr>
          <p:cNvSpPr/>
          <p:nvPr/>
        </p:nvSpPr>
        <p:spPr>
          <a:xfrm>
            <a:off x="7620000" y="2921000"/>
            <a:ext cx="2540000" cy="1524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</p:spTree>
    <p:extLst>
      <p:ext uri="{BB962C8B-B14F-4D97-AF65-F5344CB8AC3E}">
        <p14:creationId xmlns:p14="http://schemas.microsoft.com/office/powerpoint/2010/main" val="512217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D191635C-CECE-205D-9254-51EBCC1C2B09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Groups are one object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DD163F24-6E7C-1A8D-66CE-F6258F4B4070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Align the group with the loose shapes - its internal spacing must not change. Then try Match size on it.</a:t>
            </a:r>
          </a:p>
        </p:txBody>
      </p:sp>
      <p:grpSp>
        <p:nvGrpSpPr>
          <p:cNvPr id="7" name="TheGroup">
            <a:extLst>
              <a:ext uri="{FF2B5EF4-FFF2-40B4-BE49-F238E27FC236}">
                <a16:creationId xmlns:a16="http://schemas.microsoft.com/office/drawing/2014/main" id="{F54E6CB6-2965-1CD8-0F9E-316D3E2DABAE}"/>
              </a:ext>
            </a:extLst>
          </p:cNvPr>
          <p:cNvGrpSpPr/>
          <p:nvPr/>
        </p:nvGrpSpPr>
        <p:grpSpPr>
          <a:xfrm>
            <a:off x="1397000" y="2540000"/>
            <a:ext cx="4191000" cy="889000"/>
            <a:chOff x="1397000" y="2540000"/>
            <a:chExt cx="4191000" cy="889000"/>
          </a:xfrm>
        </p:grpSpPr>
        <p:sp>
          <p:nvSpPr>
            <p:cNvPr id="4" name="G1">
              <a:extLst>
                <a:ext uri="{FF2B5EF4-FFF2-40B4-BE49-F238E27FC236}">
                  <a16:creationId xmlns:a16="http://schemas.microsoft.com/office/drawing/2014/main" id="{3DF1BAE6-88DA-2700-6646-E663896CE7C1}"/>
                </a:ext>
              </a:extLst>
            </p:cNvPr>
            <p:cNvSpPr/>
            <p:nvPr/>
          </p:nvSpPr>
          <p:spPr>
            <a:xfrm>
              <a:off x="1397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G1</a:t>
              </a:r>
            </a:p>
          </p:txBody>
        </p:sp>
        <p:sp>
          <p:nvSpPr>
            <p:cNvPr id="5" name="G2">
              <a:extLst>
                <a:ext uri="{FF2B5EF4-FFF2-40B4-BE49-F238E27FC236}">
                  <a16:creationId xmlns:a16="http://schemas.microsoft.com/office/drawing/2014/main" id="{4CC5C473-DFBD-7A8D-2854-A71A33321AAB}"/>
                </a:ext>
              </a:extLst>
            </p:cNvPr>
            <p:cNvSpPr/>
            <p:nvPr/>
          </p:nvSpPr>
          <p:spPr>
            <a:xfrm>
              <a:off x="2921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G2</a:t>
              </a:r>
            </a:p>
          </p:txBody>
        </p:sp>
        <p:sp>
          <p:nvSpPr>
            <p:cNvPr id="6" name="G3">
              <a:extLst>
                <a:ext uri="{FF2B5EF4-FFF2-40B4-BE49-F238E27FC236}">
                  <a16:creationId xmlns:a16="http://schemas.microsoft.com/office/drawing/2014/main" id="{EF97760E-F0EE-3320-6C76-F439FC23D52F}"/>
                </a:ext>
              </a:extLst>
            </p:cNvPr>
            <p:cNvSpPr/>
            <p:nvPr/>
          </p:nvSpPr>
          <p:spPr>
            <a:xfrm>
              <a:off x="4445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G3</a:t>
              </a:r>
            </a:p>
          </p:txBody>
        </p:sp>
      </p:grpSp>
      <p:sp>
        <p:nvSpPr>
          <p:cNvPr id="8" name="Loose1">
            <a:extLst>
              <a:ext uri="{FF2B5EF4-FFF2-40B4-BE49-F238E27FC236}">
                <a16:creationId xmlns:a16="http://schemas.microsoft.com/office/drawing/2014/main" id="{20EB0308-3A11-ACB6-19CB-8F555431CEEA}"/>
              </a:ext>
            </a:extLst>
          </p:cNvPr>
          <p:cNvSpPr/>
          <p:nvPr/>
        </p:nvSpPr>
        <p:spPr>
          <a:xfrm>
            <a:off x="7620000" y="3810000"/>
            <a:ext cx="1905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Loose1</a:t>
            </a:r>
          </a:p>
        </p:txBody>
      </p:sp>
      <p:sp>
        <p:nvSpPr>
          <p:cNvPr id="9" name="Loose2">
            <a:extLst>
              <a:ext uri="{FF2B5EF4-FFF2-40B4-BE49-F238E27FC236}">
                <a16:creationId xmlns:a16="http://schemas.microsoft.com/office/drawing/2014/main" id="{8BC010B2-668C-048A-1581-AC17BD0A6273}"/>
              </a:ext>
            </a:extLst>
          </p:cNvPr>
          <p:cNvSpPr/>
          <p:nvPr/>
        </p:nvSpPr>
        <p:spPr>
          <a:xfrm>
            <a:off x="10033000" y="4953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DFA963-B4F2-B2A0-A256-7EAF16EAA736}"/>
              </a:ext>
            </a:extLst>
          </p:cNvPr>
          <p:cNvSpPr txBox="1"/>
          <p:nvPr/>
        </p:nvSpPr>
        <p:spPr>
          <a:xfrm>
            <a:off x="508000" y="5842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Match size refuses groups on purpose: scaling a group scales the gaps between its children, which silently distorts a diagram. AlignPro tells you rather than doing it.</a:t>
            </a:r>
          </a:p>
        </p:txBody>
      </p:sp>
    </p:spTree>
    <p:extLst>
      <p:ext uri="{BB962C8B-B14F-4D97-AF65-F5344CB8AC3E}">
        <p14:creationId xmlns:p14="http://schemas.microsoft.com/office/powerpoint/2010/main" val="2833574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57A178A9-93E0-E5AD-8F5C-98455761654E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the text, not the box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4393E24-9AE5-C303-AF1F-6DCB09EB526B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All three frames already start at the same x. Select them and Align &gt; Left with Measure = Text bounds.</a:t>
            </a:r>
          </a:p>
        </p:txBody>
      </p:sp>
      <p:sp>
        <p:nvSpPr>
          <p:cNvPr id="4" name="Text0">
            <a:extLst>
              <a:ext uri="{FF2B5EF4-FFF2-40B4-BE49-F238E27FC236}">
                <a16:creationId xmlns:a16="http://schemas.microsoft.com/office/drawing/2014/main" id="{D1749478-28B0-A850-E396-1F3AFC710665}"/>
              </a:ext>
            </a:extLst>
          </p:cNvPr>
          <p:cNvSpPr/>
          <p:nvPr/>
        </p:nvSpPr>
        <p:spPr>
          <a:xfrm>
            <a:off x="3175000" y="2159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1600">
                <a:solidFill>
                  <a:srgbClr val="282828"/>
                </a:solidFill>
              </a:rPr>
              <a:t>left-aligned text</a:t>
            </a:r>
          </a:p>
        </p:txBody>
      </p:sp>
      <p:sp>
        <p:nvSpPr>
          <p:cNvPr id="5" name="Text1">
            <a:extLst>
              <a:ext uri="{FF2B5EF4-FFF2-40B4-BE49-F238E27FC236}">
                <a16:creationId xmlns:a16="http://schemas.microsoft.com/office/drawing/2014/main" id="{6B9340F3-09C2-854E-CF00-993F4B7C61E2}"/>
              </a:ext>
            </a:extLst>
          </p:cNvPr>
          <p:cNvSpPr/>
          <p:nvPr/>
        </p:nvSpPr>
        <p:spPr>
          <a:xfrm>
            <a:off x="3175000" y="3302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>
                <a:solidFill>
                  <a:srgbClr val="282828"/>
                </a:solidFill>
              </a:rPr>
              <a:t>centred text</a:t>
            </a:r>
          </a:p>
        </p:txBody>
      </p:sp>
      <p:sp>
        <p:nvSpPr>
          <p:cNvPr id="6" name="Text2">
            <a:extLst>
              <a:ext uri="{FF2B5EF4-FFF2-40B4-BE49-F238E27FC236}">
                <a16:creationId xmlns:a16="http://schemas.microsoft.com/office/drawing/2014/main" id="{CF1367B0-581D-4DF3-D663-2F05CB7AD22D}"/>
              </a:ext>
            </a:extLst>
          </p:cNvPr>
          <p:cNvSpPr/>
          <p:nvPr/>
        </p:nvSpPr>
        <p:spPr>
          <a:xfrm>
            <a:off x="3175000" y="4445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AU" sz="1600">
                <a:solidFill>
                  <a:srgbClr val="282828"/>
                </a:solidFill>
              </a:rPr>
              <a:t>right-aligned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A9860F-E010-E907-1E90-114C6BD38C89}"/>
              </a:ext>
            </a:extLst>
          </p:cNvPr>
          <p:cNvSpPr txBox="1"/>
          <p:nvPr/>
        </p:nvSpPr>
        <p:spPr>
          <a:xfrm>
            <a:off x="508000" y="5715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frames are identical, so frame mode does nothing. Text bounds moves each box so the text itself lines up.</a:t>
            </a:r>
          </a:p>
        </p:txBody>
      </p:sp>
    </p:spTree>
    <p:extLst>
      <p:ext uri="{BB962C8B-B14F-4D97-AF65-F5344CB8AC3E}">
        <p14:creationId xmlns:p14="http://schemas.microsoft.com/office/powerpoint/2010/main" val="1656065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9E40F54B-D6DB-5428-DF8B-0454CC668BA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Tidy a scatter into a grid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44EF995E-ED54-CAA7-0F85-72A5E12778E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nine circles. Leave Columns blank for a near-square grid, or type 3. Then Arrange &gt; Grid.</a:t>
            </a:r>
          </a:p>
        </p:txBody>
      </p:sp>
      <p:sp>
        <p:nvSpPr>
          <p:cNvPr id="4" name="Dot0">
            <a:extLst>
              <a:ext uri="{FF2B5EF4-FFF2-40B4-BE49-F238E27FC236}">
                <a16:creationId xmlns:a16="http://schemas.microsoft.com/office/drawing/2014/main" id="{B7ED2806-E1AB-560D-BED7-3ACA5FED421C}"/>
              </a:ext>
            </a:extLst>
          </p:cNvPr>
          <p:cNvSpPr/>
          <p:nvPr/>
        </p:nvSpPr>
        <p:spPr>
          <a:xfrm>
            <a:off x="1524000" y="1905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Dot1">
            <a:extLst>
              <a:ext uri="{FF2B5EF4-FFF2-40B4-BE49-F238E27FC236}">
                <a16:creationId xmlns:a16="http://schemas.microsoft.com/office/drawing/2014/main" id="{D656A9ED-F875-0C01-BBB9-142F33C32EAB}"/>
              </a:ext>
            </a:extLst>
          </p:cNvPr>
          <p:cNvSpPr/>
          <p:nvPr/>
        </p:nvSpPr>
        <p:spPr>
          <a:xfrm>
            <a:off x="5461000" y="2413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Dot2">
            <a:extLst>
              <a:ext uri="{FF2B5EF4-FFF2-40B4-BE49-F238E27FC236}">
                <a16:creationId xmlns:a16="http://schemas.microsoft.com/office/drawing/2014/main" id="{AD773CA7-0D1A-E891-B3BD-83A3C9C399B5}"/>
              </a:ext>
            </a:extLst>
          </p:cNvPr>
          <p:cNvSpPr/>
          <p:nvPr/>
        </p:nvSpPr>
        <p:spPr>
          <a:xfrm>
            <a:off x="9652000" y="1778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Dot3">
            <a:extLst>
              <a:ext uri="{FF2B5EF4-FFF2-40B4-BE49-F238E27FC236}">
                <a16:creationId xmlns:a16="http://schemas.microsoft.com/office/drawing/2014/main" id="{BA1C48D4-847C-6050-564E-7E90F5D22556}"/>
              </a:ext>
            </a:extLst>
          </p:cNvPr>
          <p:cNvSpPr/>
          <p:nvPr/>
        </p:nvSpPr>
        <p:spPr>
          <a:xfrm>
            <a:off x="2413000" y="381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Dot4">
            <a:extLst>
              <a:ext uri="{FF2B5EF4-FFF2-40B4-BE49-F238E27FC236}">
                <a16:creationId xmlns:a16="http://schemas.microsoft.com/office/drawing/2014/main" id="{A8A23775-29C3-95EE-4708-FFDC638851DE}"/>
              </a:ext>
            </a:extLst>
          </p:cNvPr>
          <p:cNvSpPr/>
          <p:nvPr/>
        </p:nvSpPr>
        <p:spPr>
          <a:xfrm>
            <a:off x="6604000" y="3302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Dot5">
            <a:extLst>
              <a:ext uri="{FF2B5EF4-FFF2-40B4-BE49-F238E27FC236}">
                <a16:creationId xmlns:a16="http://schemas.microsoft.com/office/drawing/2014/main" id="{FF5C571E-3CB8-C2A0-A6BA-05EF60BFDDE7}"/>
              </a:ext>
            </a:extLst>
          </p:cNvPr>
          <p:cNvSpPr/>
          <p:nvPr/>
        </p:nvSpPr>
        <p:spPr>
          <a:xfrm>
            <a:off x="8763000" y="419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0" name="Dot6">
            <a:extLst>
              <a:ext uri="{FF2B5EF4-FFF2-40B4-BE49-F238E27FC236}">
                <a16:creationId xmlns:a16="http://schemas.microsoft.com/office/drawing/2014/main" id="{1FE93385-64E2-B482-2363-0986CF485A13}"/>
              </a:ext>
            </a:extLst>
          </p:cNvPr>
          <p:cNvSpPr/>
          <p:nvPr/>
        </p:nvSpPr>
        <p:spPr>
          <a:xfrm>
            <a:off x="1397000" y="5334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" name="Dot7">
            <a:extLst>
              <a:ext uri="{FF2B5EF4-FFF2-40B4-BE49-F238E27FC236}">
                <a16:creationId xmlns:a16="http://schemas.microsoft.com/office/drawing/2014/main" id="{4D164454-80A3-0E7B-5A28-0CB3A23292E6}"/>
              </a:ext>
            </a:extLst>
          </p:cNvPr>
          <p:cNvSpPr/>
          <p:nvPr/>
        </p:nvSpPr>
        <p:spPr>
          <a:xfrm>
            <a:off x="5080000" y="508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2" name="Dot8">
            <a:extLst>
              <a:ext uri="{FF2B5EF4-FFF2-40B4-BE49-F238E27FC236}">
                <a16:creationId xmlns:a16="http://schemas.microsoft.com/office/drawing/2014/main" id="{56ECB557-0FD7-4B24-45D8-5A3976DEF250}"/>
              </a:ext>
            </a:extLst>
          </p:cNvPr>
          <p:cNvSpPr/>
          <p:nvPr/>
        </p:nvSpPr>
        <p:spPr>
          <a:xfrm>
            <a:off x="10160000" y="546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0565D4-1799-E730-14BC-90BA59AEA719}"/>
              </a:ext>
            </a:extLst>
          </p:cNvPr>
          <p:cNvSpPr txBox="1"/>
          <p:nvPr/>
        </p:nvSpPr>
        <p:spPr>
          <a:xfrm>
            <a:off x="508000" y="6350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Grid only repositions - sizes are left alone, so it is safe on groups too. Set Reference = Slide to spread across the whole slide.</a:t>
            </a:r>
          </a:p>
        </p:txBody>
      </p:sp>
    </p:spTree>
    <p:extLst>
      <p:ext uri="{BB962C8B-B14F-4D97-AF65-F5344CB8AC3E}">
        <p14:creationId xmlns:p14="http://schemas.microsoft.com/office/powerpoint/2010/main" val="3966504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9717B2D5-264E-B2A4-0152-64285FD61457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the slide, or to its margins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2EEF2D3A-8554-49C0-3E54-1EC1ED80352B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one shape. Reference = Slide then Align &gt; Centre. Then Reference = Slide margins with Margin = 36.</a:t>
            </a:r>
          </a:p>
        </p:txBody>
      </p:sp>
      <p:sp>
        <p:nvSpPr>
          <p:cNvPr id="4" name="Wanderer">
            <a:extLst>
              <a:ext uri="{FF2B5EF4-FFF2-40B4-BE49-F238E27FC236}">
                <a16:creationId xmlns:a16="http://schemas.microsoft.com/office/drawing/2014/main" id="{9F8CC8FF-DDF0-E998-51A8-14A9A2E510D3}"/>
              </a:ext>
            </a:extLst>
          </p:cNvPr>
          <p:cNvSpPr/>
          <p:nvPr/>
        </p:nvSpPr>
        <p:spPr>
          <a:xfrm>
            <a:off x="1905000" y="2540000"/>
            <a:ext cx="2794000" cy="1524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Move me</a:t>
            </a:r>
          </a:p>
        </p:txBody>
      </p:sp>
      <p:sp>
        <p:nvSpPr>
          <p:cNvPr id="5" name="Friend">
            <a:extLst>
              <a:ext uri="{FF2B5EF4-FFF2-40B4-BE49-F238E27FC236}">
                <a16:creationId xmlns:a16="http://schemas.microsoft.com/office/drawing/2014/main" id="{47133852-853B-FB6C-CC34-4C2407B1884A}"/>
              </a:ext>
            </a:extLst>
          </p:cNvPr>
          <p:cNvSpPr/>
          <p:nvPr/>
        </p:nvSpPr>
        <p:spPr>
          <a:xfrm>
            <a:off x="7874000" y="4318000"/>
            <a:ext cx="2032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Friend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3579A-9577-0D5B-AA02-4B78E0AC5F45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a single shape to the selection is meaningless, so AlignPro refuses it and says why. Against the slide it is perfectly meaningful, so it works.</a:t>
            </a:r>
          </a:p>
        </p:txBody>
      </p:sp>
    </p:spTree>
    <p:extLst>
      <p:ext uri="{BB962C8B-B14F-4D97-AF65-F5344CB8AC3E}">
        <p14:creationId xmlns:p14="http://schemas.microsoft.com/office/powerpoint/2010/main" val="614560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684</Words>
  <Application>Microsoft Office PowerPoint</Application>
  <PresentationFormat>Widescreen</PresentationFormat>
  <Paragraphs>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Renoden</dc:creator>
  <cp:lastModifiedBy>Mark Renoden</cp:lastModifiedBy>
  <cp:revision>1</cp:revision>
  <dcterms:created xsi:type="dcterms:W3CDTF">2026-09-17T04:03:51Z</dcterms:created>
  <dcterms:modified xsi:type="dcterms:W3CDTF">2026-09-17T04:03:51Z</dcterms:modified>
</cp:coreProperties>
</file>