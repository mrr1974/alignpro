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6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4495-D507-0591-B4C9-2073DC216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E2AD5C-2676-E556-CAE6-5EA3A893E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B022E-A4C8-9BD4-C785-A64B0A62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2E8E7-7EEC-6B02-AE22-783B335D8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EBB54-87E5-821E-8A3F-EF15DCA7E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9479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67C1-41CE-33AA-3C7E-DA6162558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CEBDF-6803-9B20-3477-95193A018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06223-11BD-2018-C358-C72A2B00F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B7F98-7FE5-5CCB-A804-96149D145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52ED-3EE8-DAA8-28B2-643A1638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8021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F165B-A8A4-EEBE-AA91-19C82A9A6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A7774-DDD2-D00C-A403-391C70B87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53C88-3EBE-6A8C-B5B2-11BDDEA27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0C7E-16C9-E3B3-5FA4-D273A90BD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DB5A6-AEC9-6F44-5E39-2911A956E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4299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6354B-B520-7A97-AF3E-D42A5E904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86E98-2A3A-D05F-496D-4BD7A7BD71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63B52E-CB63-5005-33C6-2341DF5BA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5C6A3-D139-44DF-989A-C728BC38F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A361D-49B7-177C-3696-014CE264F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6D721-120D-C4AF-8A6A-3441ABC01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5709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FCF76-3837-9719-7CC9-AF792D11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94D37-B4F1-CEEB-1F4E-2E4ECE0C4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B8E8C3-883F-1976-0B41-8C4C87273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7CAD8B-07E7-C449-37BE-2B1A7D55CB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35663-677C-D2C0-B25E-B1AC94835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237068-6980-D5F2-C3FC-21207853C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274891-9C0A-85B0-6804-97EA23D34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1E6BAE-75B7-0FB9-4C4F-B6B656EA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729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B0E7-B1E4-6802-4B86-6E133E8ED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781F8E-BDFE-4CC5-C9DA-9E166B8FE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FD4892-76FB-889C-AA3B-61F2174A8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1F5D44-D69E-EC41-C07A-EBC96E5AD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7660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92A980-79CC-08B5-43E0-8B3801BB2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24EBC0-290F-7719-49D1-1F8FED804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E6F55-9BAB-7B7F-7A39-8FE549CA4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4658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A0B89-D5EE-AC54-00A3-88A5155B8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EA60E-626C-C47B-87EE-1580F8D3D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60D2EC-3CC8-66CB-CAFB-D5DC4A008B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614015-7D84-E624-4BA2-C74D697EF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D3BA1-AAF2-E75E-E7F8-6081AB7FC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1FB9F-D1FA-C66D-E1BE-97ECF4B2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239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11158-0DD2-9620-AEB6-09E32623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3FF936-40FA-C2C8-72E3-815D4C3D2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9CC37-659C-3AE9-23BD-3EA2FE47D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BAA14-2A32-5D77-AE9D-FC7C14F7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2CAC6-FE14-4483-9F89-71556393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A338D-8B90-9ECB-D0A3-C2B8558E3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929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8A4A-42DA-2552-575C-F379E442C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FB988-09A4-D425-0A10-C6DA0AC31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BB8B2-F88B-7A8E-9A51-EDB709094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148A1-5863-5F39-AA86-FEE7CC674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80FAF-39A3-E7B9-22CD-D135BCB1A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8059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C5C996-87C8-21E0-8C3B-CF0DEA75AC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581260-9B2C-0AF1-7739-D9B8997EB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F15CE-DB7F-C63D-0F50-66EBB8768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E82FE-253D-ECE2-7FAC-725F95799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2B8E-09DB-AB81-82BE-568E92738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8765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B0CC0E-23EA-30B8-4093-13752E1A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4C9D1-9A5F-4D83-5D33-1C71074C3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9FD47-8F19-9AA5-0E8C-7806FEE638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420DFD-775E-4087-B95C-59938401E0DE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73709-F9A9-AF38-46FC-A6177E80E5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C2227-9820-8E78-54BA-3B8BCB47A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43EE84-2D39-48D4-B172-A2319F73BD0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1507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A9964AF-44F4-B3F1-58CE-91D08A33A781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AlignPro sample deck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1B93038-DF47-00F3-99F2-31F9AB90B66F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Each slide says what to try. Nothing here is precious - edit it freely and save over it if you like.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80198-27A7-55DE-2AD1-CA726ADB64E1}"/>
              </a:ext>
            </a:extLst>
          </p:cNvPr>
          <p:cNvSpPr txBox="1"/>
          <p:nvPr/>
        </p:nvSpPr>
        <p:spPr>
          <a:xfrm>
            <a:off x="762000" y="1651000"/>
            <a:ext cx="10668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500">
                <a:solidFill>
                  <a:srgbClr val="282828"/>
                </a:solidFill>
              </a:rPr>
              <a:t>The AlignPro tab is on the ribbon.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Two dropdowns carry the state the six align buttons are crossed with: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    Reference  -  what to align against: the anchor shape, the selection, the slide, the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slide margins, or the layout's content placeholder.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    Measure    -  which rectangle to align: the shape frame (what PowerPoint itself uses,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which ignores rotation), the visual bounds (what you actually see), or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the text inside.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Undo is PowerPoint's own - Ctrl+Z, the ribbon button and the Quick Access Toolbar all</a:t>
            </a:r>
          </a:p>
          <a:p>
            <a:r>
              <a:rPr lang="en-AU" sz="1500">
                <a:solidFill>
                  <a:srgbClr val="282828"/>
                </a:solidFill>
              </a:rPr>
              <a:t>reverse exactly one AlignPro command.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Slide 2 is the one to try first. It is the reason this add-in exists.</a:t>
            </a:r>
          </a:p>
        </p:txBody>
      </p:sp>
    </p:spTree>
    <p:extLst>
      <p:ext uri="{BB962C8B-B14F-4D97-AF65-F5344CB8AC3E}">
        <p14:creationId xmlns:p14="http://schemas.microsoft.com/office/powerpoint/2010/main" val="1298324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09FE611A-4C17-D32F-B856-FB32A8B1E9ED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Rotation: the case PowerPoint gets wrong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14423CF9-3AED-329B-9035-AEE6F7EE14C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four. Align &gt; Left with Measure = Shape frame, undo, then again with Measure = Visual bounds.</a:t>
            </a:r>
          </a:p>
        </p:txBody>
      </p:sp>
      <p:sp>
        <p:nvSpPr>
          <p:cNvPr id="4" name="Plain1">
            <a:extLst>
              <a:ext uri="{FF2B5EF4-FFF2-40B4-BE49-F238E27FC236}">
                <a16:creationId xmlns:a16="http://schemas.microsoft.com/office/drawing/2014/main" id="{D31B0E77-49D4-E61A-DDEB-1F18F66F5E04}"/>
              </a:ext>
            </a:extLst>
          </p:cNvPr>
          <p:cNvSpPr/>
          <p:nvPr/>
        </p:nvSpPr>
        <p:spPr>
          <a:xfrm>
            <a:off x="1778000" y="1905000"/>
            <a:ext cx="1905000" cy="1016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Plain1</a:t>
            </a:r>
          </a:p>
        </p:txBody>
      </p:sp>
      <p:sp>
        <p:nvSpPr>
          <p:cNvPr id="5" name="Tall">
            <a:extLst>
              <a:ext uri="{FF2B5EF4-FFF2-40B4-BE49-F238E27FC236}">
                <a16:creationId xmlns:a16="http://schemas.microsoft.com/office/drawing/2014/main" id="{232E0C09-2325-AE1D-AC64-0A0213953A8E}"/>
              </a:ext>
            </a:extLst>
          </p:cNvPr>
          <p:cNvSpPr/>
          <p:nvPr/>
        </p:nvSpPr>
        <p:spPr>
          <a:xfrm>
            <a:off x="4191000" y="3302000"/>
            <a:ext cx="1143000" cy="1905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Tall</a:t>
            </a:r>
          </a:p>
        </p:txBody>
      </p:sp>
      <p:sp>
        <p:nvSpPr>
          <p:cNvPr id="6" name="Rotated">
            <a:extLst>
              <a:ext uri="{FF2B5EF4-FFF2-40B4-BE49-F238E27FC236}">
                <a16:creationId xmlns:a16="http://schemas.microsoft.com/office/drawing/2014/main" id="{79000132-A80A-2ECA-8CEC-B59D6A66F410}"/>
              </a:ext>
            </a:extLst>
          </p:cNvPr>
          <p:cNvSpPr/>
          <p:nvPr/>
        </p:nvSpPr>
        <p:spPr>
          <a:xfrm rot="1800000">
            <a:off x="6604000" y="2032000"/>
            <a:ext cx="2286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Rotated 30</a:t>
            </a:r>
          </a:p>
        </p:txBody>
      </p:sp>
      <p:sp>
        <p:nvSpPr>
          <p:cNvPr id="7" name="Plain2">
            <a:extLst>
              <a:ext uri="{FF2B5EF4-FFF2-40B4-BE49-F238E27FC236}">
                <a16:creationId xmlns:a16="http://schemas.microsoft.com/office/drawing/2014/main" id="{81F2BB79-FBA9-8B9D-C9E6-68FA039D43FD}"/>
              </a:ext>
            </a:extLst>
          </p:cNvPr>
          <p:cNvSpPr/>
          <p:nvPr/>
        </p:nvSpPr>
        <p:spPr>
          <a:xfrm>
            <a:off x="9398000" y="4191000"/>
            <a:ext cx="1651000" cy="889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CFCE0-3F47-1ACD-C79B-05DC2A788394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 frame mode the rotated shape looks wrong, because PowerPoint aligns an unrotated rectangle it never draws. Visual bounds fixes it.</a:t>
            </a:r>
          </a:p>
        </p:txBody>
      </p:sp>
    </p:spTree>
    <p:extLst>
      <p:ext uri="{BB962C8B-B14F-4D97-AF65-F5344CB8AC3E}">
        <p14:creationId xmlns:p14="http://schemas.microsoft.com/office/powerpoint/2010/main" val="4283363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7C0228FC-87C4-DAA1-421B-6A16BDC46F60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an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BEF2C34-ADE8-641A-5E9F-EAF15B06681D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Set Reference = Anchor. Select the three small shapes, then Ctrl+click BIG ANCHOR last, and Align &gt; Left.</a:t>
            </a:r>
          </a:p>
        </p:txBody>
      </p:sp>
      <p:sp>
        <p:nvSpPr>
          <p:cNvPr id="4" name="Small1">
            <a:extLst>
              <a:ext uri="{FF2B5EF4-FFF2-40B4-BE49-F238E27FC236}">
                <a16:creationId xmlns:a16="http://schemas.microsoft.com/office/drawing/2014/main" id="{FA270DD6-EB63-5AE4-2D9D-C37B1D604FCC}"/>
              </a:ext>
            </a:extLst>
          </p:cNvPr>
          <p:cNvSpPr/>
          <p:nvPr/>
        </p:nvSpPr>
        <p:spPr>
          <a:xfrm>
            <a:off x="1524000" y="2159000"/>
            <a:ext cx="1397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Small1</a:t>
            </a:r>
          </a:p>
        </p:txBody>
      </p:sp>
      <p:sp>
        <p:nvSpPr>
          <p:cNvPr id="5" name="Small2">
            <a:extLst>
              <a:ext uri="{FF2B5EF4-FFF2-40B4-BE49-F238E27FC236}">
                <a16:creationId xmlns:a16="http://schemas.microsoft.com/office/drawing/2014/main" id="{87ACFC0F-5C3B-AF1F-13C9-6296AC9C5C42}"/>
              </a:ext>
            </a:extLst>
          </p:cNvPr>
          <p:cNvSpPr/>
          <p:nvPr/>
        </p:nvSpPr>
        <p:spPr>
          <a:xfrm>
            <a:off x="3175000" y="3302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Small2</a:t>
            </a:r>
          </a:p>
        </p:txBody>
      </p:sp>
      <p:sp>
        <p:nvSpPr>
          <p:cNvPr id="6" name="Small3">
            <a:extLst>
              <a:ext uri="{FF2B5EF4-FFF2-40B4-BE49-F238E27FC236}">
                <a16:creationId xmlns:a16="http://schemas.microsoft.com/office/drawing/2014/main" id="{23A17AC3-4885-F85A-3ED2-7D270E60C262}"/>
              </a:ext>
            </a:extLst>
          </p:cNvPr>
          <p:cNvSpPr/>
          <p:nvPr/>
        </p:nvSpPr>
        <p:spPr>
          <a:xfrm>
            <a:off x="2286000" y="4445000"/>
            <a:ext cx="1397000" cy="762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Small3</a:t>
            </a:r>
          </a:p>
        </p:txBody>
      </p:sp>
      <p:sp>
        <p:nvSpPr>
          <p:cNvPr id="7" name="Anchor">
            <a:extLst>
              <a:ext uri="{FF2B5EF4-FFF2-40B4-BE49-F238E27FC236}">
                <a16:creationId xmlns:a16="http://schemas.microsoft.com/office/drawing/2014/main" id="{F53BFC30-1417-D475-32E1-5F832EB626F5}"/>
              </a:ext>
            </a:extLst>
          </p:cNvPr>
          <p:cNvSpPr/>
          <p:nvPr/>
        </p:nvSpPr>
        <p:spPr>
          <a:xfrm>
            <a:off x="7112000" y="2540000"/>
            <a:ext cx="3556000" cy="2540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BIG ANCHOR</a:t>
            </a:r>
          </a:p>
        </p:txBody>
      </p:sp>
    </p:spTree>
    <p:extLst>
      <p:ext uri="{BB962C8B-B14F-4D97-AF65-F5344CB8AC3E}">
        <p14:creationId xmlns:p14="http://schemas.microsoft.com/office/powerpoint/2010/main" val="3476995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6332B971-BE64-9C7C-A624-03F22469E4E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Distribute: four modes, four answers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DC06EBE-633D-D9C5-CA7E-06F77C9F41F8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five. Try Distribute &gt; Horizontally with each Space by setting. Widths differ, so all four differ.</a:t>
            </a:r>
          </a:p>
        </p:txBody>
      </p:sp>
      <p:sp>
        <p:nvSpPr>
          <p:cNvPr id="4" name="W200">
            <a:extLst>
              <a:ext uri="{FF2B5EF4-FFF2-40B4-BE49-F238E27FC236}">
                <a16:creationId xmlns:a16="http://schemas.microsoft.com/office/drawing/2014/main" id="{E5FCC0DC-5A6D-8598-E1A3-C531913B1E8A}"/>
              </a:ext>
            </a:extLst>
          </p:cNvPr>
          <p:cNvSpPr/>
          <p:nvPr/>
        </p:nvSpPr>
        <p:spPr>
          <a:xfrm>
            <a:off x="635000" y="3175000"/>
            <a:ext cx="2540000" cy="1143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5" name="W60">
            <a:extLst>
              <a:ext uri="{FF2B5EF4-FFF2-40B4-BE49-F238E27FC236}">
                <a16:creationId xmlns:a16="http://schemas.microsoft.com/office/drawing/2014/main" id="{465D2FB7-40A2-76F1-4229-1A0B42BADDF7}"/>
              </a:ext>
            </a:extLst>
          </p:cNvPr>
          <p:cNvSpPr/>
          <p:nvPr/>
        </p:nvSpPr>
        <p:spPr>
          <a:xfrm>
            <a:off x="3810000" y="3175000"/>
            <a:ext cx="762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6" name="W120">
            <a:extLst>
              <a:ext uri="{FF2B5EF4-FFF2-40B4-BE49-F238E27FC236}">
                <a16:creationId xmlns:a16="http://schemas.microsoft.com/office/drawing/2014/main" id="{AB952DE2-F194-37E5-6E70-1D420838C6B5}"/>
              </a:ext>
            </a:extLst>
          </p:cNvPr>
          <p:cNvSpPr/>
          <p:nvPr/>
        </p:nvSpPr>
        <p:spPr>
          <a:xfrm>
            <a:off x="5334000" y="3175000"/>
            <a:ext cx="1524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7" name="W40">
            <a:extLst>
              <a:ext uri="{FF2B5EF4-FFF2-40B4-BE49-F238E27FC236}">
                <a16:creationId xmlns:a16="http://schemas.microsoft.com/office/drawing/2014/main" id="{6F76C219-1D0A-225A-BB06-0E805AE15262}"/>
              </a:ext>
            </a:extLst>
          </p:cNvPr>
          <p:cNvSpPr/>
          <p:nvPr/>
        </p:nvSpPr>
        <p:spPr>
          <a:xfrm>
            <a:off x="7874000" y="3175000"/>
            <a:ext cx="508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8" name="W150">
            <a:extLst>
              <a:ext uri="{FF2B5EF4-FFF2-40B4-BE49-F238E27FC236}">
                <a16:creationId xmlns:a16="http://schemas.microsoft.com/office/drawing/2014/main" id="{13886150-C337-7387-F290-8A9AF692B510}"/>
              </a:ext>
            </a:extLst>
          </p:cNvPr>
          <p:cNvSpPr/>
          <p:nvPr/>
        </p:nvSpPr>
        <p:spPr>
          <a:xfrm>
            <a:off x="9652000" y="3175000"/>
            <a:ext cx="1905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8B6FA1-63AE-BBBD-99EF-6484832DE5EB}"/>
              </a:ext>
            </a:extLst>
          </p:cNvPr>
          <p:cNvSpPr txBox="1"/>
          <p:nvPr/>
        </p:nvSpPr>
        <p:spPr>
          <a:xfrm>
            <a:off x="508000" y="4826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Leading edges lines up the left edges at an even pitch. Centres evens the centres. Trailing edges evens the right edges. Space between evens the visible gaps - the only one of the four that does.</a:t>
            </a:r>
          </a:p>
        </p:txBody>
      </p:sp>
    </p:spTree>
    <p:extLst>
      <p:ext uri="{BB962C8B-B14F-4D97-AF65-F5344CB8AC3E}">
        <p14:creationId xmlns:p14="http://schemas.microsoft.com/office/powerpoint/2010/main" val="99241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C86FCAAE-86DC-AC34-5DAF-97B44E4F194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Exact spacing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2A6A4B4-5F77-D6A0-80BE-D8E8D599162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four, put 12 in the Exact (pt) box, Space by = Space between, then Distribute &gt; Horizontally.</a:t>
            </a:r>
          </a:p>
        </p:txBody>
      </p:sp>
      <p:sp>
        <p:nvSpPr>
          <p:cNvPr id="4" name="Gap0">
            <a:extLst>
              <a:ext uri="{FF2B5EF4-FFF2-40B4-BE49-F238E27FC236}">
                <a16:creationId xmlns:a16="http://schemas.microsoft.com/office/drawing/2014/main" id="{A71E0DEB-6C08-D6C2-7F23-8FF7AA2CA5FC}"/>
              </a:ext>
            </a:extLst>
          </p:cNvPr>
          <p:cNvSpPr/>
          <p:nvPr/>
        </p:nvSpPr>
        <p:spPr>
          <a:xfrm>
            <a:off x="1016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5" name="Gap1">
            <a:extLst>
              <a:ext uri="{FF2B5EF4-FFF2-40B4-BE49-F238E27FC236}">
                <a16:creationId xmlns:a16="http://schemas.microsoft.com/office/drawing/2014/main" id="{E298BCF6-8885-D187-7C8A-027EBDF7D393}"/>
              </a:ext>
            </a:extLst>
          </p:cNvPr>
          <p:cNvSpPr/>
          <p:nvPr/>
        </p:nvSpPr>
        <p:spPr>
          <a:xfrm>
            <a:off x="3429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6" name="Gap2">
            <a:extLst>
              <a:ext uri="{FF2B5EF4-FFF2-40B4-BE49-F238E27FC236}">
                <a16:creationId xmlns:a16="http://schemas.microsoft.com/office/drawing/2014/main" id="{011A2B62-E99E-19EA-3929-41E25E4DB1F0}"/>
              </a:ext>
            </a:extLst>
          </p:cNvPr>
          <p:cNvSpPr/>
          <p:nvPr/>
        </p:nvSpPr>
        <p:spPr>
          <a:xfrm>
            <a:off x="5842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7" name="Gap3">
            <a:extLst>
              <a:ext uri="{FF2B5EF4-FFF2-40B4-BE49-F238E27FC236}">
                <a16:creationId xmlns:a16="http://schemas.microsoft.com/office/drawing/2014/main" id="{6BDF2543-4370-0A60-E71C-BD2AB500178D}"/>
              </a:ext>
            </a:extLst>
          </p:cNvPr>
          <p:cNvSpPr/>
          <p:nvPr/>
        </p:nvSpPr>
        <p:spPr>
          <a:xfrm>
            <a:off x="8255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011856-A0B3-204E-44C3-A45E4CB0C4C6}"/>
              </a:ext>
            </a:extLst>
          </p:cNvPr>
          <p:cNvSpPr txBox="1"/>
          <p:nvPr/>
        </p:nvSpPr>
        <p:spPr>
          <a:xfrm>
            <a:off x="508000" y="4826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Clear the box again to go back to evening out whatever space is already there. In the edge and centre modes the number is a pitch, not a gap.</a:t>
            </a:r>
          </a:p>
        </p:txBody>
      </p:sp>
    </p:spTree>
    <p:extLst>
      <p:ext uri="{BB962C8B-B14F-4D97-AF65-F5344CB8AC3E}">
        <p14:creationId xmlns:p14="http://schemas.microsoft.com/office/powerpoint/2010/main" val="180292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5E095B06-FD02-D11F-11F8-A46076014E8C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to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9E16B01-F793-D325-67D3-DDEFB278DFC5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odd shapes, then Ctrl+click TARGET last. Match size &gt; Both. Try the From centre toggle too.</a:t>
            </a:r>
          </a:p>
        </p:txBody>
      </p:sp>
      <p:sp>
        <p:nvSpPr>
          <p:cNvPr id="4" name="Odd1">
            <a:extLst>
              <a:ext uri="{FF2B5EF4-FFF2-40B4-BE49-F238E27FC236}">
                <a16:creationId xmlns:a16="http://schemas.microsoft.com/office/drawing/2014/main" id="{28DDE9B6-7F84-A3A3-6FF8-E90812FF2C36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Odd1</a:t>
            </a:r>
          </a:p>
        </p:txBody>
      </p:sp>
      <p:sp>
        <p:nvSpPr>
          <p:cNvPr id="5" name="Odd2">
            <a:extLst>
              <a:ext uri="{FF2B5EF4-FFF2-40B4-BE49-F238E27FC236}">
                <a16:creationId xmlns:a16="http://schemas.microsoft.com/office/drawing/2014/main" id="{51ED0AA8-3C2A-AABB-7A9B-C7988494878B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Odd2</a:t>
            </a:r>
          </a:p>
        </p:txBody>
      </p:sp>
      <p:sp>
        <p:nvSpPr>
          <p:cNvPr id="6" name="Odd3">
            <a:extLst>
              <a:ext uri="{FF2B5EF4-FFF2-40B4-BE49-F238E27FC236}">
                <a16:creationId xmlns:a16="http://schemas.microsoft.com/office/drawing/2014/main" id="{9B220CDC-D6FA-D993-091B-A9170EA7CF08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Odd3</a:t>
            </a:r>
          </a:p>
        </p:txBody>
      </p:sp>
      <p:sp>
        <p:nvSpPr>
          <p:cNvPr id="7" name="Target">
            <a:extLst>
              <a:ext uri="{FF2B5EF4-FFF2-40B4-BE49-F238E27FC236}">
                <a16:creationId xmlns:a16="http://schemas.microsoft.com/office/drawing/2014/main" id="{8DF0D298-825F-7C22-FFFE-DAE275244FD5}"/>
              </a:ext>
            </a:extLst>
          </p:cNvPr>
          <p:cNvSpPr/>
          <p:nvPr/>
        </p:nvSpPr>
        <p:spPr>
          <a:xfrm>
            <a:off x="7620000" y="2921000"/>
            <a:ext cx="2540000" cy="1524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</p:spTree>
    <p:extLst>
      <p:ext uri="{BB962C8B-B14F-4D97-AF65-F5344CB8AC3E}">
        <p14:creationId xmlns:p14="http://schemas.microsoft.com/office/powerpoint/2010/main" val="2752170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B2741571-2972-38FE-1C27-DF8926597877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Order: stack in the order you select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F71BDD3-13FD-BEEF-99F4-E0CE8DEB41B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Card 1, Ctrl+click Card 2 then Card 3 to add them, then click Order &gt; Stack. Card 1 ends on top.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A01D2971-285D-1ECA-6395-1E375015EADE}"/>
              </a:ext>
            </a:extLst>
          </p:cNvPr>
          <p:cNvSpPr/>
          <p:nvPr/>
        </p:nvSpPr>
        <p:spPr>
          <a:xfrm>
            <a:off x="1905000" y="2159000"/>
            <a:ext cx="2794000" cy="2159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1</a:t>
            </a:r>
          </a:p>
        </p:txBody>
      </p:sp>
      <p:sp>
        <p:nvSpPr>
          <p:cNvPr id="5" name="BarA">
            <a:extLst>
              <a:ext uri="{FF2B5EF4-FFF2-40B4-BE49-F238E27FC236}">
                <a16:creationId xmlns:a16="http://schemas.microsoft.com/office/drawing/2014/main" id="{5DC0411F-E130-D430-D45A-A75F93EAC7B3}"/>
              </a:ext>
            </a:extLst>
          </p:cNvPr>
          <p:cNvSpPr/>
          <p:nvPr/>
        </p:nvSpPr>
        <p:spPr>
          <a:xfrm>
            <a:off x="4191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6" name="Card2">
            <a:extLst>
              <a:ext uri="{FF2B5EF4-FFF2-40B4-BE49-F238E27FC236}">
                <a16:creationId xmlns:a16="http://schemas.microsoft.com/office/drawing/2014/main" id="{FBDC7E69-8783-587C-A1B9-F528FF8F39C9}"/>
              </a:ext>
            </a:extLst>
          </p:cNvPr>
          <p:cNvSpPr/>
          <p:nvPr/>
        </p:nvSpPr>
        <p:spPr>
          <a:xfrm>
            <a:off x="4318000" y="2667000"/>
            <a:ext cx="2794000" cy="2159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2</a:t>
            </a:r>
          </a:p>
        </p:txBody>
      </p:sp>
      <p:sp>
        <p:nvSpPr>
          <p:cNvPr id="7" name="BarB">
            <a:extLst>
              <a:ext uri="{FF2B5EF4-FFF2-40B4-BE49-F238E27FC236}">
                <a16:creationId xmlns:a16="http://schemas.microsoft.com/office/drawing/2014/main" id="{05954A50-81A3-B14A-ED12-070E3EAF308C}"/>
              </a:ext>
            </a:extLst>
          </p:cNvPr>
          <p:cNvSpPr/>
          <p:nvPr/>
        </p:nvSpPr>
        <p:spPr>
          <a:xfrm>
            <a:off x="6604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8" name="Card3">
            <a:extLst>
              <a:ext uri="{FF2B5EF4-FFF2-40B4-BE49-F238E27FC236}">
                <a16:creationId xmlns:a16="http://schemas.microsoft.com/office/drawing/2014/main" id="{746F86AB-B91B-F1FE-F05C-881A8721A4DE}"/>
              </a:ext>
            </a:extLst>
          </p:cNvPr>
          <p:cNvSpPr/>
          <p:nvPr/>
        </p:nvSpPr>
        <p:spPr>
          <a:xfrm>
            <a:off x="6731000" y="2159000"/>
            <a:ext cx="2794000" cy="215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491E1-8DA1-7488-298E-5139D1F06AC1}"/>
              </a:ext>
            </a:extLst>
          </p:cNvPr>
          <p:cNvSpPr txBox="1"/>
          <p:nvPr/>
        </p:nvSpPr>
        <p:spPr>
          <a:xfrm>
            <a:off x="508000" y="5334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two grey bars are not in the selection, and they must come out on exactly the layers they went in on - one behind Card 2, one behind Card 3. That is the difference from Bring to front, which would drag all three cards over the top of them. Now click Order &gt; Reverse to flip the pile, then select the cards in a different order and click Stack again.</a:t>
            </a:r>
          </a:p>
        </p:txBody>
      </p:sp>
    </p:spTree>
    <p:extLst>
      <p:ext uri="{BB962C8B-B14F-4D97-AF65-F5344CB8AC3E}">
        <p14:creationId xmlns:p14="http://schemas.microsoft.com/office/powerpoint/2010/main" val="1825567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3C5CFA6C-F51D-FAA9-8FAC-6B9C78B8D097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with a margin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14E2947-AE52-933A-E2A4-6B539F59A58E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10 in Margin (pt) and set Apply margin = All the same. Select the three shapes, Ctrl+click TARGET last, then click Match size &gt; Both.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E27AEB45-01B5-6961-6727-FB9F89D408B3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5667E7C2-FE78-916F-F3CD-38DE4211BDEE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7CE9BAF0-3DA0-AED4-3C31-E688E439764B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MarginTarget">
            <a:extLst>
              <a:ext uri="{FF2B5EF4-FFF2-40B4-BE49-F238E27FC236}">
                <a16:creationId xmlns:a16="http://schemas.microsoft.com/office/drawing/2014/main" id="{CDD79E97-6137-E6D0-69BC-76DED540DBE1}"/>
              </a:ext>
            </a:extLst>
          </p:cNvPr>
          <p:cNvSpPr/>
          <p:nvPr/>
        </p:nvSpPr>
        <p:spPr>
          <a:xfrm>
            <a:off x="7620000" y="2794000"/>
            <a:ext cx="2794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5EA4E-32A1-BB83-7721-F180356552EF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margin is measured per side, so a margin of 10 takes 20 off each dimension and leaves a 10pt border showing all round. Now click AlignPro undo, set Apply margin to Cascade, select the shapes again in the same order and click Match size &gt; Both: the shapes tier along the order you selected in, and the one you selected first ends smallest.</a:t>
            </a:r>
          </a:p>
        </p:txBody>
      </p:sp>
    </p:spTree>
    <p:extLst>
      <p:ext uri="{BB962C8B-B14F-4D97-AF65-F5344CB8AC3E}">
        <p14:creationId xmlns:p14="http://schemas.microsoft.com/office/powerpoint/2010/main" val="417214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58BD0420-ED3B-A25A-DA90-3B45048A7D67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Concentric rings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74F36F11-954C-2DFE-DF95-02DD86751D6F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1st, then Ctrl+click 2nd, 3rd, 4th and 5th in turn. Click Align &gt; Centre, then Align &gt; Middle. Type 12 in Margin (pt), set Apply margin = Cascade, switch From centre on, then click Match size &gt; Both. Finish by clicking Order &gt; Stack.</a:t>
            </a:r>
          </a:p>
        </p:txBody>
      </p:sp>
      <p:sp>
        <p:nvSpPr>
          <p:cNvPr id="4" name="Ring1">
            <a:extLst>
              <a:ext uri="{FF2B5EF4-FFF2-40B4-BE49-F238E27FC236}">
                <a16:creationId xmlns:a16="http://schemas.microsoft.com/office/drawing/2014/main" id="{AA476AB9-1A68-EDB9-C84F-4296D577D4A7}"/>
              </a:ext>
            </a:extLst>
          </p:cNvPr>
          <p:cNvSpPr/>
          <p:nvPr/>
        </p:nvSpPr>
        <p:spPr>
          <a:xfrm>
            <a:off x="1143000" y="2286000"/>
            <a:ext cx="1905000" cy="1397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Ring2">
            <a:extLst>
              <a:ext uri="{FF2B5EF4-FFF2-40B4-BE49-F238E27FC236}">
                <a16:creationId xmlns:a16="http://schemas.microsoft.com/office/drawing/2014/main" id="{52B21450-2310-5178-7907-26F425F98836}"/>
              </a:ext>
            </a:extLst>
          </p:cNvPr>
          <p:cNvSpPr/>
          <p:nvPr/>
        </p:nvSpPr>
        <p:spPr>
          <a:xfrm>
            <a:off x="3683000" y="3810000"/>
            <a:ext cx="2159000" cy="1524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Ring3">
            <a:extLst>
              <a:ext uri="{FF2B5EF4-FFF2-40B4-BE49-F238E27FC236}">
                <a16:creationId xmlns:a16="http://schemas.microsoft.com/office/drawing/2014/main" id="{BF552B0C-6431-4B1E-4FE6-5345CCF9A4A0}"/>
              </a:ext>
            </a:extLst>
          </p:cNvPr>
          <p:cNvSpPr/>
          <p:nvPr/>
        </p:nvSpPr>
        <p:spPr>
          <a:xfrm>
            <a:off x="6350000" y="2159000"/>
            <a:ext cx="2032000" cy="1651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Ring4">
            <a:extLst>
              <a:ext uri="{FF2B5EF4-FFF2-40B4-BE49-F238E27FC236}">
                <a16:creationId xmlns:a16="http://schemas.microsoft.com/office/drawing/2014/main" id="{4EFBCC00-4C80-0217-FC0B-4F7FD48C74AF}"/>
              </a:ext>
            </a:extLst>
          </p:cNvPr>
          <p:cNvSpPr/>
          <p:nvPr/>
        </p:nvSpPr>
        <p:spPr>
          <a:xfrm>
            <a:off x="8890000" y="4064000"/>
            <a:ext cx="2286000" cy="1397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8" name="Ring5">
            <a:extLst>
              <a:ext uri="{FF2B5EF4-FFF2-40B4-BE49-F238E27FC236}">
                <a16:creationId xmlns:a16="http://schemas.microsoft.com/office/drawing/2014/main" id="{1352A869-4CB5-BDA5-9136-7D6F72198348}"/>
              </a:ext>
            </a:extLst>
          </p:cNvPr>
          <p:cNvSpPr/>
          <p:nvPr/>
        </p:nvSpPr>
        <p:spPr>
          <a:xfrm>
            <a:off x="4826000" y="1905000"/>
            <a:ext cx="2540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D40878-1D38-37E5-B6C1-FEB22C99C5B7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centres and middles stacks them on one point; From centre then holds that point while the cascade tiers the sizes, so the borders come out even. The last step matters: the cascade makes the shape you selected first the smallest, and Order &gt; Stack puts that same shape on top - so the rings are visible instead of hidden inside the largest. Keep the selection between steps and the order carries through all three commands.</a:t>
            </a:r>
          </a:p>
        </p:txBody>
      </p:sp>
    </p:spTree>
    <p:extLst>
      <p:ext uri="{BB962C8B-B14F-4D97-AF65-F5344CB8AC3E}">
        <p14:creationId xmlns:p14="http://schemas.microsoft.com/office/powerpoint/2010/main" val="3236276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E4D24411-CD40-489D-883E-8A6E1EED7C6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Groups are one object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DC2AF2F-84F4-5F36-8D7B-0C035E2BBA2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Align the group with the loose shapes - its internal spacing must not change. Then try Match size on it.</a:t>
            </a:r>
          </a:p>
        </p:txBody>
      </p:sp>
      <p:grpSp>
        <p:nvGrpSpPr>
          <p:cNvPr id="7" name="TheGroup">
            <a:extLst>
              <a:ext uri="{FF2B5EF4-FFF2-40B4-BE49-F238E27FC236}">
                <a16:creationId xmlns:a16="http://schemas.microsoft.com/office/drawing/2014/main" id="{3DD373F3-432B-3433-20D1-15BED8B82AF7}"/>
              </a:ext>
            </a:extLst>
          </p:cNvPr>
          <p:cNvGrpSpPr/>
          <p:nvPr/>
        </p:nvGrpSpPr>
        <p:grpSpPr>
          <a:xfrm>
            <a:off x="1397000" y="2540000"/>
            <a:ext cx="4191000" cy="889000"/>
            <a:chOff x="1397000" y="2540000"/>
            <a:chExt cx="4191000" cy="889000"/>
          </a:xfrm>
        </p:grpSpPr>
        <p:sp>
          <p:nvSpPr>
            <p:cNvPr id="4" name="G1">
              <a:extLst>
                <a:ext uri="{FF2B5EF4-FFF2-40B4-BE49-F238E27FC236}">
                  <a16:creationId xmlns:a16="http://schemas.microsoft.com/office/drawing/2014/main" id="{970F08BA-704A-F369-C7C9-2B268F895491}"/>
                </a:ext>
              </a:extLst>
            </p:cNvPr>
            <p:cNvSpPr/>
            <p:nvPr/>
          </p:nvSpPr>
          <p:spPr>
            <a:xfrm>
              <a:off x="1397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G1</a:t>
              </a:r>
            </a:p>
          </p:txBody>
        </p:sp>
        <p:sp>
          <p:nvSpPr>
            <p:cNvPr id="5" name="G2">
              <a:extLst>
                <a:ext uri="{FF2B5EF4-FFF2-40B4-BE49-F238E27FC236}">
                  <a16:creationId xmlns:a16="http://schemas.microsoft.com/office/drawing/2014/main" id="{9B3D7031-49AB-5194-B6D8-8A06D8C88112}"/>
                </a:ext>
              </a:extLst>
            </p:cNvPr>
            <p:cNvSpPr/>
            <p:nvPr/>
          </p:nvSpPr>
          <p:spPr>
            <a:xfrm>
              <a:off x="2921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G2</a:t>
              </a:r>
            </a:p>
          </p:txBody>
        </p:sp>
        <p:sp>
          <p:nvSpPr>
            <p:cNvPr id="6" name="G3">
              <a:extLst>
                <a:ext uri="{FF2B5EF4-FFF2-40B4-BE49-F238E27FC236}">
                  <a16:creationId xmlns:a16="http://schemas.microsoft.com/office/drawing/2014/main" id="{132D7469-59CD-912E-9E3E-9F2664DDC590}"/>
                </a:ext>
              </a:extLst>
            </p:cNvPr>
            <p:cNvSpPr/>
            <p:nvPr/>
          </p:nvSpPr>
          <p:spPr>
            <a:xfrm>
              <a:off x="4445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G3</a:t>
              </a:r>
            </a:p>
          </p:txBody>
        </p:sp>
      </p:grpSp>
      <p:sp>
        <p:nvSpPr>
          <p:cNvPr id="8" name="Loose1">
            <a:extLst>
              <a:ext uri="{FF2B5EF4-FFF2-40B4-BE49-F238E27FC236}">
                <a16:creationId xmlns:a16="http://schemas.microsoft.com/office/drawing/2014/main" id="{6FC64AE9-9678-39CD-4A41-D72FA3A0A426}"/>
              </a:ext>
            </a:extLst>
          </p:cNvPr>
          <p:cNvSpPr/>
          <p:nvPr/>
        </p:nvSpPr>
        <p:spPr>
          <a:xfrm>
            <a:off x="7620000" y="3810000"/>
            <a:ext cx="1905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Loose1</a:t>
            </a:r>
          </a:p>
        </p:txBody>
      </p:sp>
      <p:sp>
        <p:nvSpPr>
          <p:cNvPr id="9" name="Loose2">
            <a:extLst>
              <a:ext uri="{FF2B5EF4-FFF2-40B4-BE49-F238E27FC236}">
                <a16:creationId xmlns:a16="http://schemas.microsoft.com/office/drawing/2014/main" id="{F4CACA9C-CC69-BFA9-0F70-161634B818F5}"/>
              </a:ext>
            </a:extLst>
          </p:cNvPr>
          <p:cNvSpPr/>
          <p:nvPr/>
        </p:nvSpPr>
        <p:spPr>
          <a:xfrm>
            <a:off x="10033000" y="4953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764A1-5F53-7F98-8202-47467F4CCFED}"/>
              </a:ext>
            </a:extLst>
          </p:cNvPr>
          <p:cNvSpPr txBox="1"/>
          <p:nvPr/>
        </p:nvSpPr>
        <p:spPr>
          <a:xfrm>
            <a:off x="508000" y="5842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Match size refuses groups on purpose: scaling a group scales the gaps between its children, which silently distorts a diagram. AlignPro tells you rather than doing it.</a:t>
            </a:r>
          </a:p>
        </p:txBody>
      </p:sp>
    </p:spTree>
    <p:extLst>
      <p:ext uri="{BB962C8B-B14F-4D97-AF65-F5344CB8AC3E}">
        <p14:creationId xmlns:p14="http://schemas.microsoft.com/office/powerpoint/2010/main" val="1305727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52D94D97-71AF-93B9-093D-20AAC8DB8A1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the text, not the box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655293B2-EBB2-548B-BD7D-7249087D945C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All three frames already start at the same x. Select them and Align &gt; Left with Measure = Text bounds.</a:t>
            </a:r>
          </a:p>
        </p:txBody>
      </p:sp>
      <p:sp>
        <p:nvSpPr>
          <p:cNvPr id="4" name="Text0">
            <a:extLst>
              <a:ext uri="{FF2B5EF4-FFF2-40B4-BE49-F238E27FC236}">
                <a16:creationId xmlns:a16="http://schemas.microsoft.com/office/drawing/2014/main" id="{52BAFF94-AE47-8141-263C-9FED06F3E411}"/>
              </a:ext>
            </a:extLst>
          </p:cNvPr>
          <p:cNvSpPr/>
          <p:nvPr/>
        </p:nvSpPr>
        <p:spPr>
          <a:xfrm>
            <a:off x="3175000" y="2159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1600">
                <a:solidFill>
                  <a:srgbClr val="282828"/>
                </a:solidFill>
              </a:rPr>
              <a:t>left-aligned text</a:t>
            </a:r>
          </a:p>
        </p:txBody>
      </p:sp>
      <p:sp>
        <p:nvSpPr>
          <p:cNvPr id="5" name="Text1">
            <a:extLst>
              <a:ext uri="{FF2B5EF4-FFF2-40B4-BE49-F238E27FC236}">
                <a16:creationId xmlns:a16="http://schemas.microsoft.com/office/drawing/2014/main" id="{9E1042FF-9E8D-7CD1-959D-828173CAD3B7}"/>
              </a:ext>
            </a:extLst>
          </p:cNvPr>
          <p:cNvSpPr/>
          <p:nvPr/>
        </p:nvSpPr>
        <p:spPr>
          <a:xfrm>
            <a:off x="3175000" y="3302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>
                <a:solidFill>
                  <a:srgbClr val="282828"/>
                </a:solidFill>
              </a:rPr>
              <a:t>centred text</a:t>
            </a:r>
          </a:p>
        </p:txBody>
      </p:sp>
      <p:sp>
        <p:nvSpPr>
          <p:cNvPr id="6" name="Text2">
            <a:extLst>
              <a:ext uri="{FF2B5EF4-FFF2-40B4-BE49-F238E27FC236}">
                <a16:creationId xmlns:a16="http://schemas.microsoft.com/office/drawing/2014/main" id="{A7CD9A23-A12B-A333-2F5B-F94B41FFC4FC}"/>
              </a:ext>
            </a:extLst>
          </p:cNvPr>
          <p:cNvSpPr/>
          <p:nvPr/>
        </p:nvSpPr>
        <p:spPr>
          <a:xfrm>
            <a:off x="3175000" y="4445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AU" sz="1600">
                <a:solidFill>
                  <a:srgbClr val="282828"/>
                </a:solidFill>
              </a:rPr>
              <a:t>right-aligned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0EE844-418C-6436-C97E-DEDC04E865BA}"/>
              </a:ext>
            </a:extLst>
          </p:cNvPr>
          <p:cNvSpPr txBox="1"/>
          <p:nvPr/>
        </p:nvSpPr>
        <p:spPr>
          <a:xfrm>
            <a:off x="508000" y="5715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frames are identical, so frame mode does nothing. Text bounds moves each box so the text itself lines up.</a:t>
            </a:r>
          </a:p>
        </p:txBody>
      </p:sp>
    </p:spTree>
    <p:extLst>
      <p:ext uri="{BB962C8B-B14F-4D97-AF65-F5344CB8AC3E}">
        <p14:creationId xmlns:p14="http://schemas.microsoft.com/office/powerpoint/2010/main" val="2278640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8C13F76-F707-D7B8-B83B-4787ACFCC5F0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Tidy a scatter into a grid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85CCDE5-208D-8AB3-4F48-85BE8FEF143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nine circles. Leave Columns blank for a near-square grid, or type 3. Then Arrange &gt; Grid.</a:t>
            </a:r>
          </a:p>
        </p:txBody>
      </p:sp>
      <p:sp>
        <p:nvSpPr>
          <p:cNvPr id="4" name="Dot0">
            <a:extLst>
              <a:ext uri="{FF2B5EF4-FFF2-40B4-BE49-F238E27FC236}">
                <a16:creationId xmlns:a16="http://schemas.microsoft.com/office/drawing/2014/main" id="{174BEC0D-08C1-5C1A-1360-F74C806C458C}"/>
              </a:ext>
            </a:extLst>
          </p:cNvPr>
          <p:cNvSpPr/>
          <p:nvPr/>
        </p:nvSpPr>
        <p:spPr>
          <a:xfrm>
            <a:off x="1524000" y="1905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Dot1">
            <a:extLst>
              <a:ext uri="{FF2B5EF4-FFF2-40B4-BE49-F238E27FC236}">
                <a16:creationId xmlns:a16="http://schemas.microsoft.com/office/drawing/2014/main" id="{12B55FA0-F098-A41F-13C1-FBDFC1278DAF}"/>
              </a:ext>
            </a:extLst>
          </p:cNvPr>
          <p:cNvSpPr/>
          <p:nvPr/>
        </p:nvSpPr>
        <p:spPr>
          <a:xfrm>
            <a:off x="5461000" y="2413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Dot2">
            <a:extLst>
              <a:ext uri="{FF2B5EF4-FFF2-40B4-BE49-F238E27FC236}">
                <a16:creationId xmlns:a16="http://schemas.microsoft.com/office/drawing/2014/main" id="{19C24199-18A4-E922-654F-8A883EC765A2}"/>
              </a:ext>
            </a:extLst>
          </p:cNvPr>
          <p:cNvSpPr/>
          <p:nvPr/>
        </p:nvSpPr>
        <p:spPr>
          <a:xfrm>
            <a:off x="9652000" y="1778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Dot3">
            <a:extLst>
              <a:ext uri="{FF2B5EF4-FFF2-40B4-BE49-F238E27FC236}">
                <a16:creationId xmlns:a16="http://schemas.microsoft.com/office/drawing/2014/main" id="{17A94F19-57E7-DBE7-9156-A4FFCED682B6}"/>
              </a:ext>
            </a:extLst>
          </p:cNvPr>
          <p:cNvSpPr/>
          <p:nvPr/>
        </p:nvSpPr>
        <p:spPr>
          <a:xfrm>
            <a:off x="2413000" y="381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Dot4">
            <a:extLst>
              <a:ext uri="{FF2B5EF4-FFF2-40B4-BE49-F238E27FC236}">
                <a16:creationId xmlns:a16="http://schemas.microsoft.com/office/drawing/2014/main" id="{4ADED152-21BD-C821-93E0-E6FDF41F6AE6}"/>
              </a:ext>
            </a:extLst>
          </p:cNvPr>
          <p:cNvSpPr/>
          <p:nvPr/>
        </p:nvSpPr>
        <p:spPr>
          <a:xfrm>
            <a:off x="6604000" y="3302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Dot5">
            <a:extLst>
              <a:ext uri="{FF2B5EF4-FFF2-40B4-BE49-F238E27FC236}">
                <a16:creationId xmlns:a16="http://schemas.microsoft.com/office/drawing/2014/main" id="{72055B92-4FFF-E9AC-D4D4-FCDE83012E47}"/>
              </a:ext>
            </a:extLst>
          </p:cNvPr>
          <p:cNvSpPr/>
          <p:nvPr/>
        </p:nvSpPr>
        <p:spPr>
          <a:xfrm>
            <a:off x="8763000" y="419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0" name="Dot6">
            <a:extLst>
              <a:ext uri="{FF2B5EF4-FFF2-40B4-BE49-F238E27FC236}">
                <a16:creationId xmlns:a16="http://schemas.microsoft.com/office/drawing/2014/main" id="{3E6849E4-D0A7-D7FE-5FE7-DB5A8910C5DD}"/>
              </a:ext>
            </a:extLst>
          </p:cNvPr>
          <p:cNvSpPr/>
          <p:nvPr/>
        </p:nvSpPr>
        <p:spPr>
          <a:xfrm>
            <a:off x="1397000" y="5334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" name="Dot7">
            <a:extLst>
              <a:ext uri="{FF2B5EF4-FFF2-40B4-BE49-F238E27FC236}">
                <a16:creationId xmlns:a16="http://schemas.microsoft.com/office/drawing/2014/main" id="{4F4643C7-FE3F-2FBF-3113-1AA54644CB01}"/>
              </a:ext>
            </a:extLst>
          </p:cNvPr>
          <p:cNvSpPr/>
          <p:nvPr/>
        </p:nvSpPr>
        <p:spPr>
          <a:xfrm>
            <a:off x="5080000" y="508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Dot8">
            <a:extLst>
              <a:ext uri="{FF2B5EF4-FFF2-40B4-BE49-F238E27FC236}">
                <a16:creationId xmlns:a16="http://schemas.microsoft.com/office/drawing/2014/main" id="{3FC73397-8A90-D398-D354-59D6361C9F9A}"/>
              </a:ext>
            </a:extLst>
          </p:cNvPr>
          <p:cNvSpPr/>
          <p:nvPr/>
        </p:nvSpPr>
        <p:spPr>
          <a:xfrm>
            <a:off x="10160000" y="546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DE338A-D967-12D0-0930-FF1195963D15}"/>
              </a:ext>
            </a:extLst>
          </p:cNvPr>
          <p:cNvSpPr txBox="1"/>
          <p:nvPr/>
        </p:nvSpPr>
        <p:spPr>
          <a:xfrm>
            <a:off x="508000" y="6350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Grid only repositions - sizes are left alone, so it is safe on groups too. Set Reference = Slide to spread across the whole slide.</a:t>
            </a:r>
          </a:p>
        </p:txBody>
      </p:sp>
    </p:spTree>
    <p:extLst>
      <p:ext uri="{BB962C8B-B14F-4D97-AF65-F5344CB8AC3E}">
        <p14:creationId xmlns:p14="http://schemas.microsoft.com/office/powerpoint/2010/main" val="3494223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78B255D9-AA66-60AB-1241-678642AEB620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the slide, or to its margins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0EF3B0D-61F2-4B66-88A1-EDE7A491E61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one shape. Reference = Slide then Align &gt; Centre. Then Reference = Slide margins with Margin = 36.</a:t>
            </a:r>
          </a:p>
        </p:txBody>
      </p:sp>
      <p:sp>
        <p:nvSpPr>
          <p:cNvPr id="4" name="Wanderer">
            <a:extLst>
              <a:ext uri="{FF2B5EF4-FFF2-40B4-BE49-F238E27FC236}">
                <a16:creationId xmlns:a16="http://schemas.microsoft.com/office/drawing/2014/main" id="{1C5FE0D7-B3CD-6D02-D529-35DF8DB588B3}"/>
              </a:ext>
            </a:extLst>
          </p:cNvPr>
          <p:cNvSpPr/>
          <p:nvPr/>
        </p:nvSpPr>
        <p:spPr>
          <a:xfrm>
            <a:off x="1905000" y="2540000"/>
            <a:ext cx="2794000" cy="1524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Move me</a:t>
            </a:r>
          </a:p>
        </p:txBody>
      </p:sp>
      <p:sp>
        <p:nvSpPr>
          <p:cNvPr id="5" name="Friend">
            <a:extLst>
              <a:ext uri="{FF2B5EF4-FFF2-40B4-BE49-F238E27FC236}">
                <a16:creationId xmlns:a16="http://schemas.microsoft.com/office/drawing/2014/main" id="{C1D715E6-1FF9-22C1-E265-3C564FD7FAC8}"/>
              </a:ext>
            </a:extLst>
          </p:cNvPr>
          <p:cNvSpPr/>
          <p:nvPr/>
        </p:nvSpPr>
        <p:spPr>
          <a:xfrm>
            <a:off x="7874000" y="4318000"/>
            <a:ext cx="2032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Friend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8ED06A-1A88-5B5C-F386-08B90ADC5B1F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a single shape to the selection is meaningless, so AlignPro refuses it and says why. Against the slide it is perfectly meaningful, so it works.</a:t>
            </a:r>
          </a:p>
        </p:txBody>
      </p:sp>
    </p:spTree>
    <p:extLst>
      <p:ext uri="{BB962C8B-B14F-4D97-AF65-F5344CB8AC3E}">
        <p14:creationId xmlns:p14="http://schemas.microsoft.com/office/powerpoint/2010/main" val="2623134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1053</Words>
  <Application>Microsoft Office PowerPoint</Application>
  <PresentationFormat>Widescreen</PresentationFormat>
  <Paragraphs>103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Renoden</dc:creator>
  <cp:lastModifiedBy>Mark Renoden</cp:lastModifiedBy>
  <cp:revision>1</cp:revision>
  <dcterms:created xsi:type="dcterms:W3CDTF">2026-09-21T01:38:00Z</dcterms:created>
  <dcterms:modified xsi:type="dcterms:W3CDTF">2026-09-21T01:38:00Z</dcterms:modified>
</cp:coreProperties>
</file>